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0"/>
    <p:restoredTop sz="96949"/>
  </p:normalViewPr>
  <p:slideViewPr>
    <p:cSldViewPr snapToGrid="0">
      <p:cViewPr varScale="1">
        <p:scale>
          <a:sx n="156" d="100"/>
          <a:sy n="156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ms</c:v>
          </c:tx>
          <c:spPr>
            <a:solidFill>
              <a:srgbClr val="9F1D2D"/>
            </a:solidFill>
          </c:spPr>
          <c:invertIfNegative val="1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900" b="1">
                    <a:solidFill>
                      <a:srgbClr val="3B0B1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Bank activity</c:v>
              </c:pt>
              <c:pt idx="1">
                <c:v>Daily trend</c:v>
              </c:pt>
              <c:pt idx="2">
                <c:v>Pattern</c:v>
              </c:pt>
              <c:pt idx="3">
                <c:v>KPI</c:v>
              </c:pt>
            </c:strLit>
          </c:cat>
          <c:val>
            <c:numLit>
              <c:formatCode>General</c:formatCode>
              <c:ptCount val="4"/>
              <c:pt idx="0">
                <c:v>4.6180000000000003</c:v>
              </c:pt>
              <c:pt idx="1">
                <c:v>0.36799999999999999</c:v>
              </c:pt>
              <c:pt idx="2">
                <c:v>1.2E-2</c:v>
              </c:pt>
              <c:pt idx="3">
                <c:v>8.9999999999999993E-3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D12-B84D-B889-97270560B3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4D7D9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756268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2A1D21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AF7F6"/>
        </a:solidFill>
      </c:spPr>
    </c:plotArea>
    <c:plotVisOnly val="1"/>
    <c:dispBlanksAs val="zero"/>
    <c:showDLblsOverMax val="1"/>
  </c:chart>
  <c:spPr>
    <a:solidFill>
      <a:srgbClr val="FAF7F6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chào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. Sau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project</a:t>
            </a:r>
          </a:p>
          <a:p>
            <a:r>
              <a:rPr lang="en-US" dirty="0"/>
              <a:t>Data Engineering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Data Warehouse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US" dirty="0"/>
          </a:p>
          <a:p>
            <a:r>
              <a:rPr lang="en-US" dirty="0" err="1"/>
              <a:t>ngân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Anti-Money Laundering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IBM AML HI-Medium.</a:t>
            </a:r>
          </a:p>
          <a:p>
            <a:endParaRPr lang="en-US" dirty="0"/>
          </a:p>
          <a:p>
            <a:r>
              <a:rPr lang="vi-VN" dirty="0"/>
              <a:t>Bài toán của project là biến một bộ dữ liệu giao dịch ngân hàng có quy mô</a:t>
            </a:r>
          </a:p>
          <a:p>
            <a:r>
              <a:rPr lang="vi-VN" dirty="0"/>
              <a:t>lớn thành một hệ thống phân tích có thể chạy lại, kiểm tra và truy ngược</a:t>
            </a:r>
          </a:p>
          <a:p>
            <a:r>
              <a:rPr lang="vi-VN" dirty="0"/>
              <a:t>được từ báo cáo về dữ liệu nguồn.</a:t>
            </a:r>
          </a:p>
          <a:p>
            <a:endParaRPr lang="vi-VN" dirty="0"/>
          </a:p>
          <a:p>
            <a:r>
              <a:rPr lang="vi-VN" dirty="0"/>
              <a:t>Hệ thống được xây dựng bằng PostgreSQL chạy trực tiếp trên macOS, DBeaver</a:t>
            </a:r>
          </a:p>
          <a:p>
            <a:r>
              <a:rPr lang="vi-VN" dirty="0"/>
              <a:t>để quản trị và chạy SQL, và Power BI Service cho lớp báo cáo cloud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Trước hết, em xin trình bày bức tranh tổng thể của hệ thống</a:t>
            </a:r>
          </a:p>
          <a:p>
            <a:r>
              <a:rPr lang="vi-VN" dirty="0"/>
              <a:t>Đây là pipeline đầy đủ của project. Luồng chính đi từ trái sang phải qua năm lớp.</a:t>
            </a:r>
          </a:p>
          <a:p>
            <a:endParaRPr lang="vi-VN" dirty="0"/>
          </a:p>
          <a:p>
            <a:r>
              <a:rPr lang="vi-VN" dirty="0"/>
              <a:t>Thứ nhất, file HI-Medium CSV được giữ nguyên và khóa bằng checksum cùng kiểm tra schema. </a:t>
            </a:r>
          </a:p>
          <a:p>
            <a:r>
              <a:rPr lang="vi-VN" dirty="0"/>
              <a:t>Thứ hai, Source Database có landing table để truy vết và typed table để parse dữ liệu. </a:t>
            </a:r>
          </a:p>
          <a:p>
            <a:r>
              <a:rPr lang="vi-VN" dirty="0"/>
              <a:t>Thứ ba, staging thực hiện chuẩn hóa, validation và loại trùng theo quy tắc nghiệp vụ.</a:t>
            </a:r>
          </a:p>
          <a:p>
            <a:r>
              <a:rPr lang="vi-VN" dirty="0"/>
              <a:t>Thứ tư, Data Warehouse gồm 8 dimension, 2 fact và SCD Type 2. </a:t>
            </a:r>
          </a:p>
          <a:p>
            <a:r>
              <a:rPr lang="vi-VN" dirty="0"/>
              <a:t>Thứ năm, reporting layer có 7 mart và 16 view dành cho Power BI.</a:t>
            </a:r>
          </a:p>
          <a:p>
            <a:endParaRPr lang="vi-VN" dirty="0"/>
          </a:p>
          <a:p>
            <a:r>
              <a:rPr lang="vi-VN" dirty="0"/>
              <a:t>Từ reporting layer, snapshot đã đối soát được đưa qua OneDrive vào semantic model và một dashboard Power BI Service. </a:t>
            </a:r>
          </a:p>
          <a:p>
            <a:r>
              <a:rPr lang="vi-VN" dirty="0"/>
              <a:t>Chạy xuyên suốt pipeline là batch audit, rejected-row handling, reconciliation, QA 22 trên 22 </a:t>
            </a:r>
          </a:p>
          <a:p>
            <a:r>
              <a:rPr lang="vi-VN" dirty="0"/>
              <a:t>và role powerbi_readonly.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Chuỗi này được hoàn thiện theo bốn giai đoạn liên tục</a:t>
            </a:r>
          </a:p>
          <a:p>
            <a:r>
              <a:rPr lang="vi-VN" dirty="0"/>
              <a:t>Trong Giai đoạn 1, em khảo sát nguồn, xác định quy tắc nghiệp vụ và xây database nguồn có kiểu dữ liệu rõ ràng.</a:t>
            </a:r>
          </a:p>
          <a:p>
            <a:endParaRPr lang="vi-VN" dirty="0"/>
          </a:p>
          <a:p>
            <a:r>
              <a:rPr lang="vi-VN" dirty="0"/>
              <a:t>Giai đoạn 2 tập trung vào mô hình sao, ETL FULL và INCREMENTAL, SCD Type 2 và lớp data mart.</a:t>
            </a:r>
          </a:p>
          <a:p>
            <a:endParaRPr lang="vi-VN" dirty="0"/>
          </a:p>
          <a:p>
            <a:r>
              <a:rPr lang="vi-VN" dirty="0"/>
              <a:t>Giai đoạn 3 xây 16 reporting view, semantic model, 18 DAX measure và một dashboard</a:t>
            </a:r>
          </a:p>
          <a:p>
            <a:r>
              <a:rPr lang="vi-VN" dirty="0"/>
              <a:t>gồm 6 KPI cùng 7 khu vực phân tích trên Power BI Service.</a:t>
            </a:r>
          </a:p>
          <a:p>
            <a:endParaRPr lang="vi-VN" dirty="0"/>
          </a:p>
          <a:p>
            <a:r>
              <a:rPr lang="vi-VN" dirty="0"/>
              <a:t>Giai đoạn 4 thực hiện đối soát, kiểm thử, đo hiệu năng, kiểm tra quyền truy cập</a:t>
            </a:r>
          </a:p>
          <a:p>
            <a:r>
              <a:rPr lang="vi-VN" dirty="0"/>
              <a:t>và đóng gói.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Data Warehouse,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endParaRPr lang="vi-VN" dirty="0"/>
          </a:p>
          <a:p>
            <a:r>
              <a:rPr lang="vi-VN" dirty="0"/>
              <a:t>Bộ dữ liệu sau khi kiểm tra có chính xác 31.898.238 giao dịch và 2.087.786 tài khoản.</a:t>
            </a:r>
          </a:p>
          <a:p>
            <a:endParaRPr lang="vi-VN" dirty="0"/>
          </a:p>
          <a:p>
            <a:r>
              <a:rPr lang="vi-VN" dirty="0"/>
              <a:t>Trong đó có 35.230 giao dịch được gắn nhãn laundering. Đây là nhãn ground</a:t>
            </a:r>
          </a:p>
          <a:p>
            <a:r>
              <a:rPr lang="vi-VN" dirty="0"/>
              <a:t>truth có sẵn trong dữ liệu synthetic, không phải kết quả dự đoán của project.</a:t>
            </a:r>
          </a:p>
          <a:p>
            <a:endParaRPr lang="vi-VN" dirty="0"/>
          </a:p>
          <a:p>
            <a:r>
              <a:rPr lang="vi-VN" dirty="0"/>
              <a:t>Dữ liệu pattern gồm 22.743 giao dịch, thuộc 2.756 attempt và bao phủ 28 ngày.</a:t>
            </a:r>
          </a:p>
          <a:p>
            <a:r>
              <a:rPr lang="vi-VN" dirty="0"/>
              <a:t>Quy mô này đủ lớn để các vấn đề về index, grain, incremental load, data mart</a:t>
            </a:r>
          </a:p>
          <a:p>
            <a:r>
              <a:rPr lang="vi-VN" dirty="0"/>
              <a:t>và hiệu năng báo cáo thể hiện rõ. Vì dữ liệu chỉ có 28 ngày, project không</a:t>
            </a:r>
          </a:p>
          <a:p>
            <a:r>
              <a:rPr lang="vi-VN" dirty="0"/>
              <a:t>suy diễn xu hướng dài hạn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Từ dữ liệu này, project xác định ba nhóm người dùng và ba nhóm câu hỏi</a:t>
            </a:r>
          </a:p>
          <a:p>
            <a:endParaRPr lang="vi-VN" dirty="0"/>
          </a:p>
          <a:p>
            <a:r>
              <a:rPr lang="vi-VN" dirty="0"/>
              <a:t>Nhóm thứ nhất là quản lý hoạt động, cần biết quy mô giao dịch, xu hướng</a:t>
            </a:r>
          </a:p>
          <a:p>
            <a:r>
              <a:rPr lang="vi-VN" dirty="0"/>
              <a:t>theo ngày, hoạt động theo ngân hàng và luồng tiền tệ.</a:t>
            </a:r>
          </a:p>
          <a:p>
            <a:endParaRPr lang="vi-VN" dirty="0"/>
          </a:p>
          <a:p>
            <a:r>
              <a:rPr lang="vi-VN" dirty="0"/>
              <a:t>Nhóm thứ hai là chuyên viên AML, quan tâm đến laundering rate theo payment</a:t>
            </a:r>
          </a:p>
          <a:p>
            <a:r>
              <a:rPr lang="vi-VN" dirty="0"/>
              <a:t>format, tài khoản tham gia và các laundering pattern.</a:t>
            </a:r>
          </a:p>
          <a:p>
            <a:endParaRPr lang="vi-VN" dirty="0"/>
          </a:p>
          <a:p>
            <a:r>
              <a:rPr lang="vi-VN" dirty="0"/>
              <a:t>Nhóm thứ ba là data engineer, cần theo dõi batch ETL, số dòng đối soát,</a:t>
            </a:r>
          </a:p>
          <a:p>
            <a:r>
              <a:rPr lang="vi-VN" dirty="0"/>
              <a:t>reject, chất lượng dữ liệu và hiệu năng.</a:t>
            </a:r>
          </a:p>
          <a:p>
            <a:endParaRPr lang="vi-VN" dirty="0"/>
          </a:p>
          <a:p>
            <a:r>
              <a:rPr lang="vi-VN" dirty="0"/>
              <a:t>Mỗi câu hỏi được ánh xạ trước sang grain, KPI, data mart và visual. Nhờ vậy,</a:t>
            </a:r>
          </a:p>
          <a:p>
            <a:r>
              <a:rPr lang="vi-VN" dirty="0"/>
              <a:t>dashboard không được thiết kế chỉ để có nhiều biểu đồ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Trước khi tính KPI, có ba quy tắc nghiệp vụ bắt buộc phải thống nhất</a:t>
            </a:r>
          </a:p>
          <a:p>
            <a:endParaRPr lang="vi-VN" dirty="0"/>
          </a:p>
          <a:p>
            <a:r>
              <a:rPr lang="vi-VN" dirty="0"/>
              <a:t>Quy tắc thứ nhất là tiền tệ. Amount paid luôn đi với payment currency,</a:t>
            </a:r>
          </a:p>
          <a:p>
            <a:r>
              <a:rPr lang="vi-VN" dirty="0"/>
              <a:t>còn amount received đi với receiving currency. Project không cộng nhiều</a:t>
            </a:r>
          </a:p>
          <a:p>
            <a:r>
              <a:rPr lang="vi-VN" dirty="0"/>
              <a:t>currency thành một tổng tiền nếu chưa có tỷ giá chính thức.</a:t>
            </a:r>
          </a:p>
          <a:p>
            <a:endParaRPr lang="vi-VN" dirty="0"/>
          </a:p>
          <a:p>
            <a:r>
              <a:rPr lang="vi-VN" dirty="0"/>
              <a:t>Quy tắc thứ hai là định danh tài khoản. Account number có thể lặp giữa các</a:t>
            </a:r>
          </a:p>
          <a:p>
            <a:r>
              <a:rPr lang="vi-VN" dirty="0"/>
              <a:t>ngân hàng, nên business key bắt buộc là cặp bank ID và account number.</a:t>
            </a:r>
          </a:p>
          <a:p>
            <a:endParaRPr lang="vi-VN" dirty="0"/>
          </a:p>
          <a:p>
            <a:r>
              <a:rPr lang="vi-VN" dirty="0"/>
              <a:t>Quy tắc thứ ba là nhãn AML. Trường is_laundering là ground truth synthetic.</a:t>
            </a:r>
          </a:p>
          <a:p>
            <a:r>
              <a:rPr lang="vi-VN" dirty="0"/>
              <a:t>Dashboard đang mô tả dữ liệu đã biết, chưa phải hệ thống machine learning</a:t>
            </a:r>
          </a:p>
          <a:p>
            <a:r>
              <a:rPr lang="vi-VN" dirty="0"/>
              <a:t>phát hiện rửa tiền.</a:t>
            </a:r>
          </a:p>
          <a:p>
            <a:endParaRPr lang="vi-VN" dirty="0"/>
          </a:p>
          <a:p>
            <a:r>
              <a:rPr lang="vi-VN" dirty="0"/>
              <a:t>Ngoài ra, cross-bank, cross-currency và self-transfer là hành vi cần đo</a:t>
            </a:r>
          </a:p>
          <a:p>
            <a:r>
              <a:rPr lang="vi-VN" dirty="0"/>
              <a:t>lường, không mặc định là dòng dữ liệu lỗi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chốt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, Giai </a:t>
            </a:r>
            <a:r>
              <a:rPr lang="en-US" dirty="0" err="1"/>
              <a:t>đoạn</a:t>
            </a:r>
            <a:r>
              <a:rPr lang="en-US" dirty="0"/>
              <a:t> 1 </a:t>
            </a:r>
            <a:r>
              <a:rPr lang="en-US" dirty="0" err="1"/>
              <a:t>chuyển</a:t>
            </a:r>
            <a:r>
              <a:rPr lang="en-US" dirty="0"/>
              <a:t> file CSV </a:t>
            </a:r>
            <a:r>
              <a:rPr lang="en-US" dirty="0" err="1"/>
              <a:t>thành</a:t>
            </a:r>
            <a:r>
              <a:rPr lang="en-US" dirty="0"/>
              <a:t> database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lineage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endParaRPr lang="en-US" dirty="0"/>
          </a:p>
          <a:p>
            <a:endParaRPr lang="en-US" dirty="0"/>
          </a:p>
          <a:p>
            <a:r>
              <a:rPr lang="vi-VN" dirty="0"/>
              <a:t>Luồng nạp nguồn được tách thành hai bước. Lớp landing giữ các trường ở dạng</a:t>
            </a:r>
          </a:p>
          <a:p>
            <a:r>
              <a:rPr lang="vi-VN" dirty="0"/>
              <a:t>gần với file gốc để phục vụ kiểm tra và truy vết. Sau đó typed source mới</a:t>
            </a:r>
          </a:p>
          <a:p>
            <a:r>
              <a:rPr lang="vi-VN" dirty="0"/>
              <a:t>parse timestamp, numeric, boolean và chuẩn hóa các khóa nghiệp vụ.</a:t>
            </a:r>
          </a:p>
          <a:p>
            <a:endParaRPr lang="vi-VN" dirty="0"/>
          </a:p>
          <a:p>
            <a:r>
              <a:rPr lang="vi-VN" dirty="0"/>
              <a:t>Mỗi lần nạp được ghi vào bảng load batch với tên file, thời điểm, trạng thái</a:t>
            </a:r>
          </a:p>
          <a:p>
            <a:r>
              <a:rPr lang="vi-VN" dirty="0"/>
              <a:t>và số dòng. Nếu có lỗi cấu trúc, dòng đó phải đi vào rejected row cùng lý do,</a:t>
            </a:r>
          </a:p>
          <a:p>
            <a:r>
              <a:rPr lang="vi-VN" dirty="0"/>
              <a:t>không được xóa âm thầm.</a:t>
            </a:r>
          </a:p>
          <a:p>
            <a:endParaRPr lang="vi-VN" dirty="0"/>
          </a:p>
          <a:p>
            <a:r>
              <a:rPr lang="vi-VN" dirty="0"/>
              <a:t>Source row ID được giữ xuyên suốt để fact có thể truy ngược về dòng nguồn.</a:t>
            </a:r>
          </a:p>
          <a:p>
            <a:r>
              <a:rPr lang="vi-VN" dirty="0"/>
              <a:t>Các index lớn được tạo sau initial load để cân bằng giữa tốc độ nạp và tốc</a:t>
            </a:r>
          </a:p>
          <a:p>
            <a:r>
              <a:rPr lang="vi-VN" dirty="0"/>
              <a:t>độ truy vấn</a:t>
            </a:r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Kết quả của bước này cho thấy nguồn đủ điều kiện để chuyển sang thiết kế DW</a:t>
            </a:r>
          </a:p>
          <a:p>
            <a:endParaRPr lang="vi-VN" dirty="0"/>
          </a:p>
          <a:p>
            <a:r>
              <a:rPr lang="vi-VN" dirty="0"/>
              <a:t>Sau khi hoàn thành Giai đoạn 1, số giao dịch typed khớp với số dòng nguồn là</a:t>
            </a:r>
          </a:p>
          <a:p>
            <a:r>
              <a:rPr lang="vi-VN" dirty="0"/>
              <a:t>31.898.238. Số tài khoản chuẩn hóa là 2.087.786.</a:t>
            </a:r>
          </a:p>
          <a:p>
            <a:endParaRPr lang="vi-VN" dirty="0"/>
          </a:p>
          <a:p>
            <a:r>
              <a:rPr lang="vi-VN" dirty="0"/>
              <a:t>Invalid amount bằng 0 và source reject bằng 0. File raw được giữ bất biến,</a:t>
            </a:r>
          </a:p>
          <a:p>
            <a:r>
              <a:rPr lang="vi-VN" dirty="0"/>
              <a:t>không chỉnh sửa thủ công sau khi đưa vào project.</a:t>
            </a:r>
          </a:p>
          <a:p>
            <a:endParaRPr lang="vi-VN" dirty="0"/>
          </a:p>
          <a:p>
            <a:r>
              <a:rPr lang="vi-VN" dirty="0"/>
              <a:t>Điều kiện để chuyển sang Giai đoạn 2 là source count phải khớp typed count và các</a:t>
            </a:r>
          </a:p>
          <a:p>
            <a:r>
              <a:rPr lang="vi-VN" dirty="0"/>
              <a:t>business rule trong tài liệu phải được thể hiện nhất quán trong SQL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Khi nguồn đã đáng tin cậy, bước tiếp theo là định nghĩa grain trước khi thiết kế bảng fact</a:t>
            </a:r>
          </a:p>
          <a:p>
            <a:endParaRPr lang="vi-VN" dirty="0"/>
          </a:p>
          <a:p>
            <a:r>
              <a:rPr lang="vi-VN" dirty="0"/>
              <a:t>Fact transaction có grain là một dòng cho một giao dịch nguồn.</a:t>
            </a:r>
          </a:p>
          <a:p>
            <a:endParaRPr lang="vi-VN" dirty="0"/>
          </a:p>
          <a:p>
            <a:r>
              <a:rPr lang="vi-VN" dirty="0"/>
              <a:t>Fact pattern transaction có grain khác: một giao dịch thuộc một pattern</a:t>
            </a:r>
          </a:p>
          <a:p>
            <a:r>
              <a:rPr lang="vi-VN" dirty="0"/>
              <a:t>attempt và giữ cả sequence trong attempt. Hai fact trả lời hai nhóm câu hỏi</a:t>
            </a:r>
          </a:p>
          <a:p>
            <a:r>
              <a:rPr lang="vi-VN" dirty="0"/>
              <a:t>khác nhau, vì vậy không được nối trực tiếp fact-to-fact.</a:t>
            </a:r>
          </a:p>
          <a:p>
            <a:endParaRPr lang="vi-VN" dirty="0"/>
          </a:p>
          <a:p>
            <a:r>
              <a:rPr lang="vi-VN" dirty="0"/>
              <a:t>Từ grain này, các KPI toàn kỳ được định nghĩa nhất quán: 31,9 triệu giao</a:t>
            </a:r>
          </a:p>
          <a:p>
            <a:r>
              <a:rPr lang="vi-VN" dirty="0"/>
              <a:t>dịch; AML rate khoảng 0,11%; cross-bank 91,2%;</a:t>
            </a:r>
          </a:p>
          <a:p>
            <a:r>
              <a:rPr lang="vi-VN" dirty="0"/>
              <a:t>cross-currency 1,52%; self-transfer 8,03%; và 2.756</a:t>
            </a:r>
          </a:p>
          <a:p>
            <a:r>
              <a:rPr lang="vi-VN" dirty="0"/>
              <a:t>pattern attempt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Các grain trên được triển khai bằng mô hình sao</a:t>
            </a:r>
          </a:p>
          <a:p>
            <a:endParaRPr lang="vi-VN" dirty="0"/>
          </a:p>
          <a:p>
            <a:r>
              <a:rPr lang="vi-VN" dirty="0"/>
              <a:t>Data Warehouse gồm hai bảng fact chính và hệ thống dimension dùng chung.</a:t>
            </a:r>
          </a:p>
          <a:p>
            <a:r>
              <a:rPr lang="vi-VN" dirty="0"/>
              <a:t>Fact transaction có 31.898.238 dòng, còn fact pattern transaction có</a:t>
            </a:r>
          </a:p>
          <a:p>
            <a:r>
              <a:rPr lang="vi-VN" dirty="0"/>
              <a:t>22.743 dòng.</a:t>
            </a:r>
          </a:p>
          <a:p>
            <a:endParaRPr lang="vi-VN" dirty="0"/>
          </a:p>
          <a:p>
            <a:r>
              <a:rPr lang="vi-VN" dirty="0"/>
              <a:t>Các dimension như date, account, bank, currency, payment format và pattern</a:t>
            </a:r>
          </a:p>
          <a:p>
            <a:r>
              <a:rPr lang="vi-VN" dirty="0"/>
              <a:t>type tách phần mô tả khỏi phần sự kiện. Dimension sử dụng surrogate key để</a:t>
            </a:r>
          </a:p>
          <a:p>
            <a:r>
              <a:rPr lang="vi-VN" dirty="0"/>
              <a:t>ổn định quan hệ và hỗ trợ lưu lịch sử.</a:t>
            </a:r>
          </a:p>
          <a:p>
            <a:endParaRPr lang="vi-VN" dirty="0"/>
          </a:p>
          <a:p>
            <a:r>
              <a:rPr lang="vi-VN" dirty="0"/>
              <a:t>Mỗi dimension có một Unknown member với key âm một. Cách này giúp fact không</a:t>
            </a:r>
          </a:p>
          <a:p>
            <a:r>
              <a:rPr lang="vi-VN" dirty="0"/>
              <a:t>bị mất nếu lookup thất bại, đồng thời số lượng unknown được kiểm tra riêng.</a:t>
            </a:r>
          </a:p>
          <a:p>
            <a:r>
              <a:rPr lang="vi-VN" dirty="0"/>
              <a:t>Trong lần nghiệm thu hiện tại, unknown lookup bằng 0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Trên Power BI, mô hình này tiếp tục được giữ theo nguyên tắc dimension lọc fact</a:t>
            </a:r>
          </a:p>
          <a:p>
            <a:endParaRPr lang="vi-VN" dirty="0"/>
          </a:p>
          <a:p>
            <a:r>
              <a:rPr lang="vi-VN" dirty="0"/>
              <a:t>Đây là semantic model phục vụ Power BI, không phải mô hình OLTP.</a:t>
            </a:r>
          </a:p>
          <a:p>
            <a:endParaRPr lang="vi-VN" dirty="0"/>
          </a:p>
          <a:p>
            <a:r>
              <a:rPr lang="vi-VN" dirty="0"/>
              <a:t>Tất cả quan hệ chính đều là dimension một-nhiều fact và sử dụng hướng lọc</a:t>
            </a:r>
          </a:p>
          <a:p>
            <a:r>
              <a:rPr lang="vi-VN" dirty="0"/>
              <a:t>Single. Project không tạo relationship fact-to-fact vì cách đó dễ gây đường</a:t>
            </a:r>
          </a:p>
          <a:p>
            <a:r>
              <a:rPr lang="vi-VN" dirty="0"/>
              <a:t>lọc mơ hồ và double counting.</a:t>
            </a:r>
          </a:p>
          <a:p>
            <a:endParaRPr lang="vi-VN" dirty="0"/>
          </a:p>
          <a:p>
            <a:r>
              <a:rPr lang="vi-VN" dirty="0"/>
              <a:t>Payment currency và receiving currency được tách thành hai vai trò để một</a:t>
            </a:r>
          </a:p>
          <a:p>
            <a:r>
              <a:rPr lang="vi-VN" dirty="0"/>
              <a:t>bộ lọc không làm sai ý nghĩa luồng gửi và nhận. Các surrogate key kỹ thuật</a:t>
            </a:r>
          </a:p>
          <a:p>
            <a:r>
              <a:rPr lang="vi-VN" dirty="0"/>
              <a:t>được ẩn khỏi người dùng báo cáo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account</a:t>
            </a:r>
          </a:p>
          <a:p>
            <a:endParaRPr lang="en-US" dirty="0"/>
          </a:p>
          <a:p>
            <a:r>
              <a:rPr lang="vi-VN" dirty="0"/>
              <a:t>Business key của account là bank ID cộng account number.</a:t>
            </a:r>
          </a:p>
          <a:p>
            <a:endParaRPr lang="vi-VN" dirty="0"/>
          </a:p>
          <a:p>
            <a:r>
              <a:rPr lang="vi-VN" dirty="0"/>
              <a:t>Khi thuộc tính cần theo dõi lịch sử thay đổi, ETL không ghi đè dòng cũ.</a:t>
            </a:r>
          </a:p>
          <a:p>
            <a:r>
              <a:rPr lang="vi-VN" dirty="0"/>
              <a:t>Thay vào đó, version cũ được đóng effective range và một version mới có</a:t>
            </a:r>
          </a:p>
          <a:p>
            <a:r>
              <a:rPr lang="vi-VN" dirty="0"/>
              <a:t>surrogate key mới được tạo ra.</a:t>
            </a:r>
          </a:p>
          <a:p>
            <a:endParaRPr lang="vi-VN" dirty="0"/>
          </a:p>
          <a:p>
            <a:r>
              <a:rPr lang="vi-VN" dirty="0"/>
              <a:t>Version hiện hành có is_current bằng true và effective_to là ngày</a:t>
            </a:r>
          </a:p>
          <a:p>
            <a:r>
              <a:rPr lang="vi-VN" dirty="0"/>
              <a:t>31 tháng 12 năm 9999.</a:t>
            </a:r>
          </a:p>
          <a:p>
            <a:endParaRPr lang="vi-VN" dirty="0"/>
          </a:p>
          <a:p>
            <a:r>
              <a:rPr lang="vi-VN" dirty="0"/>
              <a:t>Hai kiểm soát bắt buộc là không được overlap khoảng hiệu lực và mỗi business</a:t>
            </a:r>
          </a:p>
          <a:p>
            <a:r>
              <a:rPr lang="vi-VN" dirty="0"/>
              <a:t>key chỉ có đúng một current row. Cả hai kiểm thử đều đạt trong lần nghiệm thu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Sau khi chốt mô hình chiều, ETL được triển khai theo đúng thứ tự phụ thuộc</a:t>
            </a:r>
          </a:p>
          <a:p>
            <a:endParaRPr lang="vi-VN" dirty="0"/>
          </a:p>
          <a:p>
            <a:r>
              <a:rPr lang="vi-VN" dirty="0"/>
              <a:t>Pipeline gồm năm bước: extract dữ liệu nguồn, chuẩn hóa ở staging, nạp</a:t>
            </a:r>
          </a:p>
          <a:p>
            <a:r>
              <a:rPr lang="vi-VN" dirty="0"/>
              <a:t>dimension, nạp fact và cuối cùng refresh data mart.</a:t>
            </a:r>
          </a:p>
          <a:p>
            <a:endParaRPr lang="vi-VN" dirty="0"/>
          </a:p>
          <a:p>
            <a:r>
              <a:rPr lang="vi-VN" dirty="0"/>
              <a:t>Dimension phải được xử lý trước fact để fact lookup đúng surrogate key.</a:t>
            </a:r>
          </a:p>
          <a:p>
            <a:endParaRPr lang="vi-VN" dirty="0"/>
          </a:p>
          <a:p>
            <a:r>
              <a:rPr lang="vi-VN" dirty="0"/>
              <a:t>FULL load được dùng cho lần xây nền đầu tiên hoặc khi rebuild có chủ đích.</a:t>
            </a:r>
          </a:p>
          <a:p>
            <a:r>
              <a:rPr lang="vi-VN" dirty="0"/>
              <a:t>INCREMENTAL load chỉ nhận phần dữ liệu mới hoặc thay đổi dựa trên watermark</a:t>
            </a:r>
          </a:p>
          <a:p>
            <a:r>
              <a:rPr lang="vi-VN" dirty="0"/>
              <a:t>và source key.</a:t>
            </a:r>
          </a:p>
          <a:p>
            <a:endParaRPr lang="vi-VN" dirty="0"/>
          </a:p>
          <a:p>
            <a:r>
              <a:rPr lang="vi-VN" dirty="0"/>
              <a:t>Mỗi batch đều có audit, số dòng insert hoặc update, thời gian bắt đầu, kết</a:t>
            </a:r>
          </a:p>
          <a:p>
            <a:r>
              <a:rPr lang="vi-VN" dirty="0"/>
              <a:t>thúc và trạng thái. Pipeline chỉ được coi là thành công sau validation và</a:t>
            </a:r>
          </a:p>
          <a:p>
            <a:r>
              <a:rPr lang="vi-VN" dirty="0"/>
              <a:t>reconciliation, không phải chỉ vì câu lệnh SQL chạy không báo lỗi.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Một yêu cầu quan trọng khác là chạy lại cùng input không được tạo dữ liệu trùng</a:t>
            </a:r>
          </a:p>
          <a:p>
            <a:endParaRPr lang="vi-VN" dirty="0"/>
          </a:p>
          <a:p>
            <a:r>
              <a:rPr lang="vi-VN" dirty="0"/>
              <a:t>Idempotency được chứng minh bằng kết quả chạy thực tế.</a:t>
            </a:r>
          </a:p>
          <a:p>
            <a:endParaRPr lang="vi-VN" dirty="0"/>
          </a:p>
          <a:p>
            <a:r>
              <a:rPr lang="vi-VN" dirty="0"/>
              <a:t>Sau FULL load, fact có 31.898.238 dòng. Khi chạy INCREMENTAL mà không có</a:t>
            </a:r>
          </a:p>
          <a:p>
            <a:r>
              <a:rPr lang="vi-VN" dirty="0"/>
              <a:t>input mới, số dòng insert là 0 và tổng fact vẫn giữ nguyên. Khi chạy lại</a:t>
            </a:r>
          </a:p>
          <a:p>
            <a:r>
              <a:rPr lang="vi-VN" dirty="0"/>
              <a:t>FULL theo cơ chế kiểm soát, fact cũng không tăng thêm.</a:t>
            </a:r>
          </a:p>
          <a:p>
            <a:endParaRPr lang="vi-VN" dirty="0"/>
          </a:p>
          <a:p>
            <a:r>
              <a:rPr lang="vi-VN" dirty="0"/>
              <a:t>Cơ chế bảo vệ gồm unique key, điều kiện ON CONFLICT, watermark và batch</a:t>
            </a:r>
          </a:p>
          <a:p>
            <a:r>
              <a:rPr lang="vi-VN" dirty="0"/>
              <a:t>lineage. Vì vậy, đây không chỉ là phát biểu thiết kế mà có bằng chứng bằng</a:t>
            </a:r>
          </a:p>
          <a:p>
            <a:r>
              <a:rPr lang="vi-VN" dirty="0"/>
              <a:t>ba mốc số dòng bằng nhau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, project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dòng</a:t>
            </a:r>
            <a:endParaRPr lang="en-US" dirty="0"/>
          </a:p>
          <a:p>
            <a:endParaRPr lang="en-US" dirty="0"/>
          </a:p>
          <a:p>
            <a:r>
              <a:rPr lang="en-US" dirty="0"/>
              <a:t>Ba </a:t>
            </a:r>
            <a:r>
              <a:rPr lang="en-US" dirty="0" err="1"/>
              <a:t>lớp</a:t>
            </a:r>
            <a:r>
              <a:rPr lang="en-US" dirty="0"/>
              <a:t> raw source, staging valid </a:t>
            </a:r>
            <a:r>
              <a:rPr lang="en-US" dirty="0" err="1"/>
              <a:t>và</a:t>
            </a:r>
            <a:r>
              <a:rPr lang="en-US" dirty="0"/>
              <a:t> fact transaction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đúng</a:t>
            </a:r>
            <a:endParaRPr lang="en-US" dirty="0"/>
          </a:p>
          <a:p>
            <a:r>
              <a:rPr lang="en-US" dirty="0"/>
              <a:t>31.898.238 </a:t>
            </a:r>
            <a:r>
              <a:rPr lang="en-US" dirty="0" err="1"/>
              <a:t>dòng</a:t>
            </a:r>
            <a:r>
              <a:rPr lang="en-US" dirty="0"/>
              <a:t>.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pipeline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hoặc</a:t>
            </a:r>
            <a:endParaRPr lang="en-US" dirty="0"/>
          </a:p>
          <a:p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Các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0, </a:t>
            </a:r>
            <a:r>
              <a:rPr lang="en-US" dirty="0" err="1"/>
              <a:t>gồm</a:t>
            </a:r>
            <a:r>
              <a:rPr lang="en-US" dirty="0"/>
              <a:t> invalid amount, unknown lookup,</a:t>
            </a:r>
          </a:p>
          <a:p>
            <a:r>
              <a:rPr lang="en-US" dirty="0"/>
              <a:t>SCD overlap, duplicate current row </a:t>
            </a:r>
            <a:r>
              <a:rPr lang="en-US" dirty="0" err="1"/>
              <a:t>và</a:t>
            </a:r>
            <a:r>
              <a:rPr lang="en-US" dirty="0"/>
              <a:t> DW reject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Sau khi dữ liệu đúng, lớp mart được dùng để bảo đảm tốc độ báo cáo</a:t>
            </a:r>
          </a:p>
          <a:p>
            <a:endParaRPr lang="vi-VN" dirty="0"/>
          </a:p>
          <a:p>
            <a:r>
              <a:rPr lang="vi-VN" dirty="0"/>
              <a:t>Reporting layer có 7 trên 7 materialized view đã populated và 16 view</a:t>
            </a:r>
          </a:p>
          <a:p>
            <a:r>
              <a:rPr lang="vi-VN" dirty="0"/>
              <a:t>dành cho Power BI.</a:t>
            </a:r>
          </a:p>
          <a:p>
            <a:endParaRPr lang="vi-VN" dirty="0"/>
          </a:p>
          <a:p>
            <a:r>
              <a:rPr lang="vi-VN" dirty="0"/>
              <a:t>Bốn truy vấn chuẩn trong lần đo hiện tại có thời gian lần lượt là</a:t>
            </a:r>
          </a:p>
          <a:p>
            <a:r>
              <a:rPr lang="vi-VN" dirty="0"/>
              <a:t>0,009; 0,012; 0,368 và 4,618 mili-giây. Truy vấn chậm nhất vẫn dưới</a:t>
            </a:r>
          </a:p>
          <a:p>
            <a:r>
              <a:rPr lang="vi-VN" dirty="0"/>
              <a:t>5 mili-giây trong môi trường project.</a:t>
            </a:r>
          </a:p>
          <a:p>
            <a:endParaRPr lang="vi-VN" dirty="0"/>
          </a:p>
          <a:p>
            <a:r>
              <a:rPr lang="vi-VN" dirty="0"/>
              <a:t>Em không coi đây là benchmark cho production. Kết quả này chỉ chứng minh</a:t>
            </a:r>
          </a:p>
          <a:p>
            <a:r>
              <a:rPr lang="vi-VN" dirty="0"/>
              <a:t>data mart phù hợp với workload báo cáo hiện tại. Fact chi tiết vẫn được giữ</a:t>
            </a:r>
          </a:p>
          <a:p>
            <a:r>
              <a:rPr lang="vi-VN" dirty="0"/>
              <a:t>cho drill-through và đối soát, nhưng không phải nguồn mặc định của mọi visual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Với lớp reporting ổn định, giai đoạn 3 đưa dữ liệu lên Power BI</a:t>
            </a:r>
          </a:p>
          <a:p>
            <a:endParaRPr lang="vi-VN" dirty="0"/>
          </a:p>
          <a:p>
            <a:r>
              <a:rPr lang="vi-VN" dirty="0"/>
              <a:t>Vì đặc thù là máy macOS nên Project sử dụng kiến trúc cloud trên web</a:t>
            </a:r>
          </a:p>
          <a:p>
            <a:endParaRPr lang="vi-VN" dirty="0"/>
          </a:p>
          <a:p>
            <a:r>
              <a:rPr lang="vi-VN" dirty="0"/>
              <a:t>PostgreSQL local là nguồn dữ liệu chuẩn. Từ lớp reporting, dữ liệu được xuất</a:t>
            </a:r>
          </a:p>
          <a:p>
            <a:r>
              <a:rPr lang="vi-VN" dirty="0"/>
              <a:t>thành snapshot có schema ổn định, sau đó đưa lên workbook OneDrive.</a:t>
            </a:r>
          </a:p>
          <a:p>
            <a:r>
              <a:rPr lang="vi-VN" dirty="0"/>
              <a:t>Power BI Service sử dụng workbook này để xây semantic model,</a:t>
            </a:r>
          </a:p>
          <a:p>
            <a:r>
              <a:rPr lang="vi-VN" dirty="0"/>
              <a:t>18 DAX measure và một dashboard hợp nhất.</a:t>
            </a:r>
          </a:p>
          <a:p>
            <a:endParaRPr lang="vi-VN" dirty="0"/>
          </a:p>
          <a:p>
            <a:r>
              <a:rPr lang="vi-VN" dirty="0"/>
              <a:t>Điểm cần nói rõ là đây là snapshot đã được đối soát, chưa phải kết nối</a:t>
            </a:r>
          </a:p>
          <a:p>
            <a:r>
              <a:rPr lang="vi-VN" dirty="0"/>
              <a:t>realtime từ Power BI Service tới localhost. Các acceptance test vẫn đối</a:t>
            </a:r>
          </a:p>
          <a:p>
            <a:r>
              <a:rPr lang="vi-VN" dirty="0"/>
              <a:t>soát raw, DW, mart và reporting trước khi snapshot được sử dụng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Trước khi xem report, em xin tóm tắt riêng luồng công nghệ và cách dữ liệu</a:t>
            </a:r>
          </a:p>
          <a:p>
            <a:r>
              <a:rPr lang="vi-VN" dirty="0"/>
              <a:t>được xử lý để tạo ra dashboard</a:t>
            </a:r>
          </a:p>
          <a:p>
            <a:endParaRPr lang="vi-VN" dirty="0"/>
          </a:p>
          <a:p>
            <a:r>
              <a:rPr lang="vi-VN" dirty="0"/>
              <a:t>Slide này tóm tắt pipeline BI file-based chạy trên macOS.</a:t>
            </a:r>
          </a:p>
          <a:p>
            <a:endParaRPr lang="vi-VN" dirty="0"/>
          </a:p>
          <a:p>
            <a:r>
              <a:rPr lang="vi-VN" dirty="0"/>
              <a:t>Đầu vào là Excel global_superstore_2016. Python và pandas thực hiện ETL nhẹ:</a:t>
            </a:r>
          </a:p>
          <a:p>
            <a:r>
              <a:rPr lang="vi-VN" dirty="0"/>
              <a:t>kiểm tra null, kiểu dữ liệu, chuẩn hóa các trường phân tích và tạo bảng tổng</a:t>
            </a:r>
          </a:p>
          <a:p>
            <a:r>
              <a:rPr lang="vi-VN" dirty="0"/>
              <a:t>hợp. Kết quả được xuất thành dataClean_superstore để làm nguồn ổn định trên</a:t>
            </a:r>
          </a:p>
          <a:p>
            <a:r>
              <a:rPr lang="vi-VN" dirty="0"/>
              <a:t>cloud.</a:t>
            </a:r>
          </a:p>
          <a:p>
            <a:endParaRPr lang="vi-VN" dirty="0"/>
          </a:p>
          <a:p>
            <a:r>
              <a:rPr lang="vi-VN" dirty="0"/>
              <a:t>Trong Power BI, semantic model tính SUM Sales, SUM Quantity và dùng Metric,</a:t>
            </a:r>
          </a:p>
          <a:p>
            <a:r>
              <a:rPr lang="vi-VN" dirty="0"/>
              <a:t>Label, SortOrder để kiểm soát nội dung hiển thị. Đầu ra là một dashboard duy</a:t>
            </a:r>
          </a:p>
          <a:p>
            <a:r>
              <a:rPr lang="vi-VN" dirty="0"/>
              <a:t>nhất gồm năm biểu đồ và ảnh 4K để nộp bài.</a:t>
            </a:r>
          </a:p>
          <a:p>
            <a:endParaRPr lang="vi-VN" dirty="0"/>
          </a:p>
          <a:p>
            <a:r>
              <a:rPr lang="vi-VN" dirty="0"/>
              <a:t>Phần này không dùng SSIS và chưa có Data Warehouse vật lý. Nếu mở rộng, em sẽ</a:t>
            </a:r>
          </a:p>
          <a:p>
            <a:r>
              <a:rPr lang="vi-VN" dirty="0"/>
              <a:t>chuyển sang Dataflow hoặc Power Query, Fabric Warehouse hay Azure SQL, sau đó</a:t>
            </a:r>
          </a:p>
          <a:p>
            <a:r>
              <a:rPr lang="vi-VN" dirty="0"/>
              <a:t>tổ chức Star Schema trước khi kết nối Power BI.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, </a:t>
            </a:r>
            <a:r>
              <a:rPr lang="en-US" dirty="0" err="1"/>
              <a:t>lớp</a:t>
            </a:r>
            <a:r>
              <a:rPr lang="en-US" dirty="0"/>
              <a:t> ETL </a:t>
            </a:r>
            <a:r>
              <a:rPr lang="en-US" dirty="0" err="1"/>
              <a:t>và</a:t>
            </a:r>
            <a:r>
              <a:rPr lang="en-US" dirty="0"/>
              <a:t> semantic model, slide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  <a:p>
            <a:r>
              <a:rPr lang="en-US" dirty="0" err="1"/>
              <a:t>chứng</a:t>
            </a:r>
            <a:r>
              <a:rPr lang="en-US" dirty="0"/>
              <a:t> report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Power BI Service</a:t>
            </a:r>
          </a:p>
          <a:p>
            <a:endParaRPr lang="en-US" dirty="0"/>
          </a:p>
          <a:p>
            <a:r>
              <a:rPr lang="vi-VN" dirty="0"/>
              <a:t>Đây là ảnh chụp trực tiếp từ report trên Power BI Service. </a:t>
            </a:r>
          </a:p>
          <a:p>
            <a:endParaRPr lang="vi-VN" dirty="0"/>
          </a:p>
          <a:p>
            <a:r>
              <a:rPr lang="vi-VN" dirty="0"/>
              <a:t>Đầu dashboard là 6 KPI toàn kỳ: tổng giao dịch, giao dịch laundering,</a:t>
            </a:r>
          </a:p>
          <a:p>
            <a:r>
              <a:rPr lang="vi-VN" dirty="0"/>
              <a:t>AML rate, cross-bank, cross-currency và self-transfer. Khi demo, em chọn</a:t>
            </a:r>
          </a:p>
          <a:p>
            <a:r>
              <a:rPr lang="vi-VN" dirty="0"/>
              <a:t>View → Fit to width rồi cuộn dọc qua các khu vực phân tích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visual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dashboard </a:t>
            </a:r>
            <a:r>
              <a:rPr lang="en-US" dirty="0" err="1"/>
              <a:t>này</a:t>
            </a:r>
            <a:endParaRPr lang="en-US" dirty="0"/>
          </a:p>
          <a:p>
            <a:endParaRPr lang="en-US" dirty="0"/>
          </a:p>
          <a:p>
            <a:r>
              <a:rPr lang="vi-VN" dirty="0"/>
              <a:t>Phần đầu dashboard cho thấy 31.898.238 giao dịch, 35.230 giao dịch AML,</a:t>
            </a:r>
          </a:p>
          <a:p>
            <a:r>
              <a:rPr lang="vi-VN" dirty="0"/>
              <a:t>tương ứng AML rate 0,1104%. Cross-bank chiếm 91,20%, cross-currency 1,52%</a:t>
            </a:r>
          </a:p>
          <a:p>
            <a:r>
              <a:rPr lang="vi-VN" dirty="0"/>
              <a:t>và self-transfer 8,03%.</a:t>
            </a:r>
          </a:p>
          <a:p>
            <a:endParaRPr lang="vi-VN" dirty="0"/>
          </a:p>
          <a:p>
            <a:r>
              <a:rPr lang="vi-VN" dirty="0"/>
              <a:t>Ta thấy đỉnh 4.465.985 giao dịch vào ngày 01/09. Trung bình</a:t>
            </a:r>
          </a:p>
          <a:p>
            <a:r>
              <a:rPr lang="vi-VN" dirty="0"/>
              <a:t>16 ngày đầu khoảng 1,99 triệu giao dịch mỗi ngày, trong khi 12 ngày cuối</a:t>
            </a:r>
          </a:p>
          <a:p>
            <a:r>
              <a:rPr lang="vi-VN" dirty="0"/>
              <a:t>chỉ còn 582 giao dịch mỗi ngày. Vì mẫu số cuối kỳ rất nhỏ, em luôn đọc count</a:t>
            </a:r>
          </a:p>
          <a:p>
            <a:r>
              <a:rPr lang="vi-VN" dirty="0"/>
              <a:t>cùng rate và không suy diễn 28 ngày thành xu hướng dài hạn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Tiếp theo tập trung vào AML theo format và tài khoản</a:t>
            </a:r>
          </a:p>
          <a:p>
            <a:endParaRPr lang="vi-VN" dirty="0"/>
          </a:p>
          <a:p>
            <a:r>
              <a:rPr lang="vi-VN" dirty="0"/>
              <a:t>Ta thấy ACH có 30.746 trong tổng số 35.230 giao dịch AML,</a:t>
            </a:r>
          </a:p>
          <a:p>
            <a:r>
              <a:rPr lang="vi-VN" dirty="0"/>
              <a:t>chiếm 87,27%; AML rate của ACH là 0,7948%, cao khoảng 7,2 lần mức toàn kỳ.</a:t>
            </a:r>
          </a:p>
          <a:p>
            <a:endParaRPr lang="vi-VN" dirty="0"/>
          </a:p>
          <a:p>
            <a:r>
              <a:rPr lang="vi-VN" dirty="0"/>
              <a:t>Bên cạnh đó xếp hạng account theo lượt tham gia AML. Account 100428660 đứng</a:t>
            </a:r>
          </a:p>
          <a:p>
            <a:r>
              <a:rPr lang="vi-VN" dirty="0"/>
              <a:t>đầu với 1.528 lượt, gồm 1.524 lượt gửi và 4 lượt nhận. Đây là tín hiệu ưu</a:t>
            </a:r>
          </a:p>
          <a:p>
            <a:r>
              <a:rPr lang="vi-VN" dirty="0"/>
              <a:t>tiên review trong dữ liệu synthetic, không phải kết luận pháp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Tiếp theo là bank, currency và pattern theo đúng đơn vị nghiệp vụ</a:t>
            </a:r>
          </a:p>
          <a:p>
            <a:endParaRPr lang="vi-VN" dirty="0"/>
          </a:p>
          <a:p>
            <a:r>
              <a:rPr lang="vi-VN" dirty="0"/>
              <a:t>Ta thấy National Bank of Indianapolis có 2.979.311 lượt tham</a:t>
            </a:r>
          </a:p>
          <a:p>
            <a:r>
              <a:rPr lang="vi-VN" dirty="0"/>
              <a:t>gia, gồm 2.960.783 lượt gửi và 18.528 lượt nhận. Participation là tổng lượt</a:t>
            </a:r>
          </a:p>
          <a:p>
            <a:r>
              <a:rPr lang="vi-VN" dirty="0"/>
              <a:t>gửi và nhận, không phải số transaction distinct.</a:t>
            </a:r>
          </a:p>
          <a:p>
            <a:endParaRPr lang="vi-VN" dirty="0"/>
          </a:p>
          <a:p>
            <a:r>
              <a:rPr lang="vi-VN" dirty="0"/>
              <a:t>Ta cũng thấy USD sang USD là corridor lớn nhất với 11.430.671 giao</a:t>
            </a:r>
          </a:p>
          <a:p>
            <a:r>
              <a:rPr lang="vi-VN" dirty="0"/>
              <a:t>dịch; cross-currency toàn kỳ chỉ chiếm 1,5209%. Project không cộng amount</a:t>
            </a:r>
          </a:p>
          <a:p>
            <a:r>
              <a:rPr lang="vi-VN" dirty="0"/>
              <a:t>của nhiều currency khi chưa có tỷ giá chính thức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Phần cuối dashboard kiểm tra pattern, tài khoản và chất lượng ETL</a:t>
            </a:r>
          </a:p>
          <a:p>
            <a:endParaRPr lang="vi-VN" dirty="0"/>
          </a:p>
          <a:p>
            <a:r>
              <a:rPr lang="vi-VN" dirty="0"/>
              <a:t>Ta thấy GATHER-SCATTER có 4.289 giao dịch trong 322 attempt,</a:t>
            </a:r>
          </a:p>
          <a:p>
            <a:r>
              <a:rPr lang="vi-VN" dirty="0"/>
              <a:t>trung bình 13,32 giao dịch mỗi attempt. Khi đánh giá pattern phải xem cả</a:t>
            </a:r>
          </a:p>
          <a:p>
            <a:r>
              <a:rPr lang="vi-VN" dirty="0"/>
              <a:t>cường độ và độ dài sequence.</a:t>
            </a:r>
          </a:p>
          <a:p>
            <a:endParaRPr lang="vi-VN" dirty="0"/>
          </a:p>
          <a:p>
            <a:r>
              <a:rPr lang="vi-VN" dirty="0"/>
              <a:t>Ta thấy batch gần nhất COMPLETED, validation PASSED, 0 reject,</a:t>
            </a:r>
          </a:p>
          <a:p>
            <a:r>
              <a:rPr lang="vi-VN" dirty="0"/>
              <a:t>9 check đạt và 0 check failed. Các batch toàn kỳ cũng đạt 36 trên 36 kết quả</a:t>
            </a:r>
          </a:p>
          <a:p>
            <a:r>
              <a:rPr lang="vi-VN" dirty="0"/>
              <a:t>validation. Phần này chứng minh dashboard không chỉ trình bày AML mà còn</a:t>
            </a:r>
          </a:p>
          <a:p>
            <a:r>
              <a:rPr lang="vi-VN" dirty="0"/>
              <a:t>hiển thị trạng thái vận hành dữ liệu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dashboard,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project</a:t>
            </a:r>
          </a:p>
          <a:p>
            <a:endParaRPr lang="en-US" dirty="0"/>
          </a:p>
          <a:p>
            <a:r>
              <a:rPr lang="vi-VN" dirty="0"/>
              <a:t>Ở cột thứ nhất là phần nghiệm thu. Lần chạy gần nhất hoàn thành trong</a:t>
            </a:r>
          </a:p>
          <a:p>
            <a:r>
              <a:rPr lang="vi-VN" dirty="0"/>
              <a:t>20,66 giây; 22 trên 22 acceptance test PASSED và 0 failed. Raw bằng fact,</a:t>
            </a:r>
          </a:p>
          <a:p>
            <a:r>
              <a:rPr lang="vi-VN" dirty="0"/>
              <a:t>cùng bằng 31.898.238 dòng; reject và unknown đều bằng 0; 7 trên 7 mart có</a:t>
            </a:r>
          </a:p>
          <a:p>
            <a:r>
              <a:rPr lang="vi-VN" dirty="0"/>
              <a:t>dữ liệu và đủ 16 Power BI reporting view.</a:t>
            </a:r>
          </a:p>
          <a:p>
            <a:endParaRPr lang="vi-VN" dirty="0"/>
          </a:p>
          <a:p>
            <a:r>
              <a:rPr lang="vi-VN" dirty="0"/>
              <a:t>Ở cột thứ hai là giới hạn. Dataset là synthetic, chỉ có 28 ngày, không có</a:t>
            </a:r>
          </a:p>
          <a:p>
            <a:r>
              <a:rPr lang="vi-VN" dirty="0"/>
              <a:t>đầy đủ branch, balance, fee hoặc transaction status; không có official</a:t>
            </a:r>
          </a:p>
          <a:p>
            <a:r>
              <a:rPr lang="vi-VN" dirty="0"/>
              <a:t>exchange rate; Power BI đang dùng snapshot; và project chưa có ML scoring.</a:t>
            </a:r>
          </a:p>
          <a:p>
            <a:endParaRPr lang="vi-VN" dirty="0"/>
          </a:p>
          <a:p>
            <a:r>
              <a:rPr lang="vi-VN" dirty="0"/>
              <a:t>Ở cột cuối là hướng phát triển: managed PostgreSQL, gateway hoặc cloud</a:t>
            </a:r>
          </a:p>
          <a:p>
            <a:r>
              <a:rPr lang="vi-VN" dirty="0"/>
              <a:t>connector, incremental theo source date, dimension tỷ giá có hiệu lực,</a:t>
            </a:r>
          </a:p>
          <a:p>
            <a:r>
              <a:rPr lang="vi-VN" dirty="0"/>
              <a:t>feature mart, AML scoring, SLA, alert và Row-Level Security.</a:t>
            </a:r>
          </a:p>
          <a:p>
            <a:endParaRPr lang="vi-VN" dirty="0"/>
          </a:p>
          <a:p>
            <a:r>
              <a:rPr lang="vi-VN" dirty="0"/>
              <a:t>Về bảo mật hiện tại, role powerbi_readonly chỉ được SELECT schema pbi và</a:t>
            </a:r>
          </a:p>
          <a:p>
            <a:r>
              <a:rPr lang="vi-VN" dirty="0"/>
              <a:t>không có quyền ghi vào raw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project</a:t>
            </a:r>
          </a:p>
          <a:p>
            <a:endParaRPr lang="en-US" dirty="0"/>
          </a:p>
          <a:p>
            <a:r>
              <a:rPr lang="vi-VN" dirty="0"/>
              <a:t>Project đã hoàn thành chuỗi dữ liệu từ nguồn đến báo cáo và có ba bằng</a:t>
            </a:r>
          </a:p>
          <a:p>
            <a:r>
              <a:rPr lang="vi-VN" dirty="0"/>
              <a:t>chứng chính.</a:t>
            </a:r>
          </a:p>
          <a:p>
            <a:endParaRPr lang="vi-VN" dirty="0"/>
          </a:p>
          <a:p>
            <a:r>
              <a:rPr lang="vi-VN" dirty="0"/>
              <a:t>Thứ nhất, 31.898.238 giao dịch đã được đối soát tuyệt đối từ raw tới fact.</a:t>
            </a:r>
          </a:p>
          <a:p>
            <a:endParaRPr lang="vi-VN" dirty="0"/>
          </a:p>
          <a:p>
            <a:r>
              <a:rPr lang="vi-VN" dirty="0"/>
              <a:t>Thứ hai, ETL có thể chạy lại mà không làm tăng số dòng và toàn bộ 22 trên</a:t>
            </a:r>
          </a:p>
          <a:p>
            <a:r>
              <a:rPr lang="vi-VN" dirty="0"/>
              <a:t>22 kiểm thử đều đạt.</a:t>
            </a:r>
          </a:p>
          <a:p>
            <a:endParaRPr lang="vi-VN" dirty="0"/>
          </a:p>
          <a:p>
            <a:r>
              <a:rPr lang="vi-VN" dirty="0"/>
              <a:t>Thứ ba, lớp báo cáo gồm 7 data mart, 16 reporting view và một dashboard Power BI</a:t>
            </a:r>
          </a:p>
          <a:p>
            <a:r>
              <a:rPr lang="vi-VN" dirty="0"/>
              <a:t>hợp nhất với 6 KPI cùng 7 khu vực phân tích; các chỉ tiêu có thể truy ngược về evidence và SQL.</a:t>
            </a:r>
          </a:p>
          <a:p>
            <a:endParaRPr lang="vi-VN" dirty="0"/>
          </a:p>
          <a:p>
            <a:r>
              <a:rPr lang="vi-VN" dirty="0"/>
              <a:t>Thông điệp cuối cùng của project là: thiết kế đúng grain, ETL chạy lại được,</a:t>
            </a:r>
          </a:p>
          <a:p>
            <a:r>
              <a:rPr lang="vi-VN" dirty="0"/>
              <a:t>và báo cáo phải có bằng chứng kiểm soát.</a:t>
            </a:r>
          </a:p>
          <a:p>
            <a:endParaRPr lang="vi-VN" dirty="0"/>
          </a:p>
          <a:p>
            <a:r>
              <a:rPr lang="vi-VN" dirty="0"/>
              <a:t>Nếu được triển khai tiếp, ba ưu tiên của em là tự động hóa refresh cloud,</a:t>
            </a:r>
          </a:p>
          <a:p>
            <a:r>
              <a:rPr lang="vi-VN" dirty="0"/>
              <a:t>bổ sung tỷ giá chính thức và triển khai RLS theo vai trò nghiệp vụ.</a:t>
            </a:r>
          </a:p>
          <a:p>
            <a:endParaRPr lang="vi-VN" dirty="0"/>
          </a:p>
          <a:p>
            <a:r>
              <a:rPr lang="vi-VN" dirty="0"/>
              <a:t>Em xin cảm ơn thầyô và các bạn đã </a:t>
            </a:r>
            <a:r>
              <a:rPr lang="vi-VN"/>
              <a:t>lắng nghe ạ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0759074-3EB8-45CE-994A-9284412572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04C9C5-8AAA-4317-BCC9-80B69A9DB150}"/>
              </a:ext>
            </a:extLst>
          </p:cNvPr>
          <p:cNvSpPr>
            <a:spLocks noGrp="1"/>
          </p:cNvSpPr>
          <p:nvPr/>
        </p:nvSpPr>
        <p:spPr>
          <a:xfrm>
            <a:off x="8667750" y="914400"/>
            <a:ext cx="2000250" cy="38100"/>
          </a:xfrm>
          <a:prstGeom prst="rect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11B11-4A16-4108-B8D4-25E108CE3B8A}"/>
              </a:ext>
            </a:extLst>
          </p:cNvPr>
          <p:cNvSpPr>
            <a:spLocks noGrp="1"/>
          </p:cNvSpPr>
          <p:nvPr/>
        </p:nvSpPr>
        <p:spPr>
          <a:xfrm>
            <a:off x="9906000" y="1066800"/>
            <a:ext cx="762000" cy="3810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D53297-B882-48BD-A253-BFDB43AC6DA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D24B5A"/>
                </a:solidFill>
              </a:defRPr>
            </a:pPr>
            <a:r>
              <a:rPr sz="2000" b="1">
                <a:solidFill>
                  <a:srgbClr val="D24B5A"/>
                </a:solidFill>
              </a:rPr>
              <a:t>PROJECT DATA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0B3EA-73D3-4CC4-B609-64561190636A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9182100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</a:rPr>
              <a:t>Xây dựng Data Warehouse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</a:rPr>
              <a:t>phân tích giao dịch ngân hàng và AML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20291-0EC3-4FC6-9DA3-9F7F6A46E15C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D24B5A"/>
                </a:solidFill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49E20-7D60-44A1-8934-D71FB698EE59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571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5CCAAB-9802-4AE8-AE83-AE17AC965CCB}"/>
              </a:ext>
            </a:extLst>
          </p:cNvPr>
          <p:cNvSpPr>
            <a:spLocks noGrp="1"/>
          </p:cNvSpPr>
          <p:nvPr/>
        </p:nvSpPr>
        <p:spPr>
          <a:xfrm>
            <a:off x="9144000" y="43243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D24B5A"/>
                </a:solidFill>
              </a:defRPr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9230D6-5AA2-416C-BBCC-7A15FD3B243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38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B7C7DA"/>
                </a:solidFill>
              </a:defRPr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DFBBC2-327D-4A1B-BF00-4FBF3CF834F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B7C7DA"/>
                </a:solidFill>
              </a:defRPr>
            </a:pPr>
            <a:r>
              <a:rPr sz="750" b="0">
                <a:solidFill>
                  <a:srgbClr val="B7C7DA"/>
                </a:solidFill>
              </a:rPr>
              <a:t>01</a:t>
            </a:r>
          </a:p>
        </p:txBody>
      </p:sp>
      <p:graphicFrame>
        <p:nvGraphicFramePr>
          <p:cNvPr id="29" name="Table 15"/>
          <p:cNvGraphicFramePr/>
          <p:nvPr/>
        </p:nvGraphicFramePr>
        <p:xfrm>
          <a:off x="946149" y="3859530"/>
          <a:ext cx="8381999" cy="1504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Học viên: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Trương Văn Hiển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Lớp: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200" b="1">
                          <a:solidFill>
                            <a:schemeClr val="bg1"/>
                          </a:solidFill>
                        </a:rPr>
                        <a:t>Data Engineer – K20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24" y="2924776"/>
            <a:ext cx="3523047" cy="352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3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DF196CC-2358-428B-8C0A-3F5B6A62E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7D39D-9D8B-42EF-A5C7-DE8F52E699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9DADD-284F-40B8-A647-52E703D4E4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Pipeline project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60378-0E61-4F13-AA89-E009E6DCF28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1D254-1AD4-4FE1-84B2-43DC76FA430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70BFAE-7D6E-49E3-A4D6-BEAE31320447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798E-37BA-46AC-B47B-678AC0AFAA51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1. Raw files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522B6-5365-498C-AA0F-574194AEF15D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HI-Medium CSV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Checksum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>
                <a:solidFill>
                  <a:srgbClr val="756268"/>
                </a:solidFill>
              </a:rPr>
              <a:t>S</a:t>
            </a:r>
            <a:r>
              <a:rPr sz="1200" b="0">
                <a:solidFill>
                  <a:srgbClr val="756268"/>
                </a:solidFill>
              </a:rPr>
              <a:t>chema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54627-AB46-4630-90B8-98389DB05A74}"/>
              </a:ext>
            </a:extLst>
          </p:cNvPr>
          <p:cNvSpPr>
            <a:spLocks noGrp="1"/>
          </p:cNvSpPr>
          <p:nvPr/>
        </p:nvSpPr>
        <p:spPr>
          <a:xfrm>
            <a:off x="24955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0449E4-593E-46ED-9431-6E2E6A3BA7CB}"/>
              </a:ext>
            </a:extLst>
          </p:cNvPr>
          <p:cNvSpPr>
            <a:spLocks noGrp="1"/>
          </p:cNvSpPr>
          <p:nvPr/>
        </p:nvSpPr>
        <p:spPr>
          <a:xfrm>
            <a:off x="28956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1EAEB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6E0CD-DFCF-4153-8D11-24C24501123D}"/>
              </a:ext>
            </a:extLst>
          </p:cNvPr>
          <p:cNvSpPr>
            <a:spLocks noGrp="1"/>
          </p:cNvSpPr>
          <p:nvPr/>
        </p:nvSpPr>
        <p:spPr>
          <a:xfrm>
            <a:off x="30289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2. Source DB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AAFDD-001A-4A4D-8530-A8351A5B7274}"/>
              </a:ext>
            </a:extLst>
          </p:cNvPr>
          <p:cNvSpPr>
            <a:spLocks noGrp="1"/>
          </p:cNvSpPr>
          <p:nvPr/>
        </p:nvSpPr>
        <p:spPr>
          <a:xfrm>
            <a:off x="30289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Landing tables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Typed columns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DC0A-0354-453B-B7BE-6793A2ACDCBB}"/>
              </a:ext>
            </a:extLst>
          </p:cNvPr>
          <p:cNvSpPr>
            <a:spLocks noGrp="1"/>
          </p:cNvSpPr>
          <p:nvPr/>
        </p:nvSpPr>
        <p:spPr>
          <a:xfrm>
            <a:off x="46863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D292D9-6984-4E53-B117-7734833638A7}"/>
              </a:ext>
            </a:extLst>
          </p:cNvPr>
          <p:cNvSpPr>
            <a:spLocks noGrp="1"/>
          </p:cNvSpPr>
          <p:nvPr/>
        </p:nvSpPr>
        <p:spPr>
          <a:xfrm>
            <a:off x="50863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04FB4E-1B0C-4008-A706-4BCC92339271}"/>
              </a:ext>
            </a:extLst>
          </p:cNvPr>
          <p:cNvSpPr>
            <a:spLocks noGrp="1"/>
          </p:cNvSpPr>
          <p:nvPr/>
        </p:nvSpPr>
        <p:spPr>
          <a:xfrm>
            <a:off x="52197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3. Staging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FCAF7-9533-4564-8383-1B9CC5001AC5}"/>
              </a:ext>
            </a:extLst>
          </p:cNvPr>
          <p:cNvSpPr>
            <a:spLocks noGrp="1"/>
          </p:cNvSpPr>
          <p:nvPr/>
        </p:nvSpPr>
        <p:spPr>
          <a:xfrm>
            <a:off x="52197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Chuẩn hóa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Validation - dedup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A1BDD-7B3F-45F1-8108-D5844981DE13}"/>
              </a:ext>
            </a:extLst>
          </p:cNvPr>
          <p:cNvSpPr>
            <a:spLocks noGrp="1"/>
          </p:cNvSpPr>
          <p:nvPr/>
        </p:nvSpPr>
        <p:spPr>
          <a:xfrm>
            <a:off x="68770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4CC88F-232F-4C28-8765-DC11D47F1644}"/>
              </a:ext>
            </a:extLst>
          </p:cNvPr>
          <p:cNvSpPr>
            <a:spLocks noGrp="1"/>
          </p:cNvSpPr>
          <p:nvPr/>
        </p:nvSpPr>
        <p:spPr>
          <a:xfrm>
            <a:off x="72771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9E6E8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BBA69-7B39-4118-A62B-435E2338EFC9}"/>
              </a:ext>
            </a:extLst>
          </p:cNvPr>
          <p:cNvSpPr>
            <a:spLocks noGrp="1"/>
          </p:cNvSpPr>
          <p:nvPr/>
        </p:nvSpPr>
        <p:spPr>
          <a:xfrm>
            <a:off x="74104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3. DataWarehouse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60FBDC-61C9-4FA6-AECD-691A2110C95A}"/>
              </a:ext>
            </a:extLst>
          </p:cNvPr>
          <p:cNvSpPr>
            <a:spLocks noGrp="1"/>
          </p:cNvSpPr>
          <p:nvPr/>
        </p:nvSpPr>
        <p:spPr>
          <a:xfrm>
            <a:off x="74104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8 dimensions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2 facts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SCD2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36020-F000-4C35-9D9E-F73B28EA4A39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2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4F83F83-123B-4343-9E9C-AA6BB6CAF1D1}"/>
              </a:ext>
            </a:extLst>
          </p:cNvPr>
          <p:cNvSpPr>
            <a:spLocks noGrp="1"/>
          </p:cNvSpPr>
          <p:nvPr/>
        </p:nvSpPr>
        <p:spPr>
          <a:xfrm>
            <a:off x="9467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8A646-A0AE-4170-9588-6F8DE77CFABC}"/>
              </a:ext>
            </a:extLst>
          </p:cNvPr>
          <p:cNvSpPr>
            <a:spLocks noGrp="1"/>
          </p:cNvSpPr>
          <p:nvPr/>
        </p:nvSpPr>
        <p:spPr>
          <a:xfrm>
            <a:off x="9601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200" b="1">
                <a:solidFill>
                  <a:srgbClr val="3B0B13"/>
                </a:solidFill>
              </a:rPr>
              <a:t>5. Reporting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7A0BDA-04CD-43DF-B8F0-ABA30E3C4A4F}"/>
              </a:ext>
            </a:extLst>
          </p:cNvPr>
          <p:cNvSpPr>
            <a:spLocks noGrp="1"/>
          </p:cNvSpPr>
          <p:nvPr/>
        </p:nvSpPr>
        <p:spPr>
          <a:xfrm>
            <a:off x="9601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7 marts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16 PBI views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10DCEB-EBA7-4A79-B2A1-64111EF9A5D3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8444E6-F22E-4B93-9A0B-D9EA0280FEDE}"/>
              </a:ext>
            </a:extLst>
          </p:cNvPr>
          <p:cNvSpPr>
            <a:spLocks noGrp="1"/>
          </p:cNvSpPr>
          <p:nvPr/>
        </p:nvSpPr>
        <p:spPr>
          <a:xfrm>
            <a:off x="704850" y="4629150"/>
            <a:ext cx="47625" cy="14287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CB9923-43B2-455D-919E-DD37D63925BE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275" b="1">
                <a:solidFill>
                  <a:srgbClr val="B52B3A"/>
                </a:solidFill>
              </a:rPr>
              <a:t>Phân phối cloud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D058A-CC86-4571-A09A-CAFD39FAE416}"/>
              </a:ext>
            </a:extLst>
          </p:cNvPr>
          <p:cNvSpPr>
            <a:spLocks noGrp="1"/>
          </p:cNvSpPr>
          <p:nvPr/>
        </p:nvSpPr>
        <p:spPr>
          <a:xfrm>
            <a:off x="895350" y="50768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Snapshot kiểm soát → OneDrive</a:t>
            </a:r>
            <a:r>
              <a:rPr sz="1125">
                <a:solidFill>
                  <a:srgbClr val="2A1D21"/>
                </a:solidFill>
              </a:rPr>
              <a:t> </a:t>
            </a:r>
            <a:r>
              <a:rPr sz="1125" b="0">
                <a:solidFill>
                  <a:srgbClr val="2A1D21"/>
                </a:solidFill>
              </a:rPr>
              <a:t>→ semantic model → Power BI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5A3039-B77C-4FC7-9AE8-51B831CB540E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B93243-CBFD-4C30-832B-898782AAAE34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47625" cy="14287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29B57-B4D6-46C7-B0B5-9A514115C735}"/>
              </a:ext>
            </a:extLst>
          </p:cNvPr>
          <p:cNvSpPr>
            <a:spLocks noGrp="1"/>
          </p:cNvSpPr>
          <p:nvPr/>
        </p:nvSpPr>
        <p:spPr>
          <a:xfrm>
            <a:off x="6381750" y="47815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275" b="1">
                <a:solidFill>
                  <a:srgbClr val="9F1D2D"/>
                </a:solidFill>
              </a:rPr>
              <a:t>Kiểm soát xuyên suốt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A1B4FF-3F9C-4F2E-B81A-8C340370E768}"/>
              </a:ext>
            </a:extLst>
          </p:cNvPr>
          <p:cNvSpPr>
            <a:spLocks noGrp="1"/>
          </p:cNvSpPr>
          <p:nvPr/>
        </p:nvSpPr>
        <p:spPr>
          <a:xfrm>
            <a:off x="6381750" y="50768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Batch audit 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>
                <a:solidFill>
                  <a:srgbClr val="2A1D21"/>
                </a:solidFill>
              </a:rPr>
              <a:t>R</a:t>
            </a:r>
            <a:r>
              <a:rPr sz="1125" b="0">
                <a:solidFill>
                  <a:srgbClr val="2A1D21"/>
                </a:solidFill>
              </a:rPr>
              <a:t>eject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>
                <a:solidFill>
                  <a:srgbClr val="2A1D21"/>
                </a:solidFill>
              </a:rPr>
              <a:t>R</a:t>
            </a:r>
            <a:r>
              <a:rPr sz="1125" b="0">
                <a:solidFill>
                  <a:srgbClr val="2A1D21"/>
                </a:solidFill>
              </a:rPr>
              <a:t>econciliation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QA 22/22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>
                <a:solidFill>
                  <a:srgbClr val="2A1D21"/>
                </a:solidFill>
              </a:rPr>
              <a:t>R</a:t>
            </a:r>
            <a:r>
              <a:rPr sz="1125" b="0">
                <a:solidFill>
                  <a:srgbClr val="2A1D21"/>
                </a:solidFill>
              </a:rPr>
              <a:t>ole powerbi_readonly</a:t>
            </a:r>
          </a:p>
        </p:txBody>
      </p:sp>
      <p:pic>
        <p:nvPicPr>
          <p:cNvPr id="72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3206396"/>
            <a:ext cx="1295400" cy="1295400"/>
          </a:xfrm>
          <a:prstGeom prst="rect">
            <a:avLst/>
          </a:prstGeom>
        </p:spPr>
      </p:pic>
      <p:pic>
        <p:nvPicPr>
          <p:cNvPr id="73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050" y="3127729"/>
            <a:ext cx="1498600" cy="1498600"/>
          </a:xfrm>
          <a:prstGeom prst="rect">
            <a:avLst/>
          </a:prstGeom>
        </p:spPr>
      </p:pic>
      <p:pic>
        <p:nvPicPr>
          <p:cNvPr id="74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312" y="3193697"/>
            <a:ext cx="1343378" cy="1343378"/>
          </a:xfrm>
          <a:prstGeom prst="rect">
            <a:avLst/>
          </a:prstGeom>
        </p:spPr>
      </p:pic>
      <p:pic>
        <p:nvPicPr>
          <p:cNvPr id="75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176588"/>
            <a:ext cx="1428750" cy="1428750"/>
          </a:xfrm>
          <a:prstGeom prst="rect">
            <a:avLst/>
          </a:prstGeom>
        </p:spPr>
      </p:pic>
      <p:pic>
        <p:nvPicPr>
          <p:cNvPr id="76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711" y="3257550"/>
            <a:ext cx="1114778" cy="111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C6CA3A7-6B49-4489-B8AB-B7C997D370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CC6D9C-D125-45E6-A9C9-A1261E20AD8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LỘ TRÌNH THỰC HIỆN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32F0C-1298-4190-BFE8-FA6DD66E50D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4 giai đoạn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96AD20-0206-4CD3-B639-94213B4CCBBE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2A73E-7BA1-4C49-B136-D953735355A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E0D3FD-7AD2-4524-9F5D-B63E095B9C43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 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250F9B-1ABA-4E3F-B9CA-060D049A375F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182FB2-A5CA-40B5-A50A-986E274687D1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152650" cy="762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9360BC-4771-488F-B215-3BA7E055382B}"/>
              </a:ext>
            </a:extLst>
          </p:cNvPr>
          <p:cNvSpPr>
            <a:spLocks noGrp="1"/>
          </p:cNvSpPr>
          <p:nvPr/>
        </p:nvSpPr>
        <p:spPr>
          <a:xfrm>
            <a:off x="104775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F3FE9F-FD22-470F-8DB9-EF0567FBC67B}"/>
              </a:ext>
            </a:extLst>
          </p:cNvPr>
          <p:cNvSpPr>
            <a:spLocks noGrp="1"/>
          </p:cNvSpPr>
          <p:nvPr/>
        </p:nvSpPr>
        <p:spPr>
          <a:xfrm>
            <a:off x="104775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Hiểu nguồn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A6B2B-2CA9-4E65-91E9-C474305675A7}"/>
              </a:ext>
            </a:extLst>
          </p:cNvPr>
          <p:cNvSpPr>
            <a:spLocks noGrp="1"/>
          </p:cNvSpPr>
          <p:nvPr/>
        </p:nvSpPr>
        <p:spPr>
          <a:xfrm>
            <a:off x="104775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Typed source DB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Profiling &amp; business rules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EEAAC5-938D-4ED3-A3FD-0BE1DACA0B14}"/>
              </a:ext>
            </a:extLst>
          </p:cNvPr>
          <p:cNvSpPr>
            <a:spLocks noGrp="1"/>
          </p:cNvSpPr>
          <p:nvPr/>
        </p:nvSpPr>
        <p:spPr>
          <a:xfrm>
            <a:off x="104775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NỀN TẢNG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623D53-ACC0-4B98-9B15-28DAA37D5FCB}"/>
              </a:ext>
            </a:extLst>
          </p:cNvPr>
          <p:cNvSpPr>
            <a:spLocks noGrp="1"/>
          </p:cNvSpPr>
          <p:nvPr/>
        </p:nvSpPr>
        <p:spPr>
          <a:xfrm>
            <a:off x="356235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</a:t>
            </a:r>
            <a:r>
              <a:rPr sz="1400" b="1">
                <a:solidFill>
                  <a:srgbClr val="9F1D2D"/>
                </a:solidFill>
              </a:rPr>
              <a:t> 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BDE976-D41A-42B5-B05B-9AA0859B79DB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346F3-217A-4903-89FF-F76B13F37875}"/>
              </a:ext>
            </a:extLst>
          </p:cNvPr>
          <p:cNvSpPr>
            <a:spLocks noGrp="1"/>
          </p:cNvSpPr>
          <p:nvPr/>
        </p:nvSpPr>
        <p:spPr>
          <a:xfrm>
            <a:off x="3562350" y="2095500"/>
            <a:ext cx="2152650" cy="762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CF43C9-0E36-43CB-858B-55F2835C4D3B}"/>
              </a:ext>
            </a:extLst>
          </p:cNvPr>
          <p:cNvSpPr>
            <a:spLocks noGrp="1"/>
          </p:cNvSpPr>
          <p:nvPr/>
        </p:nvSpPr>
        <p:spPr>
          <a:xfrm>
            <a:off x="373380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F3C12F-2D37-48FC-9B73-926588AD1534}"/>
              </a:ext>
            </a:extLst>
          </p:cNvPr>
          <p:cNvSpPr>
            <a:spLocks noGrp="1"/>
          </p:cNvSpPr>
          <p:nvPr/>
        </p:nvSpPr>
        <p:spPr>
          <a:xfrm>
            <a:off x="373380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Thiết kế DW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1E7111-F1FB-41AC-B641-E38D4F9DC30A}"/>
              </a:ext>
            </a:extLst>
          </p:cNvPr>
          <p:cNvSpPr>
            <a:spLocks noGrp="1"/>
          </p:cNvSpPr>
          <p:nvPr/>
        </p:nvSpPr>
        <p:spPr>
          <a:xfrm>
            <a:off x="373380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Star schema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ETL FULL / INCREMENTAL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BDFB7F-3B11-433B-A419-19D8FBA6BC39}"/>
              </a:ext>
            </a:extLst>
          </p:cNvPr>
          <p:cNvSpPr>
            <a:spLocks noGrp="1"/>
          </p:cNvSpPr>
          <p:nvPr/>
        </p:nvSpPr>
        <p:spPr>
          <a:xfrm>
            <a:off x="373380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MÔ HÌNH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0634DA-CBE8-427C-A1CF-967577477811}"/>
              </a:ext>
            </a:extLst>
          </p:cNvPr>
          <p:cNvSpPr>
            <a:spLocks noGrp="1"/>
          </p:cNvSpPr>
          <p:nvPr/>
        </p:nvSpPr>
        <p:spPr>
          <a:xfrm>
            <a:off x="624840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</a:t>
            </a:r>
            <a:r>
              <a:rPr sz="1400" b="1">
                <a:solidFill>
                  <a:srgbClr val="7E3344"/>
                </a:solidFill>
              </a:rPr>
              <a:t> 3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E98B71-5A80-4FEA-BFFB-F08207BF1EA8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E0C912-E39E-4FD3-AD98-EE4669F41481}"/>
              </a:ext>
            </a:extLst>
          </p:cNvPr>
          <p:cNvSpPr>
            <a:spLocks noGrp="1"/>
          </p:cNvSpPr>
          <p:nvPr/>
        </p:nvSpPr>
        <p:spPr>
          <a:xfrm>
            <a:off x="6248400" y="2095500"/>
            <a:ext cx="2152650" cy="762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656B6E-6E94-400C-AA86-2990C1FB32E8}"/>
              </a:ext>
            </a:extLst>
          </p:cNvPr>
          <p:cNvSpPr>
            <a:spLocks noGrp="1"/>
          </p:cNvSpPr>
          <p:nvPr/>
        </p:nvSpPr>
        <p:spPr>
          <a:xfrm>
            <a:off x="641985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0A725B-ED2F-41D7-8B90-D1F4EF6542DD}"/>
              </a:ext>
            </a:extLst>
          </p:cNvPr>
          <p:cNvSpPr>
            <a:spLocks noGrp="1"/>
          </p:cNvSpPr>
          <p:nvPr/>
        </p:nvSpPr>
        <p:spPr>
          <a:xfrm>
            <a:off x="641985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Power BI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FF13D0-4ECC-40AC-8930-AB052266A28F}"/>
              </a:ext>
            </a:extLst>
          </p:cNvPr>
          <p:cNvSpPr>
            <a:spLocks noGrp="1"/>
          </p:cNvSpPr>
          <p:nvPr/>
        </p:nvSpPr>
        <p:spPr>
          <a:xfrm>
            <a:off x="641985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Reporting views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Cloud dashboard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87AFFA-D4DA-4FB0-974B-60D07C0A37BD}"/>
              </a:ext>
            </a:extLst>
          </p:cNvPr>
          <p:cNvSpPr>
            <a:spLocks noGrp="1"/>
          </p:cNvSpPr>
          <p:nvPr/>
        </p:nvSpPr>
        <p:spPr>
          <a:xfrm>
            <a:off x="641985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TRỰC QUAN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1ECAB0-C6A6-4954-B045-DDD1A6EACDF2}"/>
              </a:ext>
            </a:extLst>
          </p:cNvPr>
          <p:cNvSpPr>
            <a:spLocks noGrp="1"/>
          </p:cNvSpPr>
          <p:nvPr/>
        </p:nvSpPr>
        <p:spPr>
          <a:xfrm>
            <a:off x="8934450" y="1752600"/>
            <a:ext cx="2000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GIAI ĐOẠN</a:t>
            </a:r>
            <a:r>
              <a:rPr sz="1400" b="1">
                <a:solidFill>
                  <a:srgbClr val="14804A"/>
                </a:solidFill>
              </a:rPr>
              <a:t> 4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7705617-7256-40DB-ACE0-AC880D04D514}"/>
              </a:ext>
            </a:extLst>
          </p:cNvPr>
          <p:cNvSpPr>
            <a:spLocks noGrp="1"/>
          </p:cNvSpPr>
          <p:nvPr/>
        </p:nvSpPr>
        <p:spPr>
          <a:xfrm>
            <a:off x="8934450" y="2095500"/>
            <a:ext cx="2152650" cy="25717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A9EEE2-F548-4B46-8235-F07D44A794AD}"/>
              </a:ext>
            </a:extLst>
          </p:cNvPr>
          <p:cNvSpPr>
            <a:spLocks noGrp="1"/>
          </p:cNvSpPr>
          <p:nvPr/>
        </p:nvSpPr>
        <p:spPr>
          <a:xfrm>
            <a:off x="8934450" y="2095500"/>
            <a:ext cx="2152650" cy="7620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69EE9-D4B2-445E-A547-EE468EF377CF}"/>
              </a:ext>
            </a:extLst>
          </p:cNvPr>
          <p:cNvSpPr>
            <a:spLocks noGrp="1"/>
          </p:cNvSpPr>
          <p:nvPr/>
        </p:nvSpPr>
        <p:spPr>
          <a:xfrm>
            <a:off x="9105900" y="2400300"/>
            <a:ext cx="514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7FECF5-A8D2-42F8-8CA0-0900B8AB96C4}"/>
              </a:ext>
            </a:extLst>
          </p:cNvPr>
          <p:cNvSpPr>
            <a:spLocks noGrp="1"/>
          </p:cNvSpPr>
          <p:nvPr/>
        </p:nvSpPr>
        <p:spPr>
          <a:xfrm>
            <a:off x="9105900" y="29337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Nghiệm thu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915CEB5-09CA-4F7A-A510-43F23C2C80D4}"/>
              </a:ext>
            </a:extLst>
          </p:cNvPr>
          <p:cNvSpPr>
            <a:spLocks noGrp="1"/>
          </p:cNvSpPr>
          <p:nvPr/>
        </p:nvSpPr>
        <p:spPr>
          <a:xfrm>
            <a:off x="9105900" y="3448050"/>
            <a:ext cx="1809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QA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H</a:t>
            </a:r>
            <a:r>
              <a:rPr sz="1400" b="0">
                <a:solidFill>
                  <a:srgbClr val="2A1D21"/>
                </a:solidFill>
              </a:rPr>
              <a:t>iệu năng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B</a:t>
            </a:r>
            <a:r>
              <a:rPr sz="1400" b="0">
                <a:solidFill>
                  <a:srgbClr val="2A1D21"/>
                </a:solidFill>
              </a:rPr>
              <a:t>ảo mật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Đ</a:t>
            </a:r>
            <a:r>
              <a:rPr sz="1400" b="0">
                <a:solidFill>
                  <a:srgbClr val="2A1D21"/>
                </a:solidFill>
              </a:rPr>
              <a:t>óng gói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93FF5A-5108-44A3-8DAC-7B641E1B3912}"/>
              </a:ext>
            </a:extLst>
          </p:cNvPr>
          <p:cNvSpPr>
            <a:spLocks noGrp="1"/>
          </p:cNvSpPr>
          <p:nvPr/>
        </p:nvSpPr>
        <p:spPr>
          <a:xfrm>
            <a:off x="9105900" y="4324350"/>
            <a:ext cx="1809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1">
                <a:solidFill>
                  <a:srgbClr val="756268"/>
                </a:solidFill>
              </a:defRPr>
            </a:pPr>
            <a:r>
              <a:rPr sz="1400" b="1">
                <a:solidFill>
                  <a:srgbClr val="756268"/>
                </a:solidFill>
              </a:rPr>
              <a:t>SẢN PHẨM</a:t>
            </a:r>
          </a:p>
        </p:txBody>
      </p:sp>
    </p:spTree>
    <p:extLst>
      <p:ext uri="{BB962C8B-B14F-4D97-AF65-F5344CB8AC3E}">
        <p14:creationId xmlns:p14="http://schemas.microsoft.com/office/powerpoint/2010/main" val="129342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DB15FD61-9DE6-4E18-83CE-4B87D2E68F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C6773B-BBA7-4F3D-8BDC-9C0FFC57F1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QUY MÔ DỮ LIỆU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E45273-2276-4357-9760-A86B5947E3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31,9 triệu giao dịch đủ lớn để kiểm tra thiết kế DW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1CCD67-3781-455A-BC30-51468135C324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ED1CA-5ACC-45CC-8AAB-B7BC30D0868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CE57D-2EE4-4F69-A2D1-F4EDA3EB40A2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>
                <a:solidFill>
                  <a:srgbClr val="3B0B13"/>
                </a:solidFill>
              </a:defRPr>
            </a:pPr>
            <a:r>
              <a:rPr sz="3600" b="1">
                <a:solidFill>
                  <a:srgbClr val="3B0B13"/>
                </a:solidFill>
              </a:rPr>
              <a:t>31.898.238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693A51-531D-45BD-8924-180309966DB1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756268"/>
                </a:solidFill>
              </a:defRPr>
            </a:pPr>
            <a:r>
              <a:rPr sz="1350" b="0">
                <a:solidFill>
                  <a:srgbClr val="756268"/>
                </a:solidFill>
              </a:rPr>
              <a:t>giao dịch nguồn đã nạp và đối soát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D478ED5-AECA-4F9E-A4E0-F286D18A8619}"/>
              </a:ext>
            </a:extLst>
          </p:cNvPr>
          <p:cNvSpPr>
            <a:spLocks noGrp="1"/>
          </p:cNvSpPr>
          <p:nvPr/>
        </p:nvSpPr>
        <p:spPr>
          <a:xfrm>
            <a:off x="123685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1E966-70E6-4667-9010-891565154A26}"/>
              </a:ext>
            </a:extLst>
          </p:cNvPr>
          <p:cNvSpPr>
            <a:spLocks noGrp="1"/>
          </p:cNvSpPr>
          <p:nvPr/>
        </p:nvSpPr>
        <p:spPr>
          <a:xfrm>
            <a:off x="1236856" y="2890838"/>
            <a:ext cx="47625" cy="13716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3CA53-341A-4183-AA3E-A79626AF3838}"/>
              </a:ext>
            </a:extLst>
          </p:cNvPr>
          <p:cNvSpPr>
            <a:spLocks noGrp="1"/>
          </p:cNvSpPr>
          <p:nvPr/>
        </p:nvSpPr>
        <p:spPr>
          <a:xfrm>
            <a:off x="142735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2.087.786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B0DD0-00DC-4582-80BE-4611A12661B4}"/>
              </a:ext>
            </a:extLst>
          </p:cNvPr>
          <p:cNvSpPr>
            <a:spLocks noGrp="1"/>
          </p:cNvSpPr>
          <p:nvPr/>
        </p:nvSpPr>
        <p:spPr>
          <a:xfrm>
            <a:off x="142735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tài khoản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425AC-D2D4-4BDD-9E60-37BF18AE7CB5}"/>
              </a:ext>
            </a:extLst>
          </p:cNvPr>
          <p:cNvSpPr>
            <a:spLocks noGrp="1"/>
          </p:cNvSpPr>
          <p:nvPr/>
        </p:nvSpPr>
        <p:spPr>
          <a:xfrm>
            <a:off x="142735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bank + account là business key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E0B5D39-DB11-4BE8-A02E-2ACD2FD8B0D5}"/>
              </a:ext>
            </a:extLst>
          </p:cNvPr>
          <p:cNvSpPr>
            <a:spLocks noGrp="1"/>
          </p:cNvSpPr>
          <p:nvPr/>
        </p:nvSpPr>
        <p:spPr>
          <a:xfrm>
            <a:off x="377050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3F2CF6-0EEC-4A92-A53C-AB8C75231940}"/>
              </a:ext>
            </a:extLst>
          </p:cNvPr>
          <p:cNvSpPr>
            <a:spLocks noGrp="1"/>
          </p:cNvSpPr>
          <p:nvPr/>
        </p:nvSpPr>
        <p:spPr>
          <a:xfrm>
            <a:off x="3770506" y="2890838"/>
            <a:ext cx="47625" cy="1371600"/>
          </a:xfrm>
          <a:prstGeom prst="rect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44FADA-3444-4D25-B0AF-36E46F4ECC7D}"/>
              </a:ext>
            </a:extLst>
          </p:cNvPr>
          <p:cNvSpPr>
            <a:spLocks noGrp="1"/>
          </p:cNvSpPr>
          <p:nvPr/>
        </p:nvSpPr>
        <p:spPr>
          <a:xfrm>
            <a:off x="396100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35.230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C09CD8-BC44-43F8-BFBE-1E613CF41322}"/>
              </a:ext>
            </a:extLst>
          </p:cNvPr>
          <p:cNvSpPr>
            <a:spLocks noGrp="1"/>
          </p:cNvSpPr>
          <p:nvPr/>
        </p:nvSpPr>
        <p:spPr>
          <a:xfrm>
            <a:off x="396100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giao dịch AML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D686A-285F-4D27-8589-8DE42C552923}"/>
              </a:ext>
            </a:extLst>
          </p:cNvPr>
          <p:cNvSpPr>
            <a:spLocks noGrp="1"/>
          </p:cNvSpPr>
          <p:nvPr/>
        </p:nvSpPr>
        <p:spPr>
          <a:xfrm>
            <a:off x="396100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ground truth synthetic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674A957-7C1A-498D-9E94-885EE57DDCA1}"/>
              </a:ext>
            </a:extLst>
          </p:cNvPr>
          <p:cNvSpPr>
            <a:spLocks noGrp="1"/>
          </p:cNvSpPr>
          <p:nvPr/>
        </p:nvSpPr>
        <p:spPr>
          <a:xfrm>
            <a:off x="630415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3459EB-9807-4205-B275-2230E211BD17}"/>
              </a:ext>
            </a:extLst>
          </p:cNvPr>
          <p:cNvSpPr>
            <a:spLocks noGrp="1"/>
          </p:cNvSpPr>
          <p:nvPr/>
        </p:nvSpPr>
        <p:spPr>
          <a:xfrm>
            <a:off x="6304156" y="2890838"/>
            <a:ext cx="47625" cy="13716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695CAB-1C66-4251-91C2-D8E80FFEF1D1}"/>
              </a:ext>
            </a:extLst>
          </p:cNvPr>
          <p:cNvSpPr>
            <a:spLocks noGrp="1"/>
          </p:cNvSpPr>
          <p:nvPr/>
        </p:nvSpPr>
        <p:spPr>
          <a:xfrm>
            <a:off x="649465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22.743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537A1-05DE-420F-8E06-C678A22187D6}"/>
              </a:ext>
            </a:extLst>
          </p:cNvPr>
          <p:cNvSpPr>
            <a:spLocks noGrp="1"/>
          </p:cNvSpPr>
          <p:nvPr/>
        </p:nvSpPr>
        <p:spPr>
          <a:xfrm>
            <a:off x="649465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pattern transactions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C3DFF-CBCA-4FDD-8288-B4622419E907}"/>
              </a:ext>
            </a:extLst>
          </p:cNvPr>
          <p:cNvSpPr>
            <a:spLocks noGrp="1"/>
          </p:cNvSpPr>
          <p:nvPr/>
        </p:nvSpPr>
        <p:spPr>
          <a:xfrm>
            <a:off x="649465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2.756 attempts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DBB35B0-4591-4ED7-AD01-6BCCF4A113FB}"/>
              </a:ext>
            </a:extLst>
          </p:cNvPr>
          <p:cNvSpPr>
            <a:spLocks noGrp="1"/>
          </p:cNvSpPr>
          <p:nvPr/>
        </p:nvSpPr>
        <p:spPr>
          <a:xfrm>
            <a:off x="8837806" y="2890838"/>
            <a:ext cx="2343150" cy="13716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67271E-77E1-4D31-9E49-C10355868F8F}"/>
              </a:ext>
            </a:extLst>
          </p:cNvPr>
          <p:cNvSpPr>
            <a:spLocks noGrp="1"/>
          </p:cNvSpPr>
          <p:nvPr/>
        </p:nvSpPr>
        <p:spPr>
          <a:xfrm>
            <a:off x="8837806" y="2890838"/>
            <a:ext cx="47625" cy="13716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B4F036-B21F-4F8E-9AFB-6F27966DF7DC}"/>
              </a:ext>
            </a:extLst>
          </p:cNvPr>
          <p:cNvSpPr>
            <a:spLocks noGrp="1"/>
          </p:cNvSpPr>
          <p:nvPr/>
        </p:nvSpPr>
        <p:spPr>
          <a:xfrm>
            <a:off x="9028306" y="3062287"/>
            <a:ext cx="2019300" cy="4812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28 ngày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2523D5-CB1B-44EE-9549-F827BE1C23CA}"/>
              </a:ext>
            </a:extLst>
          </p:cNvPr>
          <p:cNvSpPr>
            <a:spLocks noGrp="1"/>
          </p:cNvSpPr>
          <p:nvPr/>
        </p:nvSpPr>
        <p:spPr>
          <a:xfrm>
            <a:off x="9028306" y="3481388"/>
            <a:ext cx="2019300" cy="2887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phạm vi dữ liệu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91F59C-92DB-4BCA-9C2A-B201177F55AB}"/>
              </a:ext>
            </a:extLst>
          </p:cNvPr>
          <p:cNvSpPr>
            <a:spLocks noGrp="1"/>
          </p:cNvSpPr>
          <p:nvPr/>
        </p:nvSpPr>
        <p:spPr>
          <a:xfrm>
            <a:off x="9028306" y="3729038"/>
            <a:ext cx="2019300" cy="2165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tháng 09/2022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653A546-945D-4AFD-A888-991D18A77C2B}"/>
              </a:ext>
            </a:extLst>
          </p:cNvPr>
          <p:cNvSpPr>
            <a:spLocks noGrp="1"/>
          </p:cNvSpPr>
          <p:nvPr/>
        </p:nvSpPr>
        <p:spPr>
          <a:xfrm>
            <a:off x="1236856" y="4629150"/>
            <a:ext cx="9944100" cy="1066800"/>
          </a:xfrm>
          <a:prstGeom prst="roundRect">
            <a:avLst>
              <a:gd name="adj" fmla="val 10714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6C848F-CAB0-410D-BBDB-D556332FE277}"/>
              </a:ext>
            </a:extLst>
          </p:cNvPr>
          <p:cNvSpPr>
            <a:spLocks noGrp="1"/>
          </p:cNvSpPr>
          <p:nvPr/>
        </p:nvSpPr>
        <p:spPr>
          <a:xfrm>
            <a:off x="1236856" y="4629150"/>
            <a:ext cx="47625" cy="106680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35D90C-F1B2-4184-B618-FB3149675101}"/>
              </a:ext>
            </a:extLst>
          </p:cNvPr>
          <p:cNvSpPr>
            <a:spLocks noGrp="1"/>
          </p:cNvSpPr>
          <p:nvPr/>
        </p:nvSpPr>
        <p:spPr>
          <a:xfrm>
            <a:off x="1427356" y="4781550"/>
            <a:ext cx="962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400" b="1">
                <a:solidFill>
                  <a:srgbClr val="B77A23"/>
                </a:solidFill>
              </a:rPr>
              <a:t>Nguồn dataset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8317ED2-CB2D-421C-BEF3-FFD1B95BDEA1}"/>
              </a:ext>
            </a:extLst>
          </p:cNvPr>
          <p:cNvSpPr>
            <a:spLocks noGrp="1"/>
          </p:cNvSpPr>
          <p:nvPr/>
        </p:nvSpPr>
        <p:spPr>
          <a:xfrm>
            <a:off x="1427356" y="5076825"/>
            <a:ext cx="9620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IBM Transactions for AML – HI-Medium (synthetic), Kaggle/ealtman2019; CDLA-Sharing-1.0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31,9M dòng phù hợp kiểm thử grain, ETL, index và mart</a:t>
            </a:r>
          </a:p>
        </p:txBody>
      </p:sp>
    </p:spTree>
    <p:extLst>
      <p:ext uri="{BB962C8B-B14F-4D97-AF65-F5344CB8AC3E}">
        <p14:creationId xmlns:p14="http://schemas.microsoft.com/office/powerpoint/2010/main" val="179201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CA234AF-0A3E-4DA3-928F-F95E4FA778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230B53-0D88-4FB8-82DA-84AB305748A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NGHIỆP VỤ PHÂN TÍCH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E455C-468D-495E-A427-750DA87862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Báo cáo trả lời 3 nhóm câu hỏi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7BD6B-BFE6-41EA-B073-26930A47C1F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A4ACD-F98C-49C5-8FAC-1F5F8FB7200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86A236-F9B2-475B-9309-CA235F93B7E6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3257550" cy="3276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20D3BA-82B6-4BE1-B999-E84FEDE545EB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" cy="32766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0A8CF9-BD34-416B-B751-7A630B1352D4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1. Hoạt động giao dịch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0897D-92B2-4A68-8E63-119874818AD4}"/>
              </a:ext>
            </a:extLst>
          </p:cNvPr>
          <p:cNvSpPr>
            <a:spLocks noGrp="1"/>
          </p:cNvSpPr>
          <p:nvPr/>
        </p:nvSpPr>
        <p:spPr>
          <a:xfrm>
            <a:off x="914400" y="2047875"/>
            <a:ext cx="2933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Quy mô theo ngày và weekday</a:t>
            </a:r>
          </a:p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Payment format nào chiếm tỷ trọng lớn</a:t>
            </a:r>
          </a:p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Ngân hàng nào gửi/nhận nhiều</a:t>
            </a:r>
          </a:p>
          <a:p>
            <a:pPr marL="228600" indent="-22860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Luồng currency nào nổi bật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626D1F-2F35-4929-A2C5-4CA461F4E776}"/>
              </a:ext>
            </a:extLst>
          </p:cNvPr>
          <p:cNvSpPr>
            <a:spLocks noGrp="1"/>
          </p:cNvSpPr>
          <p:nvPr/>
        </p:nvSpPr>
        <p:spPr>
          <a:xfrm>
            <a:off x="4467225" y="1600200"/>
            <a:ext cx="3257550" cy="3276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A44779-EEB6-4BF9-9C21-00B01A7C4A12}"/>
              </a:ext>
            </a:extLst>
          </p:cNvPr>
          <p:cNvSpPr>
            <a:spLocks noGrp="1"/>
          </p:cNvSpPr>
          <p:nvPr/>
        </p:nvSpPr>
        <p:spPr>
          <a:xfrm>
            <a:off x="4467225" y="1600200"/>
            <a:ext cx="47625" cy="3276600"/>
          </a:xfrm>
          <a:prstGeom prst="rect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9A71C0-81B2-4279-AF34-A7CB7702DC56}"/>
              </a:ext>
            </a:extLst>
          </p:cNvPr>
          <p:cNvSpPr>
            <a:spLocks noGrp="1"/>
          </p:cNvSpPr>
          <p:nvPr/>
        </p:nvSpPr>
        <p:spPr>
          <a:xfrm>
            <a:off x="4657725" y="1752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2. Rủi ro AML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311567-F346-4917-8565-720E3EBB57CB}"/>
              </a:ext>
            </a:extLst>
          </p:cNvPr>
          <p:cNvSpPr>
            <a:spLocks noGrp="1"/>
          </p:cNvSpPr>
          <p:nvPr/>
        </p:nvSpPr>
        <p:spPr>
          <a:xfrm>
            <a:off x="4657725" y="2047875"/>
            <a:ext cx="2933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Tỷ lệ AML theo payment format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Account/entity nào tham gia nhiều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Pattern nào có chuỗi dài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AML concentration ở bank nào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C1FA0C-8C8B-472F-AF55-FB5C3F5DE3F9}"/>
              </a:ext>
            </a:extLst>
          </p:cNvPr>
          <p:cNvSpPr>
            <a:spLocks noGrp="1"/>
          </p:cNvSpPr>
          <p:nvPr/>
        </p:nvSpPr>
        <p:spPr>
          <a:xfrm>
            <a:off x="8210550" y="1600200"/>
            <a:ext cx="3257550" cy="3276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84F3D-50D7-487D-9421-B2399775C663}"/>
              </a:ext>
            </a:extLst>
          </p:cNvPr>
          <p:cNvSpPr>
            <a:spLocks noGrp="1"/>
          </p:cNvSpPr>
          <p:nvPr/>
        </p:nvSpPr>
        <p:spPr>
          <a:xfrm>
            <a:off x="8210550" y="1600200"/>
            <a:ext cx="47625" cy="32766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A082E9-6E68-488F-AFAC-6A7A813C16A5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3. Vận hành dữ liệu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F67F30-6490-480E-82BD-9E5632A1BF91}"/>
              </a:ext>
            </a:extLst>
          </p:cNvPr>
          <p:cNvSpPr>
            <a:spLocks noGrp="1"/>
          </p:cNvSpPr>
          <p:nvPr/>
        </p:nvSpPr>
        <p:spPr>
          <a:xfrm>
            <a:off x="8401050" y="2047875"/>
            <a:ext cx="293370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Batch nào hoàn thành/thất bại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Source và fact có khớp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Có reject hoặc unknown lookup không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Truy vấn dashboard có đủ nhanh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B045FE-E065-4166-B1C8-D3FE4147AF0A}"/>
              </a:ext>
            </a:extLst>
          </p:cNvPr>
          <p:cNvSpPr>
            <a:spLocks noGrp="1"/>
          </p:cNvSpPr>
          <p:nvPr/>
        </p:nvSpPr>
        <p:spPr>
          <a:xfrm>
            <a:off x="723900" y="5295900"/>
            <a:ext cx="10744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B0B13"/>
                </a:solidFill>
              </a:defRPr>
            </a:pPr>
            <a:r>
              <a:rPr sz="1650" b="1">
                <a:solidFill>
                  <a:srgbClr val="3B0B13"/>
                </a:solidFill>
              </a:rPr>
              <a:t>Mỗi câu hỏi được ánh xạ sang grain, KPI, mart và visual tương ứng</a:t>
            </a:r>
          </a:p>
        </p:txBody>
      </p:sp>
    </p:spTree>
    <p:extLst>
      <p:ext uri="{BB962C8B-B14F-4D97-AF65-F5344CB8AC3E}">
        <p14:creationId xmlns:p14="http://schemas.microsoft.com/office/powerpoint/2010/main" val="85452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F1ACF9F-307E-4D92-9F02-565DB9BC5E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027D5A-9EDA-401E-A2B1-C13163EB0A9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QUY TẮC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19D09E-10FE-4576-95B7-7444B1F64BD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Quy ước ngăn báo cáo hiểu sai 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127B70-1B36-4914-AC81-7499C3FAE9B5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7B34AD-08C0-4606-9A9F-23717C7AB62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808F32-975C-43F8-8B54-AC7B19A55AE0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361950" cy="361950"/>
          </a:xfrm>
          <a:prstGeom prst="ellipse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31789-573B-4334-8EE5-91C935FEDB32}"/>
              </a:ext>
            </a:extLst>
          </p:cNvPr>
          <p:cNvSpPr>
            <a:spLocks noGrp="1"/>
          </p:cNvSpPr>
          <p:nvPr/>
        </p:nvSpPr>
        <p:spPr>
          <a:xfrm>
            <a:off x="800100" y="17240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022C3A-D1D0-4F48-862D-89384B03C04E}"/>
              </a:ext>
            </a:extLst>
          </p:cNvPr>
          <p:cNvSpPr>
            <a:spLocks noGrp="1"/>
          </p:cNvSpPr>
          <p:nvPr/>
        </p:nvSpPr>
        <p:spPr>
          <a:xfrm>
            <a:off x="1314450" y="16383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Tiền tệ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8DC799-706B-4E74-80F4-609FC30AD5F4}"/>
              </a:ext>
            </a:extLst>
          </p:cNvPr>
          <p:cNvSpPr>
            <a:spLocks noGrp="1"/>
          </p:cNvSpPr>
          <p:nvPr/>
        </p:nvSpPr>
        <p:spPr>
          <a:xfrm>
            <a:off x="1314449" y="1885950"/>
            <a:ext cx="284495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Amount paid đi với payment currency Amount received đi với receiving currency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798B39-70B3-4B64-AFDB-8D1A3605F6F8}"/>
              </a:ext>
            </a:extLst>
          </p:cNvPr>
          <p:cNvSpPr>
            <a:spLocks noGrp="1"/>
          </p:cNvSpPr>
          <p:nvPr/>
        </p:nvSpPr>
        <p:spPr>
          <a:xfrm>
            <a:off x="800100" y="2724150"/>
            <a:ext cx="361950" cy="361950"/>
          </a:xfrm>
          <a:prstGeom prst="ellipse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40F11-9676-4369-AC4F-8D4BD034A409}"/>
              </a:ext>
            </a:extLst>
          </p:cNvPr>
          <p:cNvSpPr>
            <a:spLocks noGrp="1"/>
          </p:cNvSpPr>
          <p:nvPr/>
        </p:nvSpPr>
        <p:spPr>
          <a:xfrm>
            <a:off x="800100" y="27908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45F00E-6CC3-4064-AB06-9A6650D1AA19}"/>
              </a:ext>
            </a:extLst>
          </p:cNvPr>
          <p:cNvSpPr>
            <a:spLocks noGrp="1"/>
          </p:cNvSpPr>
          <p:nvPr/>
        </p:nvSpPr>
        <p:spPr>
          <a:xfrm>
            <a:off x="1314450" y="27051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Account identity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03EC96-92ED-4B04-83A6-05BDE2551C5E}"/>
              </a:ext>
            </a:extLst>
          </p:cNvPr>
          <p:cNvSpPr>
            <a:spLocks noGrp="1"/>
          </p:cNvSpPr>
          <p:nvPr/>
        </p:nvSpPr>
        <p:spPr>
          <a:xfrm>
            <a:off x="1314450" y="2952750"/>
            <a:ext cx="314603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Business key là (bank_id, account_number), không chỉ account number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B7452A-BFE2-4D20-9E09-4ADC4BBCCAA6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361950" cy="361950"/>
          </a:xfrm>
          <a:prstGeom prst="ellipse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3819CC-431B-4F33-81AD-7A247A5A3CEE}"/>
              </a:ext>
            </a:extLst>
          </p:cNvPr>
          <p:cNvSpPr>
            <a:spLocks noGrp="1"/>
          </p:cNvSpPr>
          <p:nvPr/>
        </p:nvSpPr>
        <p:spPr>
          <a:xfrm>
            <a:off x="800100" y="38576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32F58-5332-4744-825A-70DCFC26DA78}"/>
              </a:ext>
            </a:extLst>
          </p:cNvPr>
          <p:cNvSpPr>
            <a:spLocks noGrp="1"/>
          </p:cNvSpPr>
          <p:nvPr/>
        </p:nvSpPr>
        <p:spPr>
          <a:xfrm>
            <a:off x="1314450" y="37719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AML label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57C0D7-69CC-4C84-A736-D4561242736C}"/>
              </a:ext>
            </a:extLst>
          </p:cNvPr>
          <p:cNvSpPr>
            <a:spLocks noGrp="1"/>
          </p:cNvSpPr>
          <p:nvPr/>
        </p:nvSpPr>
        <p:spPr>
          <a:xfrm>
            <a:off x="1314450" y="4019550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56268"/>
                </a:solidFill>
              </a:defRPr>
            </a:pPr>
            <a:r>
              <a:rPr sz="1200" b="0">
                <a:solidFill>
                  <a:srgbClr val="756268"/>
                </a:solidFill>
              </a:rPr>
              <a:t>is_laundering là ground truth của dataset, không phải prediction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232C6C-0025-4B29-8ABA-5A84E95393B7}"/>
              </a:ext>
            </a:extLst>
          </p:cNvPr>
          <p:cNvSpPr>
            <a:spLocks noGrp="1"/>
          </p:cNvSpPr>
          <p:nvPr/>
        </p:nvSpPr>
        <p:spPr>
          <a:xfrm>
            <a:off x="6229349" y="1581150"/>
            <a:ext cx="5114925" cy="29337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515BDD-C77B-40E1-8A45-B28898639239}"/>
              </a:ext>
            </a:extLst>
          </p:cNvPr>
          <p:cNvSpPr>
            <a:spLocks noGrp="1"/>
          </p:cNvSpPr>
          <p:nvPr/>
        </p:nvSpPr>
        <p:spPr>
          <a:xfrm>
            <a:off x="6229350" y="1581150"/>
            <a:ext cx="47625" cy="29337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C7800F-FD05-4B50-AF09-3621897CDFF0}"/>
              </a:ext>
            </a:extLst>
          </p:cNvPr>
          <p:cNvSpPr>
            <a:spLocks noGrp="1"/>
          </p:cNvSpPr>
          <p:nvPr/>
        </p:nvSpPr>
        <p:spPr>
          <a:xfrm>
            <a:off x="6419850" y="1733550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Các cờ được tính lại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8251C9-7A5D-4426-8A9E-BF12169D9733}"/>
              </a:ext>
            </a:extLst>
          </p:cNvPr>
          <p:cNvSpPr>
            <a:spLocks noGrp="1"/>
          </p:cNvSpPr>
          <p:nvPr/>
        </p:nvSpPr>
        <p:spPr>
          <a:xfrm>
            <a:off x="6385234" y="2207477"/>
            <a:ext cx="49720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Cross-bank: ngân hàng gửi khác ngân hàng nhận</a:t>
            </a:r>
          </a:p>
          <a:p>
            <a:endParaRPr sz="1400" b="0">
              <a:solidFill>
                <a:srgbClr val="2A1D21"/>
              </a:solidFill>
            </a:endParaRP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Cross-currency: payment currency khác receiving currency</a:t>
            </a:r>
          </a:p>
          <a:p>
            <a:endParaRPr sz="1400" b="0">
              <a:solidFill>
                <a:srgbClr val="2A1D21"/>
              </a:solidFill>
            </a:endParaRP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Self-transfer: sender và receiver là cùng account trong cùng bank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DA4A7D8-0637-44E6-9953-575625DCBD6C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4705350" cy="685800"/>
          </a:xfrm>
          <a:prstGeom prst="roundRect">
            <a:avLst>
              <a:gd name="adj" fmla="val 16667"/>
            </a:avLst>
          </a:prstGeom>
          <a:solidFill>
            <a:srgbClr val="FFF0D6"/>
          </a:solidFill>
          <a:ln w="9525">
            <a:solidFill>
              <a:srgbClr val="F2D2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501310-E0CF-40C8-9882-2315F8190E0E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421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B77A23"/>
                </a:solidFill>
              </a:defRPr>
            </a:pPr>
            <a:r>
              <a:rPr sz="1350" b="1">
                <a:solidFill>
                  <a:srgbClr val="B77A23"/>
                </a:solidFill>
              </a:rPr>
              <a:t>Không cộng amount giữa nhiều currency</a:t>
            </a:r>
          </a:p>
          <a:p>
            <a:pPr algn="ctr">
              <a:buNone/>
              <a:defRPr sz="1350" b="1">
                <a:solidFill>
                  <a:srgbClr val="B77A23"/>
                </a:solidFill>
              </a:defRPr>
            </a:pPr>
            <a:r>
              <a:rPr sz="1350" b="1">
                <a:solidFill>
                  <a:srgbClr val="B77A23"/>
                </a:solidFill>
              </a:rPr>
              <a:t>nếu chưa có FX rate chính thức</a:t>
            </a:r>
          </a:p>
        </p:txBody>
      </p:sp>
    </p:spTree>
    <p:extLst>
      <p:ext uri="{BB962C8B-B14F-4D97-AF65-F5344CB8AC3E}">
        <p14:creationId xmlns:p14="http://schemas.microsoft.com/office/powerpoint/2010/main" val="30661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BE748E2-96BF-489B-9F33-2190CD1F5B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7883E2-BEFA-4A97-A62C-2F9739A3DCB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1: DATABASE NGUỒN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4B1D5-282C-4FF0-AEB7-3F364EDA482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Nguồn CSV được chuyển thành dữ liệu typed, có lineage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79C03-B53E-4131-9F61-5B41DD228B24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CC3E7-5E9D-4C5E-B11B-2E1731DF27F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8DFFD1-84EE-4A89-AC8E-8730826CD79D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2C4C7-FA7F-4B62-943C-E0A84F287057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CSV HI-Medium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C4F5C8-35D8-4403-A5B7-51EE8DA1BF24}"/>
              </a:ext>
            </a:extLst>
          </p:cNvPr>
          <p:cNvSpPr>
            <a:spLocks noGrp="1"/>
          </p:cNvSpPr>
          <p:nvPr/>
        </p:nvSpPr>
        <p:spPr>
          <a:xfrm>
            <a:off x="8763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Accounts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Transactions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901A52-F8F5-48D7-8A9B-DEEA4F34717E}"/>
              </a:ext>
            </a:extLst>
          </p:cNvPr>
          <p:cNvSpPr>
            <a:spLocks noGrp="1"/>
          </p:cNvSpPr>
          <p:nvPr/>
        </p:nvSpPr>
        <p:spPr>
          <a:xfrm>
            <a:off x="26670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1BEF0E-BBE6-4BEB-B3D4-CD16CB0309F5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F1EAEB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D535D-4926-4B43-93FB-0B136B6348C7}"/>
              </a:ext>
            </a:extLst>
          </p:cNvPr>
          <p:cNvSpPr>
            <a:spLocks noGrp="1"/>
          </p:cNvSpPr>
          <p:nvPr/>
        </p:nvSpPr>
        <p:spPr>
          <a:xfrm>
            <a:off x="32766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Landing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21C51-F37F-42DC-B825-C1DBCE0610FA}"/>
              </a:ext>
            </a:extLst>
          </p:cNvPr>
          <p:cNvSpPr>
            <a:spLocks noGrp="1"/>
          </p:cNvSpPr>
          <p:nvPr/>
        </p:nvSpPr>
        <p:spPr>
          <a:xfrm>
            <a:off x="32766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Giữ raw text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không mất 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giá trị gốc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705ABD-6303-4B36-B9F3-1F162B731BE0}"/>
              </a:ext>
            </a:extLst>
          </p:cNvPr>
          <p:cNvSpPr>
            <a:spLocks noGrp="1"/>
          </p:cNvSpPr>
          <p:nvPr/>
        </p:nvSpPr>
        <p:spPr>
          <a:xfrm>
            <a:off x="50673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A4AD7B-DAF3-4406-931E-E53A2C736006}"/>
              </a:ext>
            </a:extLst>
          </p:cNvPr>
          <p:cNvSpPr>
            <a:spLocks noGrp="1"/>
          </p:cNvSpPr>
          <p:nvPr/>
        </p:nvSpPr>
        <p:spPr>
          <a:xfrm>
            <a:off x="55435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85398-838C-4EDE-A7A6-8577F2AFA666}"/>
              </a:ext>
            </a:extLst>
          </p:cNvPr>
          <p:cNvSpPr>
            <a:spLocks noGrp="1"/>
          </p:cNvSpPr>
          <p:nvPr/>
        </p:nvSpPr>
        <p:spPr>
          <a:xfrm>
            <a:off x="56769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Typed source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D90269-24F4-4620-9F04-0820434ACF6D}"/>
              </a:ext>
            </a:extLst>
          </p:cNvPr>
          <p:cNvSpPr>
            <a:spLocks noGrp="1"/>
          </p:cNvSpPr>
          <p:nvPr/>
        </p:nvSpPr>
        <p:spPr>
          <a:xfrm>
            <a:off x="56769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>
                <a:solidFill>
                  <a:srgbClr val="756268"/>
                </a:solidFill>
              </a:rPr>
              <a:t>t</a:t>
            </a:r>
            <a:r>
              <a:rPr sz="1400" b="0">
                <a:solidFill>
                  <a:srgbClr val="756268"/>
                </a:solidFill>
              </a:rPr>
              <a:t>imestamp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numeric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Boolean</a:t>
            </a:r>
            <a:endParaRPr sz="1400">
              <a:solidFill>
                <a:srgbClr val="756268"/>
              </a:solidFill>
            </a:endParaRP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key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CE8C8-3A17-45A3-9D34-79CF8486DA21}"/>
              </a:ext>
            </a:extLst>
          </p:cNvPr>
          <p:cNvSpPr>
            <a:spLocks noGrp="1"/>
          </p:cNvSpPr>
          <p:nvPr/>
        </p:nvSpPr>
        <p:spPr>
          <a:xfrm>
            <a:off x="74676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978D32D-72AC-4B9C-B538-559BCB1C2435}"/>
              </a:ext>
            </a:extLst>
          </p:cNvPr>
          <p:cNvSpPr>
            <a:spLocks noGrp="1"/>
          </p:cNvSpPr>
          <p:nvPr/>
        </p:nvSpPr>
        <p:spPr>
          <a:xfrm>
            <a:off x="7943850" y="2190750"/>
            <a:ext cx="1809750" cy="1414346"/>
          </a:xfrm>
          <a:prstGeom prst="roundRect">
            <a:avLst>
              <a:gd name="adj" fmla="val 10000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6D02C3-F76B-4254-8CAA-55342433F15A}"/>
              </a:ext>
            </a:extLst>
          </p:cNvPr>
          <p:cNvSpPr>
            <a:spLocks noGrp="1"/>
          </p:cNvSpPr>
          <p:nvPr/>
        </p:nvSpPr>
        <p:spPr>
          <a:xfrm>
            <a:off x="8077200" y="2343150"/>
            <a:ext cx="15430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Business views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593B28-3CFB-4C23-B903-4D0AF736128D}"/>
              </a:ext>
            </a:extLst>
          </p:cNvPr>
          <p:cNvSpPr>
            <a:spLocks noGrp="1"/>
          </p:cNvSpPr>
          <p:nvPr/>
        </p:nvSpPr>
        <p:spPr>
          <a:xfrm>
            <a:off x="8077200" y="2638424"/>
            <a:ext cx="15430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>
                <a:solidFill>
                  <a:srgbClr val="756268"/>
                </a:solidFill>
              </a:rPr>
              <a:t>b</a:t>
            </a:r>
            <a:r>
              <a:rPr sz="1400" b="0">
                <a:solidFill>
                  <a:srgbClr val="756268"/>
                </a:solidFill>
              </a:rPr>
              <a:t>ank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transaction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business flags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1BC78-A463-4E9B-B4E7-58C1A90C93A8}"/>
              </a:ext>
            </a:extLst>
          </p:cNvPr>
          <p:cNvSpPr>
            <a:spLocks noGrp="1"/>
          </p:cNvSpPr>
          <p:nvPr/>
        </p:nvSpPr>
        <p:spPr>
          <a:xfrm>
            <a:off x="9867900" y="2609849"/>
            <a:ext cx="381000" cy="353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83158C1-D4A9-40AF-8DFC-04208B24FD21}"/>
              </a:ext>
            </a:extLst>
          </p:cNvPr>
          <p:cNvSpPr>
            <a:spLocks noGrp="1"/>
          </p:cNvSpPr>
          <p:nvPr/>
        </p:nvSpPr>
        <p:spPr>
          <a:xfrm>
            <a:off x="10306050" y="2190750"/>
            <a:ext cx="1200150" cy="141434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A565DA-FD8F-4D3C-BD4A-2748E7F62887}"/>
              </a:ext>
            </a:extLst>
          </p:cNvPr>
          <p:cNvSpPr>
            <a:spLocks noGrp="1"/>
          </p:cNvSpPr>
          <p:nvPr/>
        </p:nvSpPr>
        <p:spPr>
          <a:xfrm>
            <a:off x="10439400" y="2343150"/>
            <a:ext cx="933450" cy="2946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8296DF-EFA4-4A13-AC0E-E8F4C5B127AD}"/>
              </a:ext>
            </a:extLst>
          </p:cNvPr>
          <p:cNvSpPr>
            <a:spLocks noGrp="1"/>
          </p:cNvSpPr>
          <p:nvPr/>
        </p:nvSpPr>
        <p:spPr>
          <a:xfrm>
            <a:off x="10439400" y="2638424"/>
            <a:ext cx="933450" cy="73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Nguồn chuẩn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cho ETL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31A4F28-142F-4FC5-9C97-4D30E71DBC72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51435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28804A-55EA-42A5-911E-943AA75FE485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47625" cy="12192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307CCD-BCDA-45F6-B00E-56E3027D1A0E}"/>
              </a:ext>
            </a:extLst>
          </p:cNvPr>
          <p:cNvSpPr>
            <a:spLocks noGrp="1"/>
          </p:cNvSpPr>
          <p:nvPr/>
        </p:nvSpPr>
        <p:spPr>
          <a:xfrm>
            <a:off x="933450" y="4019550"/>
            <a:ext cx="4819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Kiểm soát nạp nguồn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A271EE-A4C3-4CC6-881F-2CD205614AC4}"/>
              </a:ext>
            </a:extLst>
          </p:cNvPr>
          <p:cNvSpPr>
            <a:spLocks noGrp="1"/>
          </p:cNvSpPr>
          <p:nvPr/>
        </p:nvSpPr>
        <p:spPr>
          <a:xfrm>
            <a:off x="933450" y="4314825"/>
            <a:ext cx="4819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etl.load_batch theo dõi file, thời điểm và trạng thái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raw.rejected_row giữ dòng không hợp lệ thay vì bỏ im lặng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1D3B11C-4AD9-4628-A916-8443631DF144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53149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48EEAC-6D94-4088-B33E-9DED8AE0493E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47625" cy="12192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229AE3-5A5C-405A-8DB1-2FBD0D7F2F13}"/>
              </a:ext>
            </a:extLst>
          </p:cNvPr>
          <p:cNvSpPr>
            <a:spLocks noGrp="1"/>
          </p:cNvSpPr>
          <p:nvPr/>
        </p:nvSpPr>
        <p:spPr>
          <a:xfrm>
            <a:off x="6381750" y="4019550"/>
            <a:ext cx="4991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Tối ưu có chủ đích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3B9CA-08EA-4F3E-841C-29A27EEE0BE0}"/>
              </a:ext>
            </a:extLst>
          </p:cNvPr>
          <p:cNvSpPr>
            <a:spLocks noGrp="1"/>
          </p:cNvSpPr>
          <p:nvPr/>
        </p:nvSpPr>
        <p:spPr>
          <a:xfrm>
            <a:off x="6381749" y="4314825"/>
            <a:ext cx="5267323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i</a:t>
            </a:r>
            <a:r>
              <a:rPr sz="1400" b="0">
                <a:solidFill>
                  <a:srgbClr val="2A1D21"/>
                </a:solidFill>
              </a:rPr>
              <a:t>ndex được tạo sau initial load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source_row_id được giữ xuyên suốt để truy vết fact về dòng nguồn</a:t>
            </a:r>
          </a:p>
        </p:txBody>
      </p:sp>
    </p:spTree>
    <p:extLst>
      <p:ext uri="{BB962C8B-B14F-4D97-AF65-F5344CB8AC3E}">
        <p14:creationId xmlns:p14="http://schemas.microsoft.com/office/powerpoint/2010/main" val="75052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D6F18DBE-75AD-4404-8A10-E227044C3D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913DF-3A95-4E84-AA7F-263B1250D5D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1: KẾT QUẢ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122938-AA4E-4DCF-873C-ECC6F271573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Database nguồn đủ sạch để làm đầu vào DW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9DDF1C-0375-4750-9E08-66662127C76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F04EA8-4416-4921-81E8-1C4F37B94E1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3A5752B-4A74-4EB9-8CB7-29D00426E874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89B8A9-905E-43D0-8409-7C841CCC0CFE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47625" cy="1085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AE6FFE-56F1-4CAC-A973-7BE037695768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2325" b="1">
                <a:solidFill>
                  <a:srgbClr val="B52B3A"/>
                </a:solidFill>
              </a:rPr>
              <a:t>31.898.238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42034-8FDE-4356-A116-A31A765522DE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typed transactions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D095EA-F9F4-40A1-8B64-B07137D0E33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raw rows preserved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F78833-F094-4890-B579-A2BCDA5F11FD}"/>
              </a:ext>
            </a:extLst>
          </p:cNvPr>
          <p:cNvSpPr>
            <a:spLocks noGrp="1"/>
          </p:cNvSpPr>
          <p:nvPr/>
        </p:nvSpPr>
        <p:spPr>
          <a:xfrm>
            <a:off x="329565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4DCAB6-4402-4AEC-AE04-D125487C2A79}"/>
              </a:ext>
            </a:extLst>
          </p:cNvPr>
          <p:cNvSpPr>
            <a:spLocks noGrp="1"/>
          </p:cNvSpPr>
          <p:nvPr/>
        </p:nvSpPr>
        <p:spPr>
          <a:xfrm>
            <a:off x="3295650" y="1581150"/>
            <a:ext cx="47625" cy="1085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284052-C6AE-4584-8075-0B543FC8D956}"/>
              </a:ext>
            </a:extLst>
          </p:cNvPr>
          <p:cNvSpPr>
            <a:spLocks noGrp="1"/>
          </p:cNvSpPr>
          <p:nvPr/>
        </p:nvSpPr>
        <p:spPr>
          <a:xfrm>
            <a:off x="348615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2325" b="1">
                <a:solidFill>
                  <a:srgbClr val="9F1D2D"/>
                </a:solidFill>
              </a:rPr>
              <a:t>2.087.786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129106-87A0-4C9F-8255-D7AF625387F3}"/>
              </a:ext>
            </a:extLst>
          </p:cNvPr>
          <p:cNvSpPr>
            <a:spLocks noGrp="1"/>
          </p:cNvSpPr>
          <p:nvPr/>
        </p:nvSpPr>
        <p:spPr>
          <a:xfrm>
            <a:off x="348615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typed accounts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E1FCEA-48B9-4741-BA55-752FE4FE81C6}"/>
              </a:ext>
            </a:extLst>
          </p:cNvPr>
          <p:cNvSpPr>
            <a:spLocks noGrp="1"/>
          </p:cNvSpPr>
          <p:nvPr/>
        </p:nvSpPr>
        <p:spPr>
          <a:xfrm>
            <a:off x="348615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zero-padding controlled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91A1A61-60F9-4306-BA04-B8AF7C53545E}"/>
              </a:ext>
            </a:extLst>
          </p:cNvPr>
          <p:cNvSpPr>
            <a:spLocks noGrp="1"/>
          </p:cNvSpPr>
          <p:nvPr/>
        </p:nvSpPr>
        <p:spPr>
          <a:xfrm>
            <a:off x="586740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FA991-6C62-454C-A037-0565C2C3A2BA}"/>
              </a:ext>
            </a:extLst>
          </p:cNvPr>
          <p:cNvSpPr>
            <a:spLocks noGrp="1"/>
          </p:cNvSpPr>
          <p:nvPr/>
        </p:nvSpPr>
        <p:spPr>
          <a:xfrm>
            <a:off x="5867400" y="1581150"/>
            <a:ext cx="47625" cy="10858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9D5F64-3831-4E2E-B65A-66A3C50F6016}"/>
              </a:ext>
            </a:extLst>
          </p:cNvPr>
          <p:cNvSpPr>
            <a:spLocks noGrp="1"/>
          </p:cNvSpPr>
          <p:nvPr/>
        </p:nvSpPr>
        <p:spPr>
          <a:xfrm>
            <a:off x="605790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2325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31B20B-FC5F-44EB-880A-E9C3217084CC}"/>
              </a:ext>
            </a:extLst>
          </p:cNvPr>
          <p:cNvSpPr>
            <a:spLocks noGrp="1"/>
          </p:cNvSpPr>
          <p:nvPr/>
        </p:nvSpPr>
        <p:spPr>
          <a:xfrm>
            <a:off x="605790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invalid amount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A4E0C8-CC09-4F29-B0B8-CDD3E434ABFD}"/>
              </a:ext>
            </a:extLst>
          </p:cNvPr>
          <p:cNvSpPr>
            <a:spLocks noGrp="1"/>
          </p:cNvSpPr>
          <p:nvPr/>
        </p:nvSpPr>
        <p:spPr>
          <a:xfrm>
            <a:off x="605790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validation passed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6287F5F-F7D7-4A4D-A130-799E823D4DE6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2381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7428A8-842B-4AA4-9643-0532870A37CB}"/>
              </a:ext>
            </a:extLst>
          </p:cNvPr>
          <p:cNvSpPr>
            <a:spLocks noGrp="1"/>
          </p:cNvSpPr>
          <p:nvPr/>
        </p:nvSpPr>
        <p:spPr>
          <a:xfrm>
            <a:off x="8439150" y="1581150"/>
            <a:ext cx="47625" cy="10858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379F73-368E-4016-B6B6-023F86D944EA}"/>
              </a:ext>
            </a:extLst>
          </p:cNvPr>
          <p:cNvSpPr>
            <a:spLocks noGrp="1"/>
          </p:cNvSpPr>
          <p:nvPr/>
        </p:nvSpPr>
        <p:spPr>
          <a:xfrm>
            <a:off x="8629650" y="17526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2325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FE39AA-F926-4F07-8BD5-69B2E156FEEA}"/>
              </a:ext>
            </a:extLst>
          </p:cNvPr>
          <p:cNvSpPr>
            <a:spLocks noGrp="1"/>
          </p:cNvSpPr>
          <p:nvPr/>
        </p:nvSpPr>
        <p:spPr>
          <a:xfrm>
            <a:off x="8629650" y="21717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source reject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8E90D9-7B97-4C3D-BD95-ABA39A374F33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no rejected rows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D1E4C-6402-44EA-91CF-83A5DD3F319B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3B0B13"/>
                </a:solidFill>
              </a:defRPr>
            </a:pPr>
            <a:r>
              <a:rPr sz="1800" b="1">
                <a:solidFill>
                  <a:srgbClr val="3B0B13"/>
                </a:solidFill>
              </a:rPr>
              <a:t>Nguyên tắc triển khai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A0728D-33C1-4225-924E-345E043694BD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" cy="762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DC0F0B-51E1-4319-AF75-E18676640A89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459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Không chỉnh tay file raw sau khi đưa vào project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1CE2CCF-2026-4536-A2CE-4C6D05129019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6200" cy="762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A1FA8D-018D-4132-BB7B-AEDD21D763E9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459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Parse timestamp, amount và is_laundering có kiểm soát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6E92F7A-53FF-4181-A2A0-0DC699E82AD1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76200" cy="762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291ADF-A7C6-46DF-AC57-2FC50B70CA29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4591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Mọi giao dịch giữ source row ID để lineage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1A6968F-939F-4BC9-948D-A058EB303D3B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629150" cy="1771650"/>
          </a:xfrm>
          <a:prstGeom prst="roundRect">
            <a:avLst>
              <a:gd name="adj" fmla="val 6452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674CD0-909F-48C3-8492-8188CCEAB0BE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7625" cy="17716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FB11E-464C-4DCF-8E3C-A369C2BBA981}"/>
              </a:ext>
            </a:extLst>
          </p:cNvPr>
          <p:cNvSpPr>
            <a:spLocks noGrp="1"/>
          </p:cNvSpPr>
          <p:nvPr/>
        </p:nvSpPr>
        <p:spPr>
          <a:xfrm>
            <a:off x="6381750" y="3448050"/>
            <a:ext cx="430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400" b="1">
                <a:solidFill>
                  <a:srgbClr val="B77A23"/>
                </a:solidFill>
              </a:rPr>
              <a:t>Điều kiện chuyển Giai đoạn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91CAC94-65CA-4AC7-AE8E-8A638C4113FA}"/>
              </a:ext>
            </a:extLst>
          </p:cNvPr>
          <p:cNvSpPr>
            <a:spLocks noGrp="1"/>
          </p:cNvSpPr>
          <p:nvPr/>
        </p:nvSpPr>
        <p:spPr>
          <a:xfrm>
            <a:off x="6381749" y="3743325"/>
            <a:ext cx="458152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s</a:t>
            </a:r>
            <a:r>
              <a:rPr sz="1400" b="0">
                <a:solidFill>
                  <a:srgbClr val="2A1D21"/>
                </a:solidFill>
              </a:rPr>
              <a:t>ource count phải bằng typed count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business flags có thể tính lại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data dictionary và mô tả nghiệp vụ phải thống nhất với SQL</a:t>
            </a:r>
          </a:p>
        </p:txBody>
      </p:sp>
    </p:spTree>
    <p:extLst>
      <p:ext uri="{BB962C8B-B14F-4D97-AF65-F5344CB8AC3E}">
        <p14:creationId xmlns:p14="http://schemas.microsoft.com/office/powerpoint/2010/main" val="13728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3DD8986-D00E-4CAC-8FE3-10224FCDA5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0A647C-50F2-43F5-8126-0548EDB4DE4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YÊU CẦU BÁO CÁO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D1CF40-651E-46F9-A632-415A3328ABC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KPI chỉ đúng khi grain được định nghĩa trước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3BB96-54AE-411B-BAD7-F4970E6F6F0A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C7158-B084-4629-B5C1-4D4F6F5D39A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78B90F-F7F1-4460-94B3-838DD9B7C6DC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8ACC3-6137-4E07-9AAB-0E66845A6901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47625" cy="16002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BD0632-5481-4749-BEFE-42BA9D7BC7F2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Fact transaction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EE91BE-B7EA-4E5A-89C8-4D459579DB8A}"/>
              </a:ext>
            </a:extLst>
          </p:cNvPr>
          <p:cNvSpPr>
            <a:spLocks noGrp="1"/>
          </p:cNvSpPr>
          <p:nvPr/>
        </p:nvSpPr>
        <p:spPr>
          <a:xfrm>
            <a:off x="914400" y="2009775"/>
            <a:ext cx="4629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1 dòng fact = 1 giao dịch nguồn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Giữ sender/receiver role keys, amount, currency và business flags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94A44F-0F5C-4CC7-8083-582E3B819EE0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953000" cy="16002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51BE61-8FD5-42A3-A042-5799C27E332C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47625" cy="16002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F00EAE-74C0-4F06-8201-38BAAEA2F482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7E3344"/>
                </a:solidFill>
              </a:defRPr>
            </a:pPr>
            <a:r>
              <a:rPr sz="1600" b="1">
                <a:solidFill>
                  <a:srgbClr val="7E3344"/>
                </a:solidFill>
              </a:rPr>
              <a:t>Fact pattern transaction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F4EFA-2512-4FF9-B8DC-2DC32649105E}"/>
              </a:ext>
            </a:extLst>
          </p:cNvPr>
          <p:cNvSpPr>
            <a:spLocks noGrp="1"/>
          </p:cNvSpPr>
          <p:nvPr/>
        </p:nvSpPr>
        <p:spPr>
          <a:xfrm>
            <a:off x="914400" y="3819525"/>
            <a:ext cx="4629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1 dòng fact = 1 giao dịch thuộc pattern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Giữ attempt ID, sequence và pattern type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2ABAB8-B936-472C-8ED5-AA7DCB34B0A7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3B0B13"/>
                </a:solidFill>
              </a:defRPr>
            </a:pPr>
            <a:r>
              <a:rPr sz="1800" b="1">
                <a:solidFill>
                  <a:srgbClr val="3B0B13"/>
                </a:solidFill>
              </a:rPr>
              <a:t>KPI toàn kỳ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D170CB-F581-427D-84EB-D62C9C2023A1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E49B96-A199-486B-A18E-E0D9F7535015}"/>
              </a:ext>
            </a:extLst>
          </p:cNvPr>
          <p:cNvSpPr>
            <a:spLocks noGrp="1"/>
          </p:cNvSpPr>
          <p:nvPr/>
        </p:nvSpPr>
        <p:spPr>
          <a:xfrm>
            <a:off x="6496050" y="2190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52B3A"/>
                </a:solidFill>
              </a:defRPr>
            </a:pPr>
            <a:r>
              <a:rPr sz="1800" b="1">
                <a:solidFill>
                  <a:srgbClr val="B52B3A"/>
                </a:solidFill>
              </a:rPr>
              <a:t>31,90M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EBD83C-1DFD-45F3-BB4F-9084B6CDBFF1}"/>
              </a:ext>
            </a:extLst>
          </p:cNvPr>
          <p:cNvSpPr>
            <a:spLocks noGrp="1"/>
          </p:cNvSpPr>
          <p:nvPr/>
        </p:nvSpPr>
        <p:spPr>
          <a:xfrm>
            <a:off x="6496050" y="2533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Transactions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465CFB7-CA36-44A4-A1B7-5F680C2C57CA}"/>
              </a:ext>
            </a:extLst>
          </p:cNvPr>
          <p:cNvSpPr>
            <a:spLocks noGrp="1"/>
          </p:cNvSpPr>
          <p:nvPr/>
        </p:nvSpPr>
        <p:spPr>
          <a:xfrm>
            <a:off x="8648700" y="2076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E5F402-8244-4C81-BE2D-578608D6328A}"/>
              </a:ext>
            </a:extLst>
          </p:cNvPr>
          <p:cNvSpPr>
            <a:spLocks noGrp="1"/>
          </p:cNvSpPr>
          <p:nvPr/>
        </p:nvSpPr>
        <p:spPr>
          <a:xfrm>
            <a:off x="8801100" y="2190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C73C4A"/>
                </a:solidFill>
              </a:defRPr>
            </a:pPr>
            <a:r>
              <a:rPr sz="1800" b="1">
                <a:solidFill>
                  <a:srgbClr val="C73C4A"/>
                </a:solidFill>
              </a:rPr>
              <a:t>0,11%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D1D7DE-50A5-4DFD-8672-17054F873914}"/>
              </a:ext>
            </a:extLst>
          </p:cNvPr>
          <p:cNvSpPr>
            <a:spLocks noGrp="1"/>
          </p:cNvSpPr>
          <p:nvPr/>
        </p:nvSpPr>
        <p:spPr>
          <a:xfrm>
            <a:off x="8801100" y="2533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AML rate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5550D5E-FBF7-4AE1-8728-2642A1F03378}"/>
              </a:ext>
            </a:extLst>
          </p:cNvPr>
          <p:cNvSpPr>
            <a:spLocks noGrp="1"/>
          </p:cNvSpPr>
          <p:nvPr/>
        </p:nvSpPr>
        <p:spPr>
          <a:xfrm>
            <a:off x="6343650" y="30289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745D8C-18C7-4136-B7A8-312198C4A40B}"/>
              </a:ext>
            </a:extLst>
          </p:cNvPr>
          <p:cNvSpPr>
            <a:spLocks noGrp="1"/>
          </p:cNvSpPr>
          <p:nvPr/>
        </p:nvSpPr>
        <p:spPr>
          <a:xfrm>
            <a:off x="6496050" y="31432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9F1D2D"/>
                </a:solidFill>
              </a:defRPr>
            </a:pPr>
            <a:r>
              <a:rPr sz="1800" b="1">
                <a:solidFill>
                  <a:srgbClr val="9F1D2D"/>
                </a:solidFill>
              </a:rPr>
              <a:t>91,20%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F9EE5D-7FC9-438A-BC26-8C58FC3E5DDB}"/>
              </a:ext>
            </a:extLst>
          </p:cNvPr>
          <p:cNvSpPr>
            <a:spLocks noGrp="1"/>
          </p:cNvSpPr>
          <p:nvPr/>
        </p:nvSpPr>
        <p:spPr>
          <a:xfrm>
            <a:off x="6496050" y="34861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Cross-bank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46A275E-F2CE-4F7D-B90B-FA525FC4E570}"/>
              </a:ext>
            </a:extLst>
          </p:cNvPr>
          <p:cNvSpPr>
            <a:spLocks noGrp="1"/>
          </p:cNvSpPr>
          <p:nvPr/>
        </p:nvSpPr>
        <p:spPr>
          <a:xfrm>
            <a:off x="8648700" y="30289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C4A41A-9A77-4ED5-BFCB-033F60F14C48}"/>
              </a:ext>
            </a:extLst>
          </p:cNvPr>
          <p:cNvSpPr>
            <a:spLocks noGrp="1"/>
          </p:cNvSpPr>
          <p:nvPr/>
        </p:nvSpPr>
        <p:spPr>
          <a:xfrm>
            <a:off x="8801100" y="31432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7E3344"/>
                </a:solidFill>
              </a:defRPr>
            </a:pPr>
            <a:r>
              <a:rPr sz="1800" b="1">
                <a:solidFill>
                  <a:srgbClr val="7E3344"/>
                </a:solidFill>
              </a:rPr>
              <a:t>1,52%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5FF809-6D11-44B1-AA11-AA15CD5A2778}"/>
              </a:ext>
            </a:extLst>
          </p:cNvPr>
          <p:cNvSpPr>
            <a:spLocks noGrp="1"/>
          </p:cNvSpPr>
          <p:nvPr/>
        </p:nvSpPr>
        <p:spPr>
          <a:xfrm>
            <a:off x="8801100" y="34861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Cross-currency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99DB52C-0FA0-42F0-8A2A-769D84C405D6}"/>
              </a:ext>
            </a:extLst>
          </p:cNvPr>
          <p:cNvSpPr>
            <a:spLocks noGrp="1"/>
          </p:cNvSpPr>
          <p:nvPr/>
        </p:nvSpPr>
        <p:spPr>
          <a:xfrm>
            <a:off x="6343650" y="3981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233B2C-D6C4-47F5-A278-E3F224E4607F}"/>
              </a:ext>
            </a:extLst>
          </p:cNvPr>
          <p:cNvSpPr>
            <a:spLocks noGrp="1"/>
          </p:cNvSpPr>
          <p:nvPr/>
        </p:nvSpPr>
        <p:spPr>
          <a:xfrm>
            <a:off x="6496050" y="4095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B77A23"/>
                </a:solidFill>
              </a:defRPr>
            </a:pPr>
            <a:r>
              <a:rPr sz="1800" b="1">
                <a:solidFill>
                  <a:srgbClr val="B77A23"/>
                </a:solidFill>
              </a:rPr>
              <a:t>8,03%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04350A-875B-423A-99F8-17F1CCCAA078}"/>
              </a:ext>
            </a:extLst>
          </p:cNvPr>
          <p:cNvSpPr>
            <a:spLocks noGrp="1"/>
          </p:cNvSpPr>
          <p:nvPr/>
        </p:nvSpPr>
        <p:spPr>
          <a:xfrm>
            <a:off x="6496050" y="4438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Self-transfer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A24E82-40B6-405C-887D-F9ACD64EE742}"/>
              </a:ext>
            </a:extLst>
          </p:cNvPr>
          <p:cNvSpPr>
            <a:spLocks noGrp="1"/>
          </p:cNvSpPr>
          <p:nvPr/>
        </p:nvSpPr>
        <p:spPr>
          <a:xfrm>
            <a:off x="8648700" y="3981450"/>
            <a:ext cx="21336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75918B-D226-4E65-82E6-55DC0C348D82}"/>
              </a:ext>
            </a:extLst>
          </p:cNvPr>
          <p:cNvSpPr>
            <a:spLocks noGrp="1"/>
          </p:cNvSpPr>
          <p:nvPr/>
        </p:nvSpPr>
        <p:spPr>
          <a:xfrm>
            <a:off x="8801100" y="409575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9F1D2D"/>
                </a:solidFill>
              </a:defRPr>
            </a:pPr>
            <a:r>
              <a:rPr sz="1800" b="1">
                <a:solidFill>
                  <a:srgbClr val="9F1D2D"/>
                </a:solidFill>
              </a:rPr>
              <a:t>2.756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D16781-12CE-4961-B5BA-6E77C4D1258E}"/>
              </a:ext>
            </a:extLst>
          </p:cNvPr>
          <p:cNvSpPr>
            <a:spLocks noGrp="1"/>
          </p:cNvSpPr>
          <p:nvPr/>
        </p:nvSpPr>
        <p:spPr>
          <a:xfrm>
            <a:off x="8801100" y="4438650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56268"/>
                </a:solidFill>
              </a:defRPr>
            </a:pPr>
            <a:r>
              <a:rPr sz="975" b="1">
                <a:solidFill>
                  <a:srgbClr val="756268"/>
                </a:solidFill>
              </a:rPr>
              <a:t>Pattern attempts</a:t>
            </a:r>
          </a:p>
        </p:txBody>
      </p:sp>
    </p:spTree>
    <p:extLst>
      <p:ext uri="{BB962C8B-B14F-4D97-AF65-F5344CB8AC3E}">
        <p14:creationId xmlns:p14="http://schemas.microsoft.com/office/powerpoint/2010/main" val="32813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9CE8743-95D7-435F-B6BA-D666B74DB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835199-E484-42CB-812C-222A84D213B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2: DATA WAREHOUSE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4ED33-2116-4CE4-A1AA-F53F7437D10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Mô hình sao tách mô tả khỏi sự kiện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DC34D-76DB-44D8-BDB7-D819A4D1135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4908FB-C39F-430E-9B2F-C617B60E675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675AA6-91C0-4017-9F45-402FABE3B53D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98B5B-581A-422A-94DC-7126BE0A1094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4D7E9-C502-42B6-AEEA-F99DAB4EDD7F}"/>
              </a:ext>
            </a:extLst>
          </p:cNvPr>
          <p:cNvSpPr>
            <a:spLocks noGrp="1"/>
          </p:cNvSpPr>
          <p:nvPr/>
        </p:nvSpPr>
        <p:spPr>
          <a:xfrm>
            <a:off x="897142" y="2066925"/>
            <a:ext cx="172996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Ngày - tuần - tháng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367A09-355F-44B2-8595-34445DA346D0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552C6-CF70-4EA6-9FC8-20D19BCD02AD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dim_account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10FE7-5C3B-44E3-9EA3-87F15B882072}"/>
              </a:ext>
            </a:extLst>
          </p:cNvPr>
          <p:cNvSpPr>
            <a:spLocks noGrp="1"/>
          </p:cNvSpPr>
          <p:nvPr/>
        </p:nvSpPr>
        <p:spPr>
          <a:xfrm>
            <a:off x="990600" y="32289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SCD Type 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57E458-A4E3-43DE-8469-FA36A7ABEF73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AAF2FD-8E4B-42B5-B56C-680EB014152E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dim_bank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6A2DA-3E12-4064-AB88-91C644071485}"/>
              </a:ext>
            </a:extLst>
          </p:cNvPr>
          <p:cNvSpPr>
            <a:spLocks noGrp="1"/>
          </p:cNvSpPr>
          <p:nvPr/>
        </p:nvSpPr>
        <p:spPr>
          <a:xfrm>
            <a:off x="990600" y="439102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Ngân hàng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5A3B38D-9DE8-4D69-A532-0457E0FB8D05}"/>
              </a:ext>
            </a:extLst>
          </p:cNvPr>
          <p:cNvSpPr>
            <a:spLocks noGrp="1"/>
          </p:cNvSpPr>
          <p:nvPr/>
        </p:nvSpPr>
        <p:spPr>
          <a:xfrm>
            <a:off x="9525000" y="16192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2EA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D1DF00-A275-46FF-91FE-D3E8634460BF}"/>
              </a:ext>
            </a:extLst>
          </p:cNvPr>
          <p:cNvSpPr>
            <a:spLocks noGrp="1"/>
          </p:cNvSpPr>
          <p:nvPr/>
        </p:nvSpPr>
        <p:spPr>
          <a:xfrm>
            <a:off x="9658350" y="17716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dim_currency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60E8A-51E9-48FF-9BD8-E96DC82C6CDD}"/>
              </a:ext>
            </a:extLst>
          </p:cNvPr>
          <p:cNvSpPr>
            <a:spLocks noGrp="1"/>
          </p:cNvSpPr>
          <p:nvPr/>
        </p:nvSpPr>
        <p:spPr>
          <a:xfrm>
            <a:off x="9658350" y="206692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Paid / received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0E39BBD-81C4-47C1-B858-CF9CB9A70E01}"/>
              </a:ext>
            </a:extLst>
          </p:cNvPr>
          <p:cNvSpPr>
            <a:spLocks noGrp="1"/>
          </p:cNvSpPr>
          <p:nvPr/>
        </p:nvSpPr>
        <p:spPr>
          <a:xfrm>
            <a:off x="9525000" y="27813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CF7A3C-28F1-40A4-B1B9-0E1DB8B17586}"/>
              </a:ext>
            </a:extLst>
          </p:cNvPr>
          <p:cNvSpPr>
            <a:spLocks noGrp="1"/>
          </p:cNvSpPr>
          <p:nvPr/>
        </p:nvSpPr>
        <p:spPr>
          <a:xfrm>
            <a:off x="9658350" y="293370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dim_format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5A6821-2BA7-4013-A830-77B143890C95}"/>
              </a:ext>
            </a:extLst>
          </p:cNvPr>
          <p:cNvSpPr>
            <a:spLocks noGrp="1"/>
          </p:cNvSpPr>
          <p:nvPr/>
        </p:nvSpPr>
        <p:spPr>
          <a:xfrm>
            <a:off x="9609687" y="3234916"/>
            <a:ext cx="1640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7 payment formats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E861052-685F-41F8-B3CC-569351554C0B}"/>
              </a:ext>
            </a:extLst>
          </p:cNvPr>
          <p:cNvSpPr>
            <a:spLocks noGrp="1"/>
          </p:cNvSpPr>
          <p:nvPr/>
        </p:nvSpPr>
        <p:spPr>
          <a:xfrm>
            <a:off x="9525000" y="39433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F9E6E8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917C52-6E35-4E3A-BC4F-5FA572C0789C}"/>
              </a:ext>
            </a:extLst>
          </p:cNvPr>
          <p:cNvSpPr>
            <a:spLocks noGrp="1"/>
          </p:cNvSpPr>
          <p:nvPr/>
        </p:nvSpPr>
        <p:spPr>
          <a:xfrm>
            <a:off x="9658350" y="4095750"/>
            <a:ext cx="1543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dim_pattern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CA7103-9DE0-400A-9C6C-3C5FBB604963}"/>
              </a:ext>
            </a:extLst>
          </p:cNvPr>
          <p:cNvSpPr>
            <a:spLocks noGrp="1"/>
          </p:cNvSpPr>
          <p:nvPr/>
        </p:nvSpPr>
        <p:spPr>
          <a:xfrm>
            <a:off x="9658350" y="439102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8 pattern types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C276ACA-4BE0-434D-84E3-B3BE1F2BBF79}"/>
              </a:ext>
            </a:extLst>
          </p:cNvPr>
          <p:cNvSpPr>
            <a:spLocks noGrp="1"/>
          </p:cNvSpPr>
          <p:nvPr/>
        </p:nvSpPr>
        <p:spPr>
          <a:xfrm>
            <a:off x="4476750" y="2019300"/>
            <a:ext cx="3238500" cy="1257300"/>
          </a:xfrm>
          <a:prstGeom prst="roundRect">
            <a:avLst>
              <a:gd name="adj" fmla="val 9091"/>
            </a:avLst>
          </a:prstGeom>
          <a:solidFill>
            <a:srgbClr val="3B0B13"/>
          </a:solidFill>
          <a:ln w="9525">
            <a:solidFill>
              <a:srgbClr val="3B0B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F48E7C-047E-4B99-8F8E-3D95D723CD05}"/>
              </a:ext>
            </a:extLst>
          </p:cNvPr>
          <p:cNvSpPr>
            <a:spLocks noGrp="1"/>
          </p:cNvSpPr>
          <p:nvPr/>
        </p:nvSpPr>
        <p:spPr>
          <a:xfrm>
            <a:off x="4762500" y="2295525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fact_transaction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C0B1BD-DF97-4419-8157-90B5CCDEF322}"/>
              </a:ext>
            </a:extLst>
          </p:cNvPr>
          <p:cNvSpPr>
            <a:spLocks noGrp="1"/>
          </p:cNvSpPr>
          <p:nvPr/>
        </p:nvSpPr>
        <p:spPr>
          <a:xfrm>
            <a:off x="4762500" y="27051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D6E4F2"/>
                </a:solidFill>
              </a:defRPr>
            </a:pPr>
            <a:r>
              <a:rPr sz="1200" b="0">
                <a:solidFill>
                  <a:srgbClr val="D6E4F2"/>
                </a:solidFill>
              </a:rPr>
              <a:t>31.898.238 rows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656EE31-17B5-4A66-A887-09A218A1FF28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3238500" cy="1066800"/>
          </a:xfrm>
          <a:prstGeom prst="roundRect">
            <a:avLst>
              <a:gd name="adj" fmla="val 10714"/>
            </a:avLst>
          </a:prstGeom>
          <a:solidFill>
            <a:srgbClr val="7E3344"/>
          </a:solidFill>
          <a:ln w="9525">
            <a:solidFill>
              <a:srgbClr val="7E3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0E2CE2-4968-4CFC-9A41-067522470878}"/>
              </a:ext>
            </a:extLst>
          </p:cNvPr>
          <p:cNvSpPr>
            <a:spLocks noGrp="1"/>
          </p:cNvSpPr>
          <p:nvPr/>
        </p:nvSpPr>
        <p:spPr>
          <a:xfrm>
            <a:off x="4667250" y="3943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fact_pattern_transaction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42BFFC-A81A-464E-80AC-DCB357549D1A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>
                <a:solidFill>
                  <a:srgbClr val="EFE7FF"/>
                </a:solidFill>
              </a:defRPr>
            </a:pPr>
            <a:r>
              <a:rPr sz="1125" b="0">
                <a:solidFill>
                  <a:srgbClr val="EFE7FF"/>
                </a:solidFill>
              </a:rPr>
              <a:t>22.743 rows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F37A890-2742-4296-9FE5-24D9DBB8C997}"/>
              </a:ext>
            </a:extLst>
          </p:cNvPr>
          <p:cNvSpPr>
            <a:spLocks noGrp="1"/>
          </p:cNvSpPr>
          <p:nvPr/>
        </p:nvSpPr>
        <p:spPr>
          <a:xfrm>
            <a:off x="3238500" y="52197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B0B13"/>
                </a:solidFill>
              </a:defRPr>
            </a:pPr>
            <a:r>
              <a:rPr sz="1350" b="1">
                <a:solidFill>
                  <a:srgbClr val="3B0B13"/>
                </a:solidFill>
              </a:rPr>
              <a:t>conformed dimensions / surrogate keys / unknown member -1</a:t>
            </a:r>
          </a:p>
        </p:txBody>
      </p:sp>
    </p:spTree>
    <p:extLst>
      <p:ext uri="{BB962C8B-B14F-4D97-AF65-F5344CB8AC3E}">
        <p14:creationId xmlns:p14="http://schemas.microsoft.com/office/powerpoint/2010/main" val="1482302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934A156-6F0D-439E-9C2A-24D56C8974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478C4-9445-42EF-80E6-2021A1817E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MÔ HÌNH PHÂN TÍCH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935D7-BFC7-4A1C-8282-6EEAAD105C3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Semantic model tránh quan hệ fact-to-fact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E32230-25B6-42F7-8A58-A0DDFA4F9EB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658FD-83FA-4251-8756-804754B68807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11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 l="2624" t="2086" r="2269" b="6744"/>
          <a:stretch/>
        </p:blipFill>
        <p:spPr>
          <a:xfrm>
            <a:off x="95250" y="1177575"/>
            <a:ext cx="10153870" cy="5299425"/>
          </a:xfrm>
          <a:prstGeom prst="roundRect">
            <a:avLst>
              <a:gd name="adj" fmla="val 2667"/>
            </a:avLst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2B88D0-96FC-4A80-869D-8A1F8332CC5B}"/>
              </a:ext>
            </a:extLst>
          </p:cNvPr>
          <p:cNvSpPr>
            <a:spLocks noGrp="1"/>
          </p:cNvSpPr>
          <p:nvPr/>
        </p:nvSpPr>
        <p:spPr>
          <a:xfrm>
            <a:off x="10153650" y="2139793"/>
            <a:ext cx="19907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1BC527-FCA8-4A9C-B56D-232D2E213958}"/>
              </a:ext>
            </a:extLst>
          </p:cNvPr>
          <p:cNvSpPr>
            <a:spLocks noGrp="1"/>
          </p:cNvSpPr>
          <p:nvPr/>
        </p:nvSpPr>
        <p:spPr>
          <a:xfrm>
            <a:off x="10153650" y="2139793"/>
            <a:ext cx="47625" cy="11430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1C1BA-6AD1-40D6-857E-CB96F7FB78AA}"/>
              </a:ext>
            </a:extLst>
          </p:cNvPr>
          <p:cNvSpPr>
            <a:spLocks noGrp="1"/>
          </p:cNvSpPr>
          <p:nvPr/>
        </p:nvSpPr>
        <p:spPr>
          <a:xfrm>
            <a:off x="10180102" y="2276379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275" b="1">
                <a:solidFill>
                  <a:srgbClr val="B52B3A"/>
                </a:solidFill>
              </a:rPr>
              <a:t>Quan hệ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076CE-C58E-4044-AEB8-7A4D429649F5}"/>
              </a:ext>
            </a:extLst>
          </p:cNvPr>
          <p:cNvSpPr>
            <a:spLocks noGrp="1"/>
          </p:cNvSpPr>
          <p:nvPr/>
        </p:nvSpPr>
        <p:spPr>
          <a:xfrm>
            <a:off x="10180102" y="2571654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Dimension 1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→ * Fact Cross-filter direction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: Single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ED44A38-F62A-4098-AB21-EF4BCC44D3AA}"/>
              </a:ext>
            </a:extLst>
          </p:cNvPr>
          <p:cNvSpPr>
            <a:spLocks noGrp="1"/>
          </p:cNvSpPr>
          <p:nvPr/>
        </p:nvSpPr>
        <p:spPr>
          <a:xfrm>
            <a:off x="10153650" y="3492343"/>
            <a:ext cx="19907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F14BE7-E4A4-4303-BD07-0600B7A382A3}"/>
              </a:ext>
            </a:extLst>
          </p:cNvPr>
          <p:cNvSpPr>
            <a:spLocks noGrp="1"/>
          </p:cNvSpPr>
          <p:nvPr/>
        </p:nvSpPr>
        <p:spPr>
          <a:xfrm>
            <a:off x="10153650" y="3492343"/>
            <a:ext cx="47625" cy="1143000"/>
          </a:xfrm>
          <a:prstGeom prst="rect">
            <a:avLst/>
          </a:prstGeom>
          <a:solidFill>
            <a:srgbClr val="7E334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7ADC7C-A478-4864-8613-F608A3CCD41D}"/>
              </a:ext>
            </a:extLst>
          </p:cNvPr>
          <p:cNvSpPr>
            <a:spLocks noGrp="1"/>
          </p:cNvSpPr>
          <p:nvPr/>
        </p:nvSpPr>
        <p:spPr>
          <a:xfrm>
            <a:off x="10180102" y="3681225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7E3344"/>
                </a:solidFill>
              </a:defRPr>
            </a:pPr>
            <a:r>
              <a:rPr sz="1275" b="1">
                <a:solidFill>
                  <a:srgbClr val="7E3344"/>
                </a:solidFill>
              </a:rPr>
              <a:t>Role-playing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376698-C380-4BEC-81E2-A1741936105E}"/>
              </a:ext>
            </a:extLst>
          </p:cNvPr>
          <p:cNvSpPr>
            <a:spLocks noGrp="1"/>
          </p:cNvSpPr>
          <p:nvPr/>
        </p:nvSpPr>
        <p:spPr>
          <a:xfrm>
            <a:off x="10180102" y="3976500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Payment và receiving currency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được tách vai trò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endParaRPr sz="1125" b="0">
              <a:solidFill>
                <a:srgbClr val="2A1D2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86704F-0901-4C12-B2E7-5A3DC8AD4DDB}"/>
              </a:ext>
            </a:extLst>
          </p:cNvPr>
          <p:cNvSpPr>
            <a:spLocks noGrp="1"/>
          </p:cNvSpPr>
          <p:nvPr/>
        </p:nvSpPr>
        <p:spPr>
          <a:xfrm>
            <a:off x="10153650" y="4844893"/>
            <a:ext cx="19907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54FAC-FBAF-4588-9E1B-2320543B3894}"/>
              </a:ext>
            </a:extLst>
          </p:cNvPr>
          <p:cNvSpPr>
            <a:spLocks noGrp="1"/>
          </p:cNvSpPr>
          <p:nvPr/>
        </p:nvSpPr>
        <p:spPr>
          <a:xfrm>
            <a:off x="10153650" y="4844893"/>
            <a:ext cx="47625" cy="1143000"/>
          </a:xfrm>
          <a:prstGeom prst="rect">
            <a:avLst/>
          </a:prstGeom>
          <a:solidFill>
            <a:srgbClr val="C73C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E57A09-93F6-4657-BF37-3743F056DE7A}"/>
              </a:ext>
            </a:extLst>
          </p:cNvPr>
          <p:cNvSpPr>
            <a:spLocks noGrp="1"/>
          </p:cNvSpPr>
          <p:nvPr/>
        </p:nvSpPr>
        <p:spPr>
          <a:xfrm>
            <a:off x="10180102" y="4981479"/>
            <a:ext cx="251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C73C4A"/>
                </a:solidFill>
              </a:defRPr>
            </a:pPr>
            <a:r>
              <a:rPr sz="1275" b="1">
                <a:solidFill>
                  <a:srgbClr val="C73C4A"/>
                </a:solidFill>
              </a:rPr>
              <a:t>Giảm sai lệch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93A0E-5725-407B-B0A5-9F555E8C6B96}"/>
              </a:ext>
            </a:extLst>
          </p:cNvPr>
          <p:cNvSpPr>
            <a:spLocks noGrp="1"/>
          </p:cNvSpPr>
          <p:nvPr/>
        </p:nvSpPr>
        <p:spPr>
          <a:xfrm>
            <a:off x="10180102" y="5276754"/>
            <a:ext cx="2514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Không tạo fact-to-fact 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Relationship, ẩn surrogate keys</a:t>
            </a:r>
          </a:p>
        </p:txBody>
      </p:sp>
    </p:spTree>
    <p:extLst>
      <p:ext uri="{BB962C8B-B14F-4D97-AF65-F5344CB8AC3E}">
        <p14:creationId xmlns:p14="http://schemas.microsoft.com/office/powerpoint/2010/main" val="1035314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3850B00-BB50-43C6-BF7A-9DD894D1D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34B415-CED2-4E36-896F-158F6491D3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THIẾT KẾ DIMENSION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C4249F-C512-421B-A044-B0879DE585D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Account dùng SCD Type 2 để lưu đúng lịch sử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DD3547-4680-44FA-933A-500D5FA1144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56341-1C64-4CB7-82C2-15A70F1125D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71782-B040-4392-9D01-25F5CBF89900}"/>
              </a:ext>
            </a:extLst>
          </p:cNvPr>
          <p:cNvSpPr>
            <a:spLocks noGrp="1"/>
          </p:cNvSpPr>
          <p:nvPr/>
        </p:nvSpPr>
        <p:spPr>
          <a:xfrm>
            <a:off x="781050" y="15621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B0B13"/>
                </a:solidFill>
              </a:defRPr>
            </a:pPr>
            <a:r>
              <a:rPr sz="1650" b="1">
                <a:solidFill>
                  <a:srgbClr val="3B0B13"/>
                </a:solidFill>
              </a:rPr>
              <a:t>Business key: (bank_id, account_number)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0F9D6C-FAA0-48D5-96D3-BC262A7C5BB0}"/>
              </a:ext>
            </a:extLst>
          </p:cNvPr>
          <p:cNvSpPr>
            <a:spLocks noGrp="1"/>
          </p:cNvSpPr>
          <p:nvPr/>
        </p:nvSpPr>
        <p:spPr>
          <a:xfrm>
            <a:off x="1104900" y="2705100"/>
            <a:ext cx="9620250" cy="571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9294C5-B039-4D43-A019-E41DD0FA0E2C}"/>
              </a:ext>
            </a:extLst>
          </p:cNvPr>
          <p:cNvSpPr>
            <a:spLocks noGrp="1"/>
          </p:cNvSpPr>
          <p:nvPr/>
        </p:nvSpPr>
        <p:spPr>
          <a:xfrm>
            <a:off x="1809750" y="2533650"/>
            <a:ext cx="381000" cy="381000"/>
          </a:xfrm>
          <a:prstGeom prst="ellipse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C5B436-EB07-4610-A73A-3689C3B23F86}"/>
              </a:ext>
            </a:extLst>
          </p:cNvPr>
          <p:cNvSpPr>
            <a:spLocks noGrp="1"/>
          </p:cNvSpPr>
          <p:nvPr/>
        </p:nvSpPr>
        <p:spPr>
          <a:xfrm>
            <a:off x="1809750" y="26193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13415BC-5B82-4313-8323-595D9C2065AD}"/>
              </a:ext>
            </a:extLst>
          </p:cNvPr>
          <p:cNvSpPr>
            <a:spLocks noGrp="1"/>
          </p:cNvSpPr>
          <p:nvPr/>
        </p:nvSpPr>
        <p:spPr>
          <a:xfrm>
            <a:off x="4953000" y="2533650"/>
            <a:ext cx="381000" cy="381000"/>
          </a:xfrm>
          <a:prstGeom prst="ellipse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E10661-E1F6-4515-A8EA-DC0AFA9028B4}"/>
              </a:ext>
            </a:extLst>
          </p:cNvPr>
          <p:cNvSpPr>
            <a:spLocks noGrp="1"/>
          </p:cNvSpPr>
          <p:nvPr/>
        </p:nvSpPr>
        <p:spPr>
          <a:xfrm>
            <a:off x="4953000" y="26193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272E8A-4005-44BE-9850-563C4EC53826}"/>
              </a:ext>
            </a:extLst>
          </p:cNvPr>
          <p:cNvSpPr>
            <a:spLocks noGrp="1"/>
          </p:cNvSpPr>
          <p:nvPr/>
        </p:nvSpPr>
        <p:spPr>
          <a:xfrm>
            <a:off x="8096250" y="2533650"/>
            <a:ext cx="381000" cy="381000"/>
          </a:xfrm>
          <a:prstGeom prst="ellipse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6D4B5A-7416-4695-89C6-68709B055F27}"/>
              </a:ext>
            </a:extLst>
          </p:cNvPr>
          <p:cNvSpPr>
            <a:spLocks noGrp="1"/>
          </p:cNvSpPr>
          <p:nvPr/>
        </p:nvSpPr>
        <p:spPr>
          <a:xfrm>
            <a:off x="8096250" y="2619375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CB4580-B28A-4E95-AF39-B25974C72C02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2857500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5091F6-7004-419A-A893-B63853978DA1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47625" cy="1466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19E766-6609-4B60-9C5A-4CF61481D809}"/>
              </a:ext>
            </a:extLst>
          </p:cNvPr>
          <p:cNvSpPr>
            <a:spLocks noGrp="1"/>
          </p:cNvSpPr>
          <p:nvPr/>
        </p:nvSpPr>
        <p:spPr>
          <a:xfrm>
            <a:off x="1104900" y="3295650"/>
            <a:ext cx="2533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Version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4ECFBD-FB3E-49CA-A36C-140B8DCA4DC5}"/>
              </a:ext>
            </a:extLst>
          </p:cNvPr>
          <p:cNvSpPr>
            <a:spLocks noGrp="1"/>
          </p:cNvSpPr>
          <p:nvPr/>
        </p:nvSpPr>
        <p:spPr>
          <a:xfrm>
            <a:off x="1104900" y="3590925"/>
            <a:ext cx="2533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Hiệu lực từ T1 đến trước T2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is_current = false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F86F85F-B8A0-40FB-896C-0B867138AB40}"/>
              </a:ext>
            </a:extLst>
          </p:cNvPr>
          <p:cNvSpPr>
            <a:spLocks noGrp="1"/>
          </p:cNvSpPr>
          <p:nvPr/>
        </p:nvSpPr>
        <p:spPr>
          <a:xfrm>
            <a:off x="4057650" y="3143250"/>
            <a:ext cx="2857500" cy="1466850"/>
          </a:xfrm>
          <a:prstGeom prst="roundRect">
            <a:avLst>
              <a:gd name="adj" fmla="val 7792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4C67A3-5A9F-4AB9-BAD4-EC888F83E0F3}"/>
              </a:ext>
            </a:extLst>
          </p:cNvPr>
          <p:cNvSpPr>
            <a:spLocks noGrp="1"/>
          </p:cNvSpPr>
          <p:nvPr/>
        </p:nvSpPr>
        <p:spPr>
          <a:xfrm>
            <a:off x="4057650" y="3143250"/>
            <a:ext cx="47625" cy="14668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B417E0-D414-4FD1-859E-0DA6C1E3C332}"/>
              </a:ext>
            </a:extLst>
          </p:cNvPr>
          <p:cNvSpPr>
            <a:spLocks noGrp="1"/>
          </p:cNvSpPr>
          <p:nvPr/>
        </p:nvSpPr>
        <p:spPr>
          <a:xfrm>
            <a:off x="4248150" y="3295650"/>
            <a:ext cx="2533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600" b="1">
                <a:solidFill>
                  <a:srgbClr val="B77A23"/>
                </a:solidFill>
              </a:rPr>
              <a:t>Thay đổi thuộc tính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2B8398-E4B6-4FCB-AB59-8DCBEFA16849}"/>
              </a:ext>
            </a:extLst>
          </p:cNvPr>
          <p:cNvSpPr>
            <a:spLocks noGrp="1"/>
          </p:cNvSpPr>
          <p:nvPr/>
        </p:nvSpPr>
        <p:spPr>
          <a:xfrm>
            <a:off x="4248150" y="3590925"/>
            <a:ext cx="25336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Đóng version cũ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Tạo surrogate key mới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B35D10-27E3-4FF7-876D-EDC183AC49CA}"/>
              </a:ext>
            </a:extLst>
          </p:cNvPr>
          <p:cNvSpPr>
            <a:spLocks noGrp="1"/>
          </p:cNvSpPr>
          <p:nvPr/>
        </p:nvSpPr>
        <p:spPr>
          <a:xfrm>
            <a:off x="7200900" y="3143250"/>
            <a:ext cx="3524250" cy="1466850"/>
          </a:xfrm>
          <a:prstGeom prst="roundRect">
            <a:avLst>
              <a:gd name="adj" fmla="val 7792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60745F-FA7F-4989-8D01-23B8AC698AAF}"/>
              </a:ext>
            </a:extLst>
          </p:cNvPr>
          <p:cNvSpPr>
            <a:spLocks noGrp="1"/>
          </p:cNvSpPr>
          <p:nvPr/>
        </p:nvSpPr>
        <p:spPr>
          <a:xfrm>
            <a:off x="7200900" y="3143250"/>
            <a:ext cx="47625" cy="1466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DB7F89-0366-4FBF-850C-EAD4D5F1E7CF}"/>
              </a:ext>
            </a:extLst>
          </p:cNvPr>
          <p:cNvSpPr>
            <a:spLocks noGrp="1"/>
          </p:cNvSpPr>
          <p:nvPr/>
        </p:nvSpPr>
        <p:spPr>
          <a:xfrm>
            <a:off x="7391400" y="3295650"/>
            <a:ext cx="320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Version 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760ABD-2BBD-47AF-A7DE-9916197ED7A1}"/>
              </a:ext>
            </a:extLst>
          </p:cNvPr>
          <p:cNvSpPr>
            <a:spLocks noGrp="1"/>
          </p:cNvSpPr>
          <p:nvPr/>
        </p:nvSpPr>
        <p:spPr>
          <a:xfrm>
            <a:off x="7391400" y="3590925"/>
            <a:ext cx="3200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Hiệu lực từ T2 đến 9999-12-31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600" b="0">
                <a:solidFill>
                  <a:srgbClr val="2A1D21"/>
                </a:solidFill>
              </a:rPr>
              <a:t>is_current = true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C41F95-09C8-4840-AA52-B6BF191649E7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981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>
                <a:solidFill>
                  <a:srgbClr val="3B0B13"/>
                </a:solidFill>
              </a:defRPr>
            </a:pPr>
            <a:r>
              <a:rPr sz="1500" b="1">
                <a:solidFill>
                  <a:srgbClr val="3B0B13"/>
                </a:solidFill>
              </a:rPr>
              <a:t>Kiểm soát bắt buộc: không overlap effective range và chỉ có một current row cho mỗi business key</a:t>
            </a:r>
          </a:p>
        </p:txBody>
      </p:sp>
    </p:spTree>
    <p:extLst>
      <p:ext uri="{BB962C8B-B14F-4D97-AF65-F5344CB8AC3E}">
        <p14:creationId xmlns:p14="http://schemas.microsoft.com/office/powerpoint/2010/main" val="909724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DF196CC-2358-428B-8C0A-3F5B6A62E9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7D39D-9D8B-42EF-A5C7-DE8F52E699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2: ETL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A9DADD-284F-40B8-A647-52E703D4E4A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Pipeline tách rõ extract, chuẩn hóa, dimension, fact và mart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60378-0E61-4F13-AA89-E009E6DCF28C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1D254-1AD4-4FE1-84B2-43DC76FA430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70BFAE-7D6E-49E3-A4D6-BEAE31320447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2D9DC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798E-37BA-46AC-B47B-678AC0AFAA51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Extract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522B6-5365-498C-AA0F-574194AEF15D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Source views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Batch metadata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B54627-AB46-4630-90B8-98389DB05A74}"/>
              </a:ext>
            </a:extLst>
          </p:cNvPr>
          <p:cNvSpPr>
            <a:spLocks noGrp="1"/>
          </p:cNvSpPr>
          <p:nvPr/>
        </p:nvSpPr>
        <p:spPr>
          <a:xfrm>
            <a:off x="24955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10449E4-593E-46ED-9431-6E2E6A3BA7CB}"/>
              </a:ext>
            </a:extLst>
          </p:cNvPr>
          <p:cNvSpPr>
            <a:spLocks noGrp="1"/>
          </p:cNvSpPr>
          <p:nvPr/>
        </p:nvSpPr>
        <p:spPr>
          <a:xfrm>
            <a:off x="28956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1EAEB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6E0CD-DFCF-4153-8D11-24C24501123D}"/>
              </a:ext>
            </a:extLst>
          </p:cNvPr>
          <p:cNvSpPr>
            <a:spLocks noGrp="1"/>
          </p:cNvSpPr>
          <p:nvPr/>
        </p:nvSpPr>
        <p:spPr>
          <a:xfrm>
            <a:off x="30289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Staging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AAFDD-001A-4A4D-8530-A8351A5B7274}"/>
              </a:ext>
            </a:extLst>
          </p:cNvPr>
          <p:cNvSpPr>
            <a:spLocks noGrp="1"/>
          </p:cNvSpPr>
          <p:nvPr/>
        </p:nvSpPr>
        <p:spPr>
          <a:xfrm>
            <a:off x="30289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Chuẩn hóa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Validation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BDDC0A-0354-453B-B7BE-6793A2ACDCBB}"/>
              </a:ext>
            </a:extLst>
          </p:cNvPr>
          <p:cNvSpPr>
            <a:spLocks noGrp="1"/>
          </p:cNvSpPr>
          <p:nvPr/>
        </p:nvSpPr>
        <p:spPr>
          <a:xfrm>
            <a:off x="46863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D292D9-6984-4E53-B117-7734833638A7}"/>
              </a:ext>
            </a:extLst>
          </p:cNvPr>
          <p:cNvSpPr>
            <a:spLocks noGrp="1"/>
          </p:cNvSpPr>
          <p:nvPr/>
        </p:nvSpPr>
        <p:spPr>
          <a:xfrm>
            <a:off x="50863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04FB4E-1B0C-4008-A706-4BCC92339271}"/>
              </a:ext>
            </a:extLst>
          </p:cNvPr>
          <p:cNvSpPr>
            <a:spLocks noGrp="1"/>
          </p:cNvSpPr>
          <p:nvPr/>
        </p:nvSpPr>
        <p:spPr>
          <a:xfrm>
            <a:off x="52197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Dimensions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FCAF7-9533-4564-8383-1B9CC5001AC5}"/>
              </a:ext>
            </a:extLst>
          </p:cNvPr>
          <p:cNvSpPr>
            <a:spLocks noGrp="1"/>
          </p:cNvSpPr>
          <p:nvPr/>
        </p:nvSpPr>
        <p:spPr>
          <a:xfrm>
            <a:off x="52197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Type 1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SCD Type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A1BDD-7B3F-45F1-8108-D5844981DE13}"/>
              </a:ext>
            </a:extLst>
          </p:cNvPr>
          <p:cNvSpPr>
            <a:spLocks noGrp="1"/>
          </p:cNvSpPr>
          <p:nvPr/>
        </p:nvSpPr>
        <p:spPr>
          <a:xfrm>
            <a:off x="687705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4CC88F-232F-4C28-8765-DC11D47F1644}"/>
              </a:ext>
            </a:extLst>
          </p:cNvPr>
          <p:cNvSpPr>
            <a:spLocks noGrp="1"/>
          </p:cNvSpPr>
          <p:nvPr/>
        </p:nvSpPr>
        <p:spPr>
          <a:xfrm>
            <a:off x="727710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F9E6E8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BBA69-7B39-4118-A62B-435E2338EFC9}"/>
              </a:ext>
            </a:extLst>
          </p:cNvPr>
          <p:cNvSpPr>
            <a:spLocks noGrp="1"/>
          </p:cNvSpPr>
          <p:nvPr/>
        </p:nvSpPr>
        <p:spPr>
          <a:xfrm>
            <a:off x="741045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Facts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60FBDC-61C9-4FA6-AECD-691A2110C95A}"/>
              </a:ext>
            </a:extLst>
          </p:cNvPr>
          <p:cNvSpPr>
            <a:spLocks noGrp="1"/>
          </p:cNvSpPr>
          <p:nvPr/>
        </p:nvSpPr>
        <p:spPr>
          <a:xfrm>
            <a:off x="741045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Lookup SK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Lineage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A36020-F000-4C35-9D9E-F73B28EA4A39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4F83F83-123B-4343-9E9C-AA6BB6CAF1D1}"/>
              </a:ext>
            </a:extLst>
          </p:cNvPr>
          <p:cNvSpPr>
            <a:spLocks noGrp="1"/>
          </p:cNvSpPr>
          <p:nvPr/>
        </p:nvSpPr>
        <p:spPr>
          <a:xfrm>
            <a:off x="9467850" y="2000250"/>
            <a:ext cx="1714500" cy="1104900"/>
          </a:xfrm>
          <a:prstGeom prst="roundRect">
            <a:avLst>
              <a:gd name="adj" fmla="val 10345"/>
            </a:avLst>
          </a:prstGeom>
          <a:solidFill>
            <a:srgbClr val="E6F6F4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A8A646-A0AE-4170-9588-6F8DE77CFABC}"/>
              </a:ext>
            </a:extLst>
          </p:cNvPr>
          <p:cNvSpPr>
            <a:spLocks noGrp="1"/>
          </p:cNvSpPr>
          <p:nvPr/>
        </p:nvSpPr>
        <p:spPr>
          <a:xfrm>
            <a:off x="9601200" y="215265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3B0B13"/>
                </a:solidFill>
              </a:defRPr>
            </a:pPr>
            <a:r>
              <a:rPr sz="1400" b="1">
                <a:solidFill>
                  <a:srgbClr val="3B0B13"/>
                </a:solidFill>
              </a:rPr>
              <a:t>Marts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7A0BDA-04CD-43DF-B8F0-ABA30E3C4A4F}"/>
              </a:ext>
            </a:extLst>
          </p:cNvPr>
          <p:cNvSpPr>
            <a:spLocks noGrp="1"/>
          </p:cNvSpPr>
          <p:nvPr/>
        </p:nvSpPr>
        <p:spPr>
          <a:xfrm>
            <a:off x="9601200" y="2447925"/>
            <a:ext cx="1447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Aggregate</a:t>
            </a:r>
          </a:p>
          <a:p>
            <a:pPr algn="ctr">
              <a:buNone/>
              <a:defRPr sz="975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Refresh views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10DCEB-EBA7-4A79-B2A1-64111EF9A5D3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8444E6-F22E-4B93-9A0B-D9EA0280FEDE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47625" cy="14287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CB9923-43B2-455D-919E-DD37D63925BE}"/>
              </a:ext>
            </a:extLst>
          </p:cNvPr>
          <p:cNvSpPr>
            <a:spLocks noGrp="1"/>
          </p:cNvSpPr>
          <p:nvPr/>
        </p:nvSpPr>
        <p:spPr>
          <a:xfrm>
            <a:off x="895350" y="38671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FULL load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3D058A-CC86-4571-A09A-CAFD39FAE416}"/>
              </a:ext>
            </a:extLst>
          </p:cNvPr>
          <p:cNvSpPr>
            <a:spLocks noGrp="1"/>
          </p:cNvSpPr>
          <p:nvPr/>
        </p:nvSpPr>
        <p:spPr>
          <a:xfrm>
            <a:off x="895350" y="41624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Dùng cho lần xây đầu tiên hoặc rebuild có chủ đích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Vẫn giữ control table và validation sau load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5A3039-B77C-4FC7-9AE8-51B831CB540E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9911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B93243-CBFD-4C30-832B-898782AAAE34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47625" cy="14287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D729B57-B4D6-46C7-B0B5-9A514115C735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466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INCREMENTAL load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A1B4FF-3F9C-4F2E-B81A-8C340370E768}"/>
              </a:ext>
            </a:extLst>
          </p:cNvPr>
          <p:cNvSpPr>
            <a:spLocks noGrp="1"/>
          </p:cNvSpPr>
          <p:nvPr/>
        </p:nvSpPr>
        <p:spPr>
          <a:xfrm>
            <a:off x="6381750" y="4162425"/>
            <a:ext cx="4667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Dùng watermark/source key, chỉ nạp phần mới</a:t>
            </a:r>
          </a:p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>
                <a:solidFill>
                  <a:srgbClr val="2A1D21"/>
                </a:solidFill>
              </a:rPr>
              <a:t>K</a:t>
            </a:r>
            <a:r>
              <a:rPr sz="1400" b="0">
                <a:solidFill>
                  <a:srgbClr val="2A1D21"/>
                </a:solidFill>
              </a:rPr>
              <a:t>hóa và ON CONFLICT bảo vệ khi chạy lại</a:t>
            </a:r>
          </a:p>
        </p:txBody>
      </p:sp>
    </p:spTree>
    <p:extLst>
      <p:ext uri="{BB962C8B-B14F-4D97-AF65-F5344CB8AC3E}">
        <p14:creationId xmlns:p14="http://schemas.microsoft.com/office/powerpoint/2010/main" val="368214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3E15603-14CA-44F2-A8AD-5B7799267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D38EF2-FB6F-443B-976C-75D06F7FB7F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KIỂM SOÁT ETL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BD138-FB3C-45A6-9C78-57905F23E97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Chạy lại cùng input không tạo thêm fact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7E1718-7F7C-486F-9DD2-0F879099CBE9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9A994-2F91-4B60-BF05-79584B4D6942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55ECD3-7669-41AA-B88F-CCE5A85C1003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2857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D5267-9586-4103-855A-EEEB64D9A657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47625" cy="1085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EAA125-346F-4973-B17E-B4713AEDBE42}"/>
              </a:ext>
            </a:extLst>
          </p:cNvPr>
          <p:cNvSpPr>
            <a:spLocks noGrp="1"/>
          </p:cNvSpPr>
          <p:nvPr/>
        </p:nvSpPr>
        <p:spPr>
          <a:xfrm>
            <a:off x="990600" y="17335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2325" b="1">
                <a:solidFill>
                  <a:srgbClr val="B52B3A"/>
                </a:solidFill>
              </a:rPr>
              <a:t>31.898.238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AED56E-6A52-4FCA-8B9E-D29E89B798F2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Fact sau FULL 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EE849B-93E3-465D-BCC3-29241C3EA90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batch đầu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F65E2B9-EF7D-4480-B162-EAC789927BA7}"/>
              </a:ext>
            </a:extLst>
          </p:cNvPr>
          <p:cNvSpPr>
            <a:spLocks noGrp="1"/>
          </p:cNvSpPr>
          <p:nvPr/>
        </p:nvSpPr>
        <p:spPr>
          <a:xfrm>
            <a:off x="4667250" y="1562100"/>
            <a:ext cx="2857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D768B3-2AAA-4AE6-BCFD-053C127BE14C}"/>
              </a:ext>
            </a:extLst>
          </p:cNvPr>
          <p:cNvSpPr>
            <a:spLocks noGrp="1"/>
          </p:cNvSpPr>
          <p:nvPr/>
        </p:nvSpPr>
        <p:spPr>
          <a:xfrm>
            <a:off x="4667250" y="1562100"/>
            <a:ext cx="47625" cy="1085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C4E30-23F4-4A43-BE6B-8B387A620F71}"/>
              </a:ext>
            </a:extLst>
          </p:cNvPr>
          <p:cNvSpPr>
            <a:spLocks noGrp="1"/>
          </p:cNvSpPr>
          <p:nvPr/>
        </p:nvSpPr>
        <p:spPr>
          <a:xfrm>
            <a:off x="4857750" y="17335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2325" b="1">
                <a:solidFill>
                  <a:srgbClr val="9F1D2D"/>
                </a:solidFill>
              </a:rPr>
              <a:t>31.898.238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FD95A-BD36-4EA4-8BC4-AFE08FCA97F7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Sau INCREMENTAL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ED3EA6-13DB-444A-B6E5-BDE999C952FF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 row mới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40944C2-28C3-4F9D-8A37-A5DF430DABBC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857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029F73-9DE1-460D-9909-D88E812AC7A1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47625" cy="10858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CAF2D-3D1E-4352-8043-C6BB9B398475}"/>
              </a:ext>
            </a:extLst>
          </p:cNvPr>
          <p:cNvSpPr>
            <a:spLocks noGrp="1"/>
          </p:cNvSpPr>
          <p:nvPr/>
        </p:nvSpPr>
        <p:spPr>
          <a:xfrm>
            <a:off x="8724900" y="173355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2325" b="1">
                <a:solidFill>
                  <a:srgbClr val="14804A"/>
                </a:solidFill>
              </a:rPr>
              <a:t>31.898.238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D7371F-EC40-4E3C-B4C6-963E76091E9A}"/>
              </a:ext>
            </a:extLst>
          </p:cNvPr>
          <p:cNvSpPr>
            <a:spLocks noGrp="1"/>
          </p:cNvSpPr>
          <p:nvPr/>
        </p:nvSpPr>
        <p:spPr>
          <a:xfrm>
            <a:off x="8724900" y="2152650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Sau FULL re-run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AAFEC8-7802-4201-A12D-3F3E59ABAC92}"/>
              </a:ext>
            </a:extLst>
          </p:cNvPr>
          <p:cNvSpPr>
            <a:spLocks noGrp="1"/>
          </p:cNvSpPr>
          <p:nvPr/>
        </p:nvSpPr>
        <p:spPr>
          <a:xfrm>
            <a:off x="8724900" y="2400300"/>
            <a:ext cx="2533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0 duplicate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31D9EC-C09C-442B-9794-B687183A7DF6}"/>
              </a:ext>
            </a:extLst>
          </p:cNvPr>
          <p:cNvSpPr>
            <a:spLocks noGrp="1"/>
          </p:cNvSpPr>
          <p:nvPr/>
        </p:nvSpPr>
        <p:spPr>
          <a:xfrm>
            <a:off x="3867150" y="19621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21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219E9-CF48-4395-BCCD-D27F78F1D980}"/>
              </a:ext>
            </a:extLst>
          </p:cNvPr>
          <p:cNvSpPr>
            <a:spLocks noGrp="1"/>
          </p:cNvSpPr>
          <p:nvPr/>
        </p:nvSpPr>
        <p:spPr>
          <a:xfrm>
            <a:off x="7734300" y="19621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9F1D2D"/>
                </a:solidFill>
              </a:defRPr>
            </a:pPr>
            <a:r>
              <a:rPr sz="2100" b="1">
                <a:solidFill>
                  <a:srgbClr val="9F1D2D"/>
                </a:solidFill>
              </a:rP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D7C7D98-2385-44C9-964E-BAE7D4D6A79D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4953000" cy="16764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BD7E6-CF58-48D6-99F6-8017AE98DC5F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47625" cy="16764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88E219-EF50-45FE-938D-58572AAFD594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9F1D2D"/>
                </a:solidFill>
              </a:defRPr>
            </a:pPr>
            <a:r>
              <a:rPr sz="1275" b="1">
                <a:solidFill>
                  <a:srgbClr val="9F1D2D"/>
                </a:solidFill>
              </a:rPr>
              <a:t>Cơ chế bảo vệ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AF22CB-6557-4CAE-B181-39C6CBF08736}"/>
              </a:ext>
            </a:extLst>
          </p:cNvPr>
          <p:cNvSpPr>
            <a:spLocks noGrp="1"/>
          </p:cNvSpPr>
          <p:nvPr/>
        </p:nvSpPr>
        <p:spPr>
          <a:xfrm>
            <a:off x="990600" y="3629025"/>
            <a:ext cx="46291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Natural/source key duy nhất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ON CONFLICT xử lý re-run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Watermark xác định phần mới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dw_batch_id và source_load_batch_id lưu lineage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81AFC2F-EA06-4BF8-AE74-04A6D772AD03}"/>
              </a:ext>
            </a:extLst>
          </p:cNvPr>
          <p:cNvSpPr>
            <a:spLocks noGrp="1"/>
          </p:cNvSpPr>
          <p:nvPr/>
        </p:nvSpPr>
        <p:spPr>
          <a:xfrm>
            <a:off x="6210300" y="3181350"/>
            <a:ext cx="5181600" cy="1676400"/>
          </a:xfrm>
          <a:prstGeom prst="roundRect">
            <a:avLst>
              <a:gd name="adj" fmla="val 6818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AD4DC8-1502-4229-BA2D-5679EE085EC6}"/>
              </a:ext>
            </a:extLst>
          </p:cNvPr>
          <p:cNvSpPr>
            <a:spLocks noGrp="1"/>
          </p:cNvSpPr>
          <p:nvPr/>
        </p:nvSpPr>
        <p:spPr>
          <a:xfrm>
            <a:off x="6210300" y="3181350"/>
            <a:ext cx="47625" cy="167640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9B1E7D-EDB5-4A5B-AE2D-FEAEBAF88539}"/>
              </a:ext>
            </a:extLst>
          </p:cNvPr>
          <p:cNvSpPr>
            <a:spLocks noGrp="1"/>
          </p:cNvSpPr>
          <p:nvPr/>
        </p:nvSpPr>
        <p:spPr>
          <a:xfrm>
            <a:off x="6400800" y="333375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4804A"/>
                </a:solidFill>
              </a:defRPr>
            </a:pPr>
            <a:r>
              <a:rPr sz="1275" b="1">
                <a:solidFill>
                  <a:srgbClr val="14804A"/>
                </a:solidFill>
              </a:rPr>
              <a:t>Điều kiện PASS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A06EDD-4497-4BE2-99F2-7F2DDA01399F}"/>
              </a:ext>
            </a:extLst>
          </p:cNvPr>
          <p:cNvSpPr>
            <a:spLocks noGrp="1"/>
          </p:cNvSpPr>
          <p:nvPr/>
        </p:nvSpPr>
        <p:spPr>
          <a:xfrm>
            <a:off x="6400800" y="3629025"/>
            <a:ext cx="48577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>
                <a:solidFill>
                  <a:srgbClr val="2A1D21"/>
                </a:solidFill>
              </a:rPr>
              <a:t>f</a:t>
            </a:r>
            <a:r>
              <a:rPr sz="1200" b="0">
                <a:solidFill>
                  <a:srgbClr val="2A1D21"/>
                </a:solidFill>
              </a:rPr>
              <a:t>act count không đổi khi không có input mới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reconciliation giữ chênh lệch bằng 0</a:t>
            </a:r>
          </a:p>
          <a:p>
            <a:pPr marL="171450" indent="-171450" algn="l">
              <a:lnSpc>
                <a:spcPct val="150000"/>
              </a:lnSpc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200" b="0">
                <a:solidFill>
                  <a:srgbClr val="2A1D21"/>
                </a:solidFill>
              </a:rPr>
              <a:t>batch kết thúc ở trạng thái COMPLETED</a:t>
            </a:r>
          </a:p>
        </p:txBody>
      </p:sp>
    </p:spTree>
    <p:extLst>
      <p:ext uri="{BB962C8B-B14F-4D97-AF65-F5344CB8AC3E}">
        <p14:creationId xmlns:p14="http://schemas.microsoft.com/office/powerpoint/2010/main" val="31516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109AB75B-54D9-44EA-87BE-4DDA410458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54E2D-0931-42C0-BEDF-93E05FF14E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ĐỐI SOÁT DỮ LIỆU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1A8EE0-1493-4860-9971-1311FBC38B5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Số bản ghi khớp nhau qua ba lớp xử lý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F9A0E-0880-4349-B5CF-BC93B65EBD8D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D09F1D-09FB-4199-825E-67A08DE4C07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1D544D-B181-4A78-9D85-46F560A254D2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RAW SOURCE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504181-CE1E-478F-B603-7819B47B5CCA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2667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2C478F-DF5F-4C53-9E69-102E85FAE453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B52B3A"/>
                </a:solidFill>
              </a:defRPr>
            </a:pPr>
            <a:r>
              <a:rPr sz="2400" b="1">
                <a:solidFill>
                  <a:srgbClr val="B52B3A"/>
                </a:solidFill>
              </a:rPr>
              <a:t>31.898.238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6CB2C-DD3F-48CC-8707-023023722799}"/>
              </a:ext>
            </a:extLst>
          </p:cNvPr>
          <p:cNvSpPr>
            <a:spLocks noGrp="1"/>
          </p:cNvSpPr>
          <p:nvPr/>
        </p:nvSpPr>
        <p:spPr>
          <a:xfrm>
            <a:off x="990600" y="295275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Dữ liệu typed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308819-6771-4CEB-8177-63ED5D5DC749}"/>
              </a:ext>
            </a:extLst>
          </p:cNvPr>
          <p:cNvSpPr>
            <a:spLocks noGrp="1"/>
          </p:cNvSpPr>
          <p:nvPr/>
        </p:nvSpPr>
        <p:spPr>
          <a:xfrm>
            <a:off x="3657600" y="24765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9F1D2D"/>
                </a:solidFill>
              </a:defRPr>
            </a:pPr>
            <a:r>
              <a:rPr sz="2250" b="1">
                <a:solidFill>
                  <a:srgbClr val="9F1D2D"/>
                </a:solidFill>
              </a:rPr>
              <a:t>=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3B60F6-F079-4AE7-80D1-E8B18BEA7DDF}"/>
              </a:ext>
            </a:extLst>
          </p:cNvPr>
          <p:cNvSpPr>
            <a:spLocks noGrp="1"/>
          </p:cNvSpPr>
          <p:nvPr/>
        </p:nvSpPr>
        <p:spPr>
          <a:xfrm>
            <a:off x="4457700" y="16764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STAGING VALID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B62DE7-0A91-4153-8DDA-A2CABD2E1F56}"/>
              </a:ext>
            </a:extLst>
          </p:cNvPr>
          <p:cNvSpPr>
            <a:spLocks noGrp="1"/>
          </p:cNvSpPr>
          <p:nvPr/>
        </p:nvSpPr>
        <p:spPr>
          <a:xfrm>
            <a:off x="4457700" y="2114550"/>
            <a:ext cx="2667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FD4AEF-0BC0-4BC5-B5F5-7FCFF4AC6669}"/>
              </a:ext>
            </a:extLst>
          </p:cNvPr>
          <p:cNvSpPr>
            <a:spLocks noGrp="1"/>
          </p:cNvSpPr>
          <p:nvPr/>
        </p:nvSpPr>
        <p:spPr>
          <a:xfrm>
            <a:off x="4572000" y="240030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9F1D2D"/>
                </a:solidFill>
              </a:defRPr>
            </a:pPr>
            <a:r>
              <a:rPr sz="2400" b="1">
                <a:solidFill>
                  <a:srgbClr val="9F1D2D"/>
                </a:solidFill>
              </a:rPr>
              <a:t>31.898.238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B1DD78-BB33-47D3-B283-AC53861D0E7A}"/>
              </a:ext>
            </a:extLst>
          </p:cNvPr>
          <p:cNvSpPr>
            <a:spLocks noGrp="1"/>
          </p:cNvSpPr>
          <p:nvPr/>
        </p:nvSpPr>
        <p:spPr>
          <a:xfrm>
            <a:off x="4572000" y="295275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Sau validation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B150B1-B9D6-470B-A400-8AA2B55A9BF8}"/>
              </a:ext>
            </a:extLst>
          </p:cNvPr>
          <p:cNvSpPr>
            <a:spLocks noGrp="1"/>
          </p:cNvSpPr>
          <p:nvPr/>
        </p:nvSpPr>
        <p:spPr>
          <a:xfrm>
            <a:off x="7239000" y="24765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9F1D2D"/>
                </a:solidFill>
              </a:defRPr>
            </a:pPr>
            <a:r>
              <a:rPr sz="2250" b="1">
                <a:solidFill>
                  <a:srgbClr val="9F1D2D"/>
                </a:solidFill>
              </a:rPr>
              <a:t>=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077BAA-BE21-47A0-9D8D-F489FA8BBCEA}"/>
              </a:ext>
            </a:extLst>
          </p:cNvPr>
          <p:cNvSpPr>
            <a:spLocks noGrp="1"/>
          </p:cNvSpPr>
          <p:nvPr/>
        </p:nvSpPr>
        <p:spPr>
          <a:xfrm>
            <a:off x="8039100" y="1676400"/>
            <a:ext cx="2667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3B0B13"/>
                </a:solidFill>
              </a:defRPr>
            </a:pPr>
            <a:r>
              <a:rPr sz="1600" b="1">
                <a:solidFill>
                  <a:srgbClr val="3B0B13"/>
                </a:solidFill>
              </a:rPr>
              <a:t>FACT TRANSACTION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B84F7A1-CB56-4FC2-A1A8-6B7D195FCEAA}"/>
              </a:ext>
            </a:extLst>
          </p:cNvPr>
          <p:cNvSpPr>
            <a:spLocks noGrp="1"/>
          </p:cNvSpPr>
          <p:nvPr/>
        </p:nvSpPr>
        <p:spPr>
          <a:xfrm>
            <a:off x="8039100" y="2114550"/>
            <a:ext cx="26670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659901-00A1-42D6-9668-443DC9E2648F}"/>
              </a:ext>
            </a:extLst>
          </p:cNvPr>
          <p:cNvSpPr>
            <a:spLocks noGrp="1"/>
          </p:cNvSpPr>
          <p:nvPr/>
        </p:nvSpPr>
        <p:spPr>
          <a:xfrm>
            <a:off x="8153400" y="2400300"/>
            <a:ext cx="243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400" b="1">
                <a:solidFill>
                  <a:srgbClr val="3B0B13"/>
                </a:solidFill>
              </a:defRPr>
            </a:pPr>
            <a:r>
              <a:rPr sz="2400" b="1">
                <a:solidFill>
                  <a:srgbClr val="3B0B13"/>
                </a:solidFill>
              </a:rPr>
              <a:t>31.898.238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527543-889D-4DEE-BEA9-4C92CFF166E4}"/>
              </a:ext>
            </a:extLst>
          </p:cNvPr>
          <p:cNvSpPr>
            <a:spLocks noGrp="1"/>
          </p:cNvSpPr>
          <p:nvPr/>
        </p:nvSpPr>
        <p:spPr>
          <a:xfrm>
            <a:off x="8153400" y="2952750"/>
            <a:ext cx="2438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756268"/>
                </a:solidFill>
              </a:defRPr>
            </a:pPr>
            <a:r>
              <a:rPr sz="1400" b="0">
                <a:solidFill>
                  <a:srgbClr val="756268"/>
                </a:solidFill>
              </a:rPr>
              <a:t>Sau dimension lookup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CC5B6A-5012-4813-9189-A12B45D6C95D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982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3B0B13"/>
                </a:solidFill>
              </a:defRPr>
            </a:pPr>
            <a:r>
              <a:rPr sz="1650" b="1">
                <a:solidFill>
                  <a:srgbClr val="3B0B13"/>
                </a:solidFill>
              </a:rPr>
              <a:t>Các lỗi đều bằng 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E58E97-789E-4C95-9A7D-2871E30833A8}"/>
              </a:ext>
            </a:extLst>
          </p:cNvPr>
          <p:cNvSpPr>
            <a:spLocks noGrp="1"/>
          </p:cNvSpPr>
          <p:nvPr/>
        </p:nvSpPr>
        <p:spPr>
          <a:xfrm>
            <a:off x="876300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3AA1F4-7CDA-4A36-AA6D-629B72372390}"/>
              </a:ext>
            </a:extLst>
          </p:cNvPr>
          <p:cNvSpPr>
            <a:spLocks noGrp="1"/>
          </p:cNvSpPr>
          <p:nvPr/>
        </p:nvSpPr>
        <p:spPr>
          <a:xfrm>
            <a:off x="876300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4B09C6-A458-48A1-8206-BCB3733314A9}"/>
              </a:ext>
            </a:extLst>
          </p:cNvPr>
          <p:cNvSpPr>
            <a:spLocks noGrp="1"/>
          </p:cNvSpPr>
          <p:nvPr/>
        </p:nvSpPr>
        <p:spPr>
          <a:xfrm>
            <a:off x="952500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Invalid amount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1FE4BEE-E4DC-44D6-B969-5ED4DC66DCE8}"/>
              </a:ext>
            </a:extLst>
          </p:cNvPr>
          <p:cNvSpPr>
            <a:spLocks noGrp="1"/>
          </p:cNvSpPr>
          <p:nvPr/>
        </p:nvSpPr>
        <p:spPr>
          <a:xfrm>
            <a:off x="2847975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7F0DD6-CF27-431F-9532-BAC542E00A09}"/>
              </a:ext>
            </a:extLst>
          </p:cNvPr>
          <p:cNvSpPr>
            <a:spLocks noGrp="1"/>
          </p:cNvSpPr>
          <p:nvPr/>
        </p:nvSpPr>
        <p:spPr>
          <a:xfrm>
            <a:off x="2847975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26A7A2-AA39-4716-9BBF-91E916D56CE6}"/>
              </a:ext>
            </a:extLst>
          </p:cNvPr>
          <p:cNvSpPr>
            <a:spLocks noGrp="1"/>
          </p:cNvSpPr>
          <p:nvPr/>
        </p:nvSpPr>
        <p:spPr>
          <a:xfrm>
            <a:off x="2924175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Unknown lookup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B2F670A-241E-4AEF-ABE5-742025CB61F6}"/>
              </a:ext>
            </a:extLst>
          </p:cNvPr>
          <p:cNvSpPr>
            <a:spLocks noGrp="1"/>
          </p:cNvSpPr>
          <p:nvPr/>
        </p:nvSpPr>
        <p:spPr>
          <a:xfrm>
            <a:off x="4819650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BC530A-29B7-47B8-B728-53E45AD85091}"/>
              </a:ext>
            </a:extLst>
          </p:cNvPr>
          <p:cNvSpPr>
            <a:spLocks noGrp="1"/>
          </p:cNvSpPr>
          <p:nvPr/>
        </p:nvSpPr>
        <p:spPr>
          <a:xfrm>
            <a:off x="4819650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FC305A-35F7-48C2-8F6C-8677100A2444}"/>
              </a:ext>
            </a:extLst>
          </p:cNvPr>
          <p:cNvSpPr>
            <a:spLocks noGrp="1"/>
          </p:cNvSpPr>
          <p:nvPr/>
        </p:nvSpPr>
        <p:spPr>
          <a:xfrm>
            <a:off x="4895850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SCD overlap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C208559-81AA-453F-AF23-3D867EEA20B4}"/>
              </a:ext>
            </a:extLst>
          </p:cNvPr>
          <p:cNvSpPr>
            <a:spLocks noGrp="1"/>
          </p:cNvSpPr>
          <p:nvPr/>
        </p:nvSpPr>
        <p:spPr>
          <a:xfrm>
            <a:off x="6791325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727877-F9A2-4661-BBD4-491C2CE34ACA}"/>
              </a:ext>
            </a:extLst>
          </p:cNvPr>
          <p:cNvSpPr>
            <a:spLocks noGrp="1"/>
          </p:cNvSpPr>
          <p:nvPr/>
        </p:nvSpPr>
        <p:spPr>
          <a:xfrm>
            <a:off x="6791325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7E62E3-6CDB-4D3E-A65D-1C5AD785B653}"/>
              </a:ext>
            </a:extLst>
          </p:cNvPr>
          <p:cNvSpPr>
            <a:spLocks noGrp="1"/>
          </p:cNvSpPr>
          <p:nvPr/>
        </p:nvSpPr>
        <p:spPr>
          <a:xfrm>
            <a:off x="6867525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Duplicate current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A947222-48BA-4AFF-842D-61145D25D1A3}"/>
              </a:ext>
            </a:extLst>
          </p:cNvPr>
          <p:cNvSpPr>
            <a:spLocks noGrp="1"/>
          </p:cNvSpPr>
          <p:nvPr/>
        </p:nvSpPr>
        <p:spPr>
          <a:xfrm>
            <a:off x="8763000" y="4514850"/>
            <a:ext cx="1762125" cy="742950"/>
          </a:xfrm>
          <a:prstGeom prst="roundRect">
            <a:avLst>
              <a:gd name="adj" fmla="val 15385"/>
            </a:avLst>
          </a:prstGeom>
          <a:solidFill>
            <a:srgbClr val="E4F5EA"/>
          </a:solidFill>
          <a:ln w="9525">
            <a:solidFill>
              <a:srgbClr val="C5E7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74A172-371C-4290-8DD7-002EE9FC3E98}"/>
              </a:ext>
            </a:extLst>
          </p:cNvPr>
          <p:cNvSpPr>
            <a:spLocks noGrp="1"/>
          </p:cNvSpPr>
          <p:nvPr/>
        </p:nvSpPr>
        <p:spPr>
          <a:xfrm>
            <a:off x="8763000" y="4591050"/>
            <a:ext cx="1762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4804A"/>
                </a:solidFill>
              </a:defRPr>
            </a:pPr>
            <a:r>
              <a:rPr sz="1400" b="1">
                <a:solidFill>
                  <a:srgbClr val="14804A"/>
                </a:solidFill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400190-B34E-4651-BA35-0006486CA803}"/>
              </a:ext>
            </a:extLst>
          </p:cNvPr>
          <p:cNvSpPr>
            <a:spLocks noGrp="1"/>
          </p:cNvSpPr>
          <p:nvPr/>
        </p:nvSpPr>
        <p:spPr>
          <a:xfrm>
            <a:off x="8839200" y="4924425"/>
            <a:ext cx="16097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A1D21"/>
                </a:solidFill>
              </a:defRPr>
            </a:pPr>
            <a:r>
              <a:rPr sz="1400" b="1">
                <a:solidFill>
                  <a:srgbClr val="2A1D21"/>
                </a:solidFill>
              </a:rPr>
              <a:t>DW reject</a:t>
            </a:r>
          </a:p>
        </p:txBody>
      </p:sp>
    </p:spTree>
    <p:extLst>
      <p:ext uri="{BB962C8B-B14F-4D97-AF65-F5344CB8AC3E}">
        <p14:creationId xmlns:p14="http://schemas.microsoft.com/office/powerpoint/2010/main" val="90492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2613506-E681-4293-BEDB-8DDC6A4684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118103-A667-4F1A-97A2-2DCE54E090C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LỚP PHỤC VỤ BÁO CÁO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2FA12-D3C3-486F-A915-A0118F36BF4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Mart và reporting views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609394-D48E-4C0C-B57A-BA75FD9E0296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491882-86CD-47C6-BA12-CFE516FB7B23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FA1D84-1BC3-4753-B245-B4CD3FE41847}"/>
              </a:ext>
            </a:extLst>
          </p:cNvPr>
          <p:cNvSpPr>
            <a:spLocks noGrp="1"/>
          </p:cNvSpPr>
          <p:nvPr/>
        </p:nvSpPr>
        <p:spPr>
          <a:xfrm>
            <a:off x="12145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C63AF-7420-4A0E-ADF6-A50451BD9982}"/>
              </a:ext>
            </a:extLst>
          </p:cNvPr>
          <p:cNvSpPr>
            <a:spLocks noGrp="1"/>
          </p:cNvSpPr>
          <p:nvPr/>
        </p:nvSpPr>
        <p:spPr>
          <a:xfrm>
            <a:off x="1214554" y="1465567"/>
            <a:ext cx="49720" cy="12573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C5E39D-0396-4544-A0A4-C0FF2893C570}"/>
              </a:ext>
            </a:extLst>
          </p:cNvPr>
          <p:cNvSpPr>
            <a:spLocks noGrp="1"/>
          </p:cNvSpPr>
          <p:nvPr/>
        </p:nvSpPr>
        <p:spPr>
          <a:xfrm>
            <a:off x="14050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1600" b="1">
                <a:solidFill>
                  <a:srgbClr val="9F1D2D"/>
                </a:solidFill>
              </a:rPr>
              <a:t>7/7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EB52F-EF12-41F4-917E-81F10555E1D8}"/>
              </a:ext>
            </a:extLst>
          </p:cNvPr>
          <p:cNvSpPr>
            <a:spLocks noGrp="1"/>
          </p:cNvSpPr>
          <p:nvPr/>
        </p:nvSpPr>
        <p:spPr>
          <a:xfrm>
            <a:off x="14050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materialized views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6A4813-9504-4483-B4AD-DEA07C85BA6B}"/>
              </a:ext>
            </a:extLst>
          </p:cNvPr>
          <p:cNvSpPr>
            <a:spLocks noGrp="1"/>
          </p:cNvSpPr>
          <p:nvPr/>
        </p:nvSpPr>
        <p:spPr>
          <a:xfrm>
            <a:off x="14050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all populated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EBE7B7F-CCE8-4744-A8EB-C7388EC0912F}"/>
              </a:ext>
            </a:extLst>
          </p:cNvPr>
          <p:cNvSpPr>
            <a:spLocks noGrp="1"/>
          </p:cNvSpPr>
          <p:nvPr/>
        </p:nvSpPr>
        <p:spPr>
          <a:xfrm>
            <a:off x="37291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9138F-09F1-43AE-B096-1F0F655F5636}"/>
              </a:ext>
            </a:extLst>
          </p:cNvPr>
          <p:cNvSpPr>
            <a:spLocks noGrp="1"/>
          </p:cNvSpPr>
          <p:nvPr/>
        </p:nvSpPr>
        <p:spPr>
          <a:xfrm>
            <a:off x="3729154" y="1465567"/>
            <a:ext cx="49720" cy="125730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59721D-B400-477A-853D-0CC8249E2001}"/>
              </a:ext>
            </a:extLst>
          </p:cNvPr>
          <p:cNvSpPr>
            <a:spLocks noGrp="1"/>
          </p:cNvSpPr>
          <p:nvPr/>
        </p:nvSpPr>
        <p:spPr>
          <a:xfrm>
            <a:off x="39196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0033E1-AE8C-4D24-9E46-C207EB526F36}"/>
              </a:ext>
            </a:extLst>
          </p:cNvPr>
          <p:cNvSpPr>
            <a:spLocks noGrp="1"/>
          </p:cNvSpPr>
          <p:nvPr/>
        </p:nvSpPr>
        <p:spPr>
          <a:xfrm>
            <a:off x="39196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Power BI views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D7E06D-28F5-4122-B3B6-0CB1EA000181}"/>
              </a:ext>
            </a:extLst>
          </p:cNvPr>
          <p:cNvSpPr>
            <a:spLocks noGrp="1"/>
          </p:cNvSpPr>
          <p:nvPr/>
        </p:nvSpPr>
        <p:spPr>
          <a:xfrm>
            <a:off x="39196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reporting schema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75D69C-C4B6-4C5F-BF03-A2189687559D}"/>
              </a:ext>
            </a:extLst>
          </p:cNvPr>
          <p:cNvSpPr>
            <a:spLocks noGrp="1"/>
          </p:cNvSpPr>
          <p:nvPr/>
        </p:nvSpPr>
        <p:spPr>
          <a:xfrm>
            <a:off x="62437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1E88C7-2E53-46F7-83F4-5084CCAF93F8}"/>
              </a:ext>
            </a:extLst>
          </p:cNvPr>
          <p:cNvSpPr>
            <a:spLocks noGrp="1"/>
          </p:cNvSpPr>
          <p:nvPr/>
        </p:nvSpPr>
        <p:spPr>
          <a:xfrm>
            <a:off x="6243754" y="1465567"/>
            <a:ext cx="49720" cy="125730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11781C-DE98-42F2-AA5E-84D13488896B}"/>
              </a:ext>
            </a:extLst>
          </p:cNvPr>
          <p:cNvSpPr>
            <a:spLocks noGrp="1"/>
          </p:cNvSpPr>
          <p:nvPr/>
        </p:nvSpPr>
        <p:spPr>
          <a:xfrm>
            <a:off x="64342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77A23"/>
                </a:solidFill>
              </a:defRPr>
            </a:pPr>
            <a:r>
              <a:rPr sz="1600" b="1">
                <a:solidFill>
                  <a:srgbClr val="B77A23"/>
                </a:solidFill>
              </a:rPr>
              <a:t>4,618 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F8361D-98AF-47CD-8737-68F739CC6B7B}"/>
              </a:ext>
            </a:extLst>
          </p:cNvPr>
          <p:cNvSpPr>
            <a:spLocks noGrp="1"/>
          </p:cNvSpPr>
          <p:nvPr/>
        </p:nvSpPr>
        <p:spPr>
          <a:xfrm>
            <a:off x="64342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truy vấn chậm nhất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DC3A3C-18F4-45E8-B6BC-0DA731EB5506}"/>
              </a:ext>
            </a:extLst>
          </p:cNvPr>
          <p:cNvSpPr>
            <a:spLocks noGrp="1"/>
          </p:cNvSpPr>
          <p:nvPr/>
        </p:nvSpPr>
        <p:spPr>
          <a:xfrm>
            <a:off x="64342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vẫn dưới 5 ms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48FF50E-A18A-4DCE-B42E-D3307B92AAC2}"/>
              </a:ext>
            </a:extLst>
          </p:cNvPr>
          <p:cNvSpPr>
            <a:spLocks noGrp="1"/>
          </p:cNvSpPr>
          <p:nvPr/>
        </p:nvSpPr>
        <p:spPr>
          <a:xfrm>
            <a:off x="8758354" y="1465567"/>
            <a:ext cx="2426320" cy="12573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3699D-2503-464C-860F-39981EF52545}"/>
              </a:ext>
            </a:extLst>
          </p:cNvPr>
          <p:cNvSpPr>
            <a:spLocks noGrp="1"/>
          </p:cNvSpPr>
          <p:nvPr/>
        </p:nvSpPr>
        <p:spPr>
          <a:xfrm>
            <a:off x="8758354" y="1465567"/>
            <a:ext cx="49720" cy="125730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45C158-772E-4692-8A8C-7F9A7D43AFE2}"/>
              </a:ext>
            </a:extLst>
          </p:cNvPr>
          <p:cNvSpPr>
            <a:spLocks noGrp="1"/>
          </p:cNvSpPr>
          <p:nvPr/>
        </p:nvSpPr>
        <p:spPr>
          <a:xfrm>
            <a:off x="8948854" y="1637017"/>
            <a:ext cx="2088226" cy="441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14804A"/>
                </a:solidFill>
              </a:defRPr>
            </a:pPr>
            <a:r>
              <a:rPr sz="1600" b="1">
                <a:solidFill>
                  <a:srgbClr val="14804A"/>
                </a:solidFill>
              </a:rPr>
              <a:t>0,009 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C6FBA2-D791-46B1-9234-9228CDA419BB}"/>
              </a:ext>
            </a:extLst>
          </p:cNvPr>
          <p:cNvSpPr>
            <a:spLocks noGrp="1"/>
          </p:cNvSpPr>
          <p:nvPr/>
        </p:nvSpPr>
        <p:spPr>
          <a:xfrm>
            <a:off x="8948854" y="2056116"/>
            <a:ext cx="2088226" cy="264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600" b="1">
                <a:solidFill>
                  <a:srgbClr val="2A1D21"/>
                </a:solidFill>
              </a:rPr>
              <a:t>truy vấn nhanh nhất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E30E35-7762-4FDA-9E14-75743C2E2D4F}"/>
              </a:ext>
            </a:extLst>
          </p:cNvPr>
          <p:cNvSpPr>
            <a:spLocks noGrp="1"/>
          </p:cNvSpPr>
          <p:nvPr/>
        </p:nvSpPr>
        <p:spPr>
          <a:xfrm>
            <a:off x="8948854" y="2303766"/>
            <a:ext cx="2088226" cy="198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1600" b="0">
                <a:solidFill>
                  <a:srgbClr val="756268"/>
                </a:solidFill>
              </a:rPr>
              <a:t>KPI lookup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419099" y="2800350"/>
          <a:ext cx="7410745" cy="363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AFFD958-F576-4BCB-ABEF-ED34DB5D224F}"/>
              </a:ext>
            </a:extLst>
          </p:cNvPr>
          <p:cNvSpPr>
            <a:spLocks noGrp="1"/>
          </p:cNvSpPr>
          <p:nvPr/>
        </p:nvSpPr>
        <p:spPr>
          <a:xfrm>
            <a:off x="7886701" y="3967805"/>
            <a:ext cx="3695700" cy="1474284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9E5A06-20DF-4D28-B353-40592E991E51}"/>
              </a:ext>
            </a:extLst>
          </p:cNvPr>
          <p:cNvSpPr>
            <a:spLocks noGrp="1"/>
          </p:cNvSpPr>
          <p:nvPr/>
        </p:nvSpPr>
        <p:spPr>
          <a:xfrm>
            <a:off x="7886701" y="3967805"/>
            <a:ext cx="57387" cy="1474284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 sz="1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743362-7788-4C84-AF11-7C4CECD57599}"/>
              </a:ext>
            </a:extLst>
          </p:cNvPr>
          <p:cNvSpPr>
            <a:spLocks noGrp="1"/>
          </p:cNvSpPr>
          <p:nvPr/>
        </p:nvSpPr>
        <p:spPr>
          <a:xfrm>
            <a:off x="8077200" y="4120205"/>
            <a:ext cx="3305471" cy="21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Nguyên tắc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DBF844-3980-4376-A893-8CB6987DC650}"/>
              </a:ext>
            </a:extLst>
          </p:cNvPr>
          <p:cNvSpPr>
            <a:spLocks noGrp="1"/>
          </p:cNvSpPr>
          <p:nvPr/>
        </p:nvSpPr>
        <p:spPr>
          <a:xfrm>
            <a:off x="8077200" y="4415480"/>
            <a:ext cx="3305471" cy="988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Visual chuẩn chỉ đọc mart/reporting views. Fact 31,9 triệu dòng vẫn là nguồn chi tiết và đối soát, không phải tầng phục vụ mọi biểu đồ</a:t>
            </a:r>
          </a:p>
        </p:txBody>
      </p:sp>
    </p:spTree>
    <p:extLst>
      <p:ext uri="{BB962C8B-B14F-4D97-AF65-F5344CB8AC3E}">
        <p14:creationId xmlns:p14="http://schemas.microsoft.com/office/powerpoint/2010/main" val="118291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7D65C9-9A37-4BEF-A747-DB3B9397D9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31A7F-9C65-40AD-BF62-167C4BA663A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3: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F7DCC2-035D-4DB1-B58C-1906B916DF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Kiến trúc cloud-only trên máy macOS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E35E9E-557B-4570-9A14-1F9ADDB2E89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BC669-C65C-4B00-8279-937C8585D79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17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t="11102"/>
          <a:stretch/>
        </p:blipFill>
        <p:spPr>
          <a:xfrm>
            <a:off x="762000" y="1516655"/>
            <a:ext cx="10668000" cy="3424639"/>
          </a:xfrm>
          <a:prstGeom prst="round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29BBE6-E00B-4462-B819-5E9B9146BC1E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439400" cy="533400"/>
          </a:xfrm>
          <a:prstGeom prst="roundRect">
            <a:avLst>
              <a:gd name="adj" fmla="val 21429"/>
            </a:avLst>
          </a:prstGeom>
          <a:solidFill>
            <a:srgbClr val="FFF0D6"/>
          </a:solidFill>
          <a:ln w="9525">
            <a:solidFill>
              <a:srgbClr val="F2D2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8FE5E-13D6-4A82-8524-C805EF073A15}"/>
              </a:ext>
            </a:extLst>
          </p:cNvPr>
          <p:cNvSpPr>
            <a:spLocks noGrp="1"/>
          </p:cNvSpPr>
          <p:nvPr/>
        </p:nvSpPr>
        <p:spPr>
          <a:xfrm>
            <a:off x="1104900" y="5505450"/>
            <a:ext cx="998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77A23"/>
                </a:solidFill>
              </a:defRPr>
            </a:pPr>
            <a:r>
              <a:rPr sz="1200" b="1">
                <a:solidFill>
                  <a:srgbClr val="B77A23"/>
                </a:solidFill>
              </a:rPr>
              <a:t>PostgreSQL local là nguồn chuẩn; Power BI Service sử dụng snapshot đã được kiểm soát và có bằng chứng đối soát</a:t>
            </a:r>
          </a:p>
        </p:txBody>
      </p:sp>
    </p:spTree>
    <p:extLst>
      <p:ext uri="{BB962C8B-B14F-4D97-AF65-F5344CB8AC3E}">
        <p14:creationId xmlns:p14="http://schemas.microsoft.com/office/powerpoint/2010/main" val="628571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57D65C9-9A37-4BEF-A747-DB3B9397D9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131A7F-9C65-40AD-BF62-167C4BA663A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GIAI ĐOẠN 3: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F7DCC2-035D-4DB1-B58C-1906B916DF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Luồng công nghệ &amp; pipeline xử lý 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E35E9E-557B-4570-9A14-1F9ADDB2E897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BC669-C65C-4B00-8279-937C8585D79D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18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 t="11102"/>
          <a:stretch/>
        </p:blipFill>
        <p:spPr>
          <a:xfrm>
            <a:off x="762000" y="1516655"/>
            <a:ext cx="10668000" cy="3424639"/>
          </a:xfrm>
          <a:prstGeom prst="round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29BBE6-E00B-4462-B819-5E9B9146BC1E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439400" cy="533400"/>
          </a:xfrm>
          <a:prstGeom prst="roundRect">
            <a:avLst>
              <a:gd name="adj" fmla="val 21429"/>
            </a:avLst>
          </a:prstGeom>
          <a:solidFill>
            <a:srgbClr val="FFF0D6"/>
          </a:solidFill>
          <a:ln w="9525">
            <a:solidFill>
              <a:srgbClr val="F2D29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8FE5E-13D6-4A82-8524-C805EF073A15}"/>
              </a:ext>
            </a:extLst>
          </p:cNvPr>
          <p:cNvSpPr>
            <a:spLocks noGrp="1"/>
          </p:cNvSpPr>
          <p:nvPr/>
        </p:nvSpPr>
        <p:spPr>
          <a:xfrm>
            <a:off x="1104900" y="5505450"/>
            <a:ext cx="998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B77A23"/>
                </a:solidFill>
              </a:defRPr>
            </a:pPr>
            <a:r>
              <a:rPr sz="1200" b="1">
                <a:solidFill>
                  <a:srgbClr val="B77A23"/>
                </a:solidFill>
              </a:rPr>
              <a:t>Python ETL → Excel sạch → Power BI Service; không dùng SSIS, chưa có data warehouse vật lý</a:t>
            </a:r>
          </a:p>
        </p:txBody>
      </p:sp>
    </p:spTree>
    <p:extLst>
      <p:ext uri="{BB962C8B-B14F-4D97-AF65-F5344CB8AC3E}">
        <p14:creationId xmlns:p14="http://schemas.microsoft.com/office/powerpoint/2010/main" val="628571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1F990F6-31B0-4A42-ADE9-07B5BFDF21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B64AD7-0895-4C7B-868B-A257AC5EF6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POWER BI SERVICE • REPORT THẬT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7D4C8-507B-4A56-9146-B403179CEB40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Report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07BF3-C2BE-405F-81EC-E62208DC252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1D1EC-D904-4079-AD58-67F83F0F57D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19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499592"/>
            <a:ext cx="7334250" cy="4125516"/>
          </a:xfrm>
          <a:prstGeom prst="round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67D443-429D-4C5C-9488-70DB6B88AA35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2762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F20DBC-F3C8-44AD-A156-050479874C0B}"/>
              </a:ext>
            </a:extLst>
          </p:cNvPr>
          <p:cNvSpPr>
            <a:spLocks noGrp="1"/>
          </p:cNvSpPr>
          <p:nvPr/>
        </p:nvSpPr>
        <p:spPr>
          <a:xfrm>
            <a:off x="8382000" y="1524000"/>
            <a:ext cx="47625" cy="108585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4B61E6-6771-422B-8B0B-CCA30F83D175}"/>
              </a:ext>
            </a:extLst>
          </p:cNvPr>
          <p:cNvSpPr>
            <a:spLocks noGrp="1"/>
          </p:cNvSpPr>
          <p:nvPr/>
        </p:nvSpPr>
        <p:spPr>
          <a:xfrm>
            <a:off x="8572500" y="16954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9F1D2D"/>
                </a:solidFill>
              </a:defRPr>
            </a:pPr>
            <a:r>
              <a:rPr sz="2325" b="1">
                <a:solidFill>
                  <a:srgbClr val="9F1D2D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467744-0ACF-477D-BA20-F2FD53192F77}"/>
              </a:ext>
            </a:extLst>
          </p:cNvPr>
          <p:cNvSpPr>
            <a:spLocks noGrp="1"/>
          </p:cNvSpPr>
          <p:nvPr/>
        </p:nvSpPr>
        <p:spPr>
          <a:xfrm>
            <a:off x="8572500" y="21145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visible page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84404-F51B-4FAD-9218-83379640894C}"/>
              </a:ext>
            </a:extLst>
          </p:cNvPr>
          <p:cNvSpPr>
            <a:spLocks noGrp="1"/>
          </p:cNvSpPr>
          <p:nvPr/>
        </p:nvSpPr>
        <p:spPr>
          <a:xfrm>
            <a:off x="8572500" y="236220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6 KPI • 7 khu vực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C39C27-BD83-4D64-AE2C-20C94B53CD8E}"/>
              </a:ext>
            </a:extLst>
          </p:cNvPr>
          <p:cNvSpPr>
            <a:spLocks noGrp="1"/>
          </p:cNvSpPr>
          <p:nvPr/>
        </p:nvSpPr>
        <p:spPr>
          <a:xfrm>
            <a:off x="8382000" y="2819400"/>
            <a:ext cx="2762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FF421E-DF29-4691-8A94-C8E35060155F}"/>
              </a:ext>
            </a:extLst>
          </p:cNvPr>
          <p:cNvSpPr>
            <a:spLocks noGrp="1"/>
          </p:cNvSpPr>
          <p:nvPr/>
        </p:nvSpPr>
        <p:spPr>
          <a:xfrm>
            <a:off x="8382000" y="2819400"/>
            <a:ext cx="47625" cy="10858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3AFFAA-CF9E-40D0-B756-98F3E0A0DE13}"/>
              </a:ext>
            </a:extLst>
          </p:cNvPr>
          <p:cNvSpPr>
            <a:spLocks noGrp="1"/>
          </p:cNvSpPr>
          <p:nvPr/>
        </p:nvSpPr>
        <p:spPr>
          <a:xfrm>
            <a:off x="8572500" y="2990850"/>
            <a:ext cx="2438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>
                <a:solidFill>
                  <a:srgbClr val="B52B3A"/>
                </a:solidFill>
              </a:defRPr>
            </a:pPr>
            <a:r>
              <a:rPr sz="2325" b="1">
                <a:solidFill>
                  <a:srgbClr val="B52B3A"/>
                </a:solidFill>
              </a:rPr>
              <a:t>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7B3DE-28EC-47E5-979B-5B98D8FC9379}"/>
              </a:ext>
            </a:extLst>
          </p:cNvPr>
          <p:cNvSpPr>
            <a:spLocks noGrp="1"/>
          </p:cNvSpPr>
          <p:nvPr/>
        </p:nvSpPr>
        <p:spPr>
          <a:xfrm>
            <a:off x="8572500" y="34099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A1D21"/>
                </a:solidFill>
              </a:defRPr>
            </a:pPr>
            <a:r>
              <a:rPr sz="1125" b="1">
                <a:solidFill>
                  <a:srgbClr val="2A1D21"/>
                </a:solidFill>
              </a:rPr>
              <a:t>DAX measures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906D29-A322-44D1-B409-C21A09FAB453}"/>
              </a:ext>
            </a:extLst>
          </p:cNvPr>
          <p:cNvSpPr>
            <a:spLocks noGrp="1"/>
          </p:cNvSpPr>
          <p:nvPr/>
        </p:nvSpPr>
        <p:spPr>
          <a:xfrm>
            <a:off x="8572500" y="365760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semantic calculations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022BD0B-C05B-4369-9E39-54E7BB1CA552}"/>
              </a:ext>
            </a:extLst>
          </p:cNvPr>
          <p:cNvSpPr>
            <a:spLocks noGrp="1"/>
          </p:cNvSpPr>
          <p:nvPr/>
        </p:nvSpPr>
        <p:spPr>
          <a:xfrm>
            <a:off x="8382000" y="4114800"/>
            <a:ext cx="2762250" cy="1200150"/>
          </a:xfrm>
          <a:prstGeom prst="roundRect">
            <a:avLst>
              <a:gd name="adj" fmla="val 9524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BE471D-8818-4E62-B5C9-79F1E61C6F98}"/>
              </a:ext>
            </a:extLst>
          </p:cNvPr>
          <p:cNvSpPr>
            <a:spLocks noGrp="1"/>
          </p:cNvSpPr>
          <p:nvPr/>
        </p:nvSpPr>
        <p:spPr>
          <a:xfrm>
            <a:off x="8382000" y="4114800"/>
            <a:ext cx="47625" cy="12001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D9E52C-1909-49BF-B970-41CA44CEC05B}"/>
              </a:ext>
            </a:extLst>
          </p:cNvPr>
          <p:cNvSpPr>
            <a:spLocks noGrp="1"/>
          </p:cNvSpPr>
          <p:nvPr/>
        </p:nvSpPr>
        <p:spPr>
          <a:xfrm>
            <a:off x="8572500" y="4267200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275" b="1">
                <a:solidFill>
                  <a:srgbClr val="B77A23"/>
                </a:solidFill>
              </a:rPr>
              <a:t>Cách demo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ACC0FB-04A3-4A69-9529-EE7F64EAAACE}"/>
              </a:ext>
            </a:extLst>
          </p:cNvPr>
          <p:cNvSpPr>
            <a:spLocks noGrp="1"/>
          </p:cNvSpPr>
          <p:nvPr/>
        </p:nvSpPr>
        <p:spPr>
          <a:xfrm>
            <a:off x="8572500" y="4562475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2A1D21"/>
                </a:solidFill>
              </a:defRPr>
            </a:pPr>
            <a:r>
              <a:rPr sz="1125" b="0">
                <a:solidFill>
                  <a:srgbClr val="2A1D21"/>
                </a:solidFill>
              </a:rPr>
              <a:t>Mở Unified Dashboard, chọn Fit to width và cuộn lần lượt khu vực 01–07</a:t>
            </a:r>
          </a:p>
        </p:txBody>
      </p:sp>
    </p:spTree>
    <p:extLst>
      <p:ext uri="{BB962C8B-B14F-4D97-AF65-F5344CB8AC3E}">
        <p14:creationId xmlns:p14="http://schemas.microsoft.com/office/powerpoint/2010/main" val="407596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12ADE3-907B-40EB-A1AC-238FCAC4F9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A4063-F64C-445A-97C6-D2B5115883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509B2C-C744-4B10-8AB7-BD388521350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KPI toàn kỳ và biến động giao dịch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05E43-810A-4642-844A-FA94FC6FAC4F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DA58B-9F98-4F53-8890-8E8F741647D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20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66863"/>
            <a:ext cx="5334000" cy="3000375"/>
          </a:xfrm>
          <a:prstGeom prst="round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566863"/>
            <a:ext cx="5334000" cy="3000375"/>
          </a:xfrm>
          <a:prstGeom prst="round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D94A07-B83D-41DB-BD24-FADD592738BA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6 KPI &amp; TRANSACTION TREND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2C8466-1182-4B6F-9B04-AECAEF8764A0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10008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31,90M giao dịch • 35,23K AML • AML rate 0,11%</a:t>
            </a:r>
          </a:p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Đỉnh 4.465.985 giao dịch ngày 01/09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D3EBD8-DD4E-440D-91B5-5ED6FA4A1649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9F1D2D"/>
                </a:solidFill>
              </a:defRPr>
            </a:pPr>
            <a:r>
              <a:rPr sz="1400" b="1">
                <a:solidFill>
                  <a:srgbClr val="9F1D2D"/>
                </a:solidFill>
              </a:rPr>
              <a:t>AML FORMAT &amp; BANK ACTIVITY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C9FF26-AF86-4E3A-AD9C-905BA90CCA02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ACH: 30.746 giao dịch AML</a:t>
            </a:r>
          </a:p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Bank key 72647 dẫn đầu lượt tham gia</a:t>
            </a:r>
          </a:p>
        </p:txBody>
      </p:sp>
    </p:spTree>
    <p:extLst>
      <p:ext uri="{BB962C8B-B14F-4D97-AF65-F5344CB8AC3E}">
        <p14:creationId xmlns:p14="http://schemas.microsoft.com/office/powerpoint/2010/main" val="2002927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0BA80D6-0C1C-4C3E-BC73-6230AE0BF3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421287-AA2C-463D-971B-081DDEA3C8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A4E0F-4EC8-4AE7-B2DC-553D6C50028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AML tập trung ở ACH và một nhóm tài khoản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64F79-1A3B-499A-8AF9-F0052C2B4B3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73F9D-37D0-4A40-8EE2-E26877B5B10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BC2CE-DA5A-405C-825B-AFAF2671E122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2: AML BY FORMAT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05AED-7B12-45C8-85EA-B1045CF8E78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ACH có 30.746 giao dịch AML, chiếm khoảng 87,3% nhãn AML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1A776-D836-443B-A22C-65BB5F579F72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6: AML ACCOUNT RISK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D3680-D7E5-4DCE-9E27-1151049A285A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Account 100428660 đứng đầu với 1.528 lượt tham gia AML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1566863"/>
            <a:ext cx="5334000" cy="3000375"/>
          </a:xfrm>
          <a:prstGeom prst="roundRect">
            <a:avLst>
              <a:gd name="adj" fmla="val 3810"/>
            </a:avLst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48400" y="1566863"/>
            <a:ext cx="5334000" cy="3000375"/>
          </a:xfrm>
          <a:prstGeom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158375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E368964-F15C-471F-9219-B08F15683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7B32D8-44A1-4875-9A7E-850BD73A023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C2A704-9C79-46B9-9676-17280D935B5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Hoạt động ngân hàng và luồng tiền tệ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062345-E194-4624-85D8-DC689C43CD03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E59832-0910-4D43-898B-0F08483E6C7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756268"/>
                </a:solidFill>
              </a:defRPr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33CDC-0285-4813-A559-0F0E407FE9F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22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66863"/>
            <a:ext cx="5334000" cy="3000375"/>
          </a:xfrm>
          <a:prstGeom prst="round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566863"/>
            <a:ext cx="5334000" cy="3000375"/>
          </a:xfrm>
          <a:prstGeom prst="round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E27A00-D392-4A7D-8E5A-9CF0B6E4E8D4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B52B3A"/>
                </a:solidFill>
              </a:defRPr>
            </a:pPr>
            <a:r>
              <a:rPr sz="1400" b="1">
                <a:solidFill>
                  <a:srgbClr val="B52B3A"/>
                </a:solidFill>
              </a:rPr>
              <a:t>3: BANK ACTIVITY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6F602A-A866-475F-BDB3-C0695610A672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Bank key 72647 có khoảng 2,98M lượt tham gia và dẫn đầu rõ rệt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D26F7-CF83-4FFC-894F-E429DB56654E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4: CURRENCY 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04AED-7EBA-47EB-92FA-AE78189AA212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USD→USD dẫn đầu 11.430.671 giao dịch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cross-currency khoảng 1,52%</a:t>
            </a:r>
          </a:p>
        </p:txBody>
      </p:sp>
    </p:spTree>
    <p:extLst>
      <p:ext uri="{BB962C8B-B14F-4D97-AF65-F5344CB8AC3E}">
        <p14:creationId xmlns:p14="http://schemas.microsoft.com/office/powerpoint/2010/main" val="1852746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0BA80D6-0C1C-4C3E-BC73-6230AE0BF3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421287-AA2C-463D-971B-081DDEA3C8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DASHBOARD POWER BI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A4E0F-4EC8-4AE7-B2DC-553D6C50028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Pattern, tài khoản rủi ro và chất lượng ETL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64F79-1A3B-499A-8AF9-F0052C2B4B38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473F9D-37D0-4A40-8EE2-E26877B5B10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23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566863"/>
            <a:ext cx="5334000" cy="3000375"/>
          </a:xfrm>
          <a:prstGeom prst="round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8400" y="1566863"/>
            <a:ext cx="5334000" cy="3000375"/>
          </a:xfrm>
          <a:prstGeom prst="round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EBC2CE-DA5A-405C-825B-AFAF2671E122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C73C4A"/>
                </a:solidFill>
              </a:defRPr>
            </a:pPr>
            <a:r>
              <a:rPr sz="1400" b="1">
                <a:solidFill>
                  <a:srgbClr val="C73C4A"/>
                </a:solidFill>
              </a:rPr>
              <a:t>5–6: PATTERN &amp; ACCOUNT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05AED-7B12-45C8-85EA-B1045CF8E78A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GATHER-SCATTER: 4.289 giao dịch / 322 attempt</a:t>
            </a:r>
          </a:p>
          <a:p>
            <a:pPr algn="l">
              <a:buNone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Account đứng đầu: 1.528 lượt AML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71A776-D836-443B-A22C-65BB5F579F72}"/>
              </a:ext>
            </a:extLst>
          </p:cNvPr>
          <p:cNvSpPr>
            <a:spLocks noGrp="1"/>
          </p:cNvSpPr>
          <p:nvPr/>
        </p:nvSpPr>
        <p:spPr>
          <a:xfrm>
            <a:off x="6248400" y="49339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7E3344"/>
                </a:solidFill>
              </a:defRPr>
            </a:pPr>
            <a:r>
              <a:rPr sz="1400" b="1">
                <a:solidFill>
                  <a:srgbClr val="7E3344"/>
                </a:solidFill>
              </a:rPr>
              <a:t>7: ETL &amp; DATA 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D3680-D7E5-4DCE-9E27-1151049A285A}"/>
              </a:ext>
            </a:extLst>
          </p:cNvPr>
          <p:cNvSpPr>
            <a:spLocks noGrp="1"/>
          </p:cNvSpPr>
          <p:nvPr/>
        </p:nvSpPr>
        <p:spPr>
          <a:xfrm>
            <a:off x="6248400" y="5181600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Batch mới nhất COMPLETED • 0 reject</a:t>
            </a:r>
          </a:p>
          <a:p>
            <a:pPr marL="285750" indent="-285750" algn="l">
              <a:buFont typeface="Courier New"/>
              <a:buChar char="o"/>
              <a:defRPr sz="1200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9/9 validation PASSED</a:t>
            </a:r>
          </a:p>
        </p:txBody>
      </p:sp>
    </p:spTree>
    <p:extLst>
      <p:ext uri="{BB962C8B-B14F-4D97-AF65-F5344CB8AC3E}">
        <p14:creationId xmlns:p14="http://schemas.microsoft.com/office/powerpoint/2010/main" val="158375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D2D63BA-A237-446D-BF0E-C4A9601BD0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9F1D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49BEB-9881-4B6B-9B97-D0C9E7FF4E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9F1D2D"/>
                </a:solidFill>
              </a:defRPr>
            </a:pPr>
            <a:r>
              <a:rPr sz="900" b="1">
                <a:solidFill>
                  <a:srgbClr val="9F1D2D"/>
                </a:solidFill>
              </a:rPr>
              <a:t>PHẠM VI HOÀN THÀNH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2F0F8-8AFB-40EC-A660-B4015D064BE9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28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700" b="1">
                <a:solidFill>
                  <a:srgbClr val="3B0B13"/>
                </a:solidFill>
              </a:defRPr>
            </a:pPr>
            <a:r>
              <a:rPr sz="2700" b="1">
                <a:solidFill>
                  <a:srgbClr val="3B0B13"/>
                </a:solidFill>
              </a:rPr>
              <a:t>22/22 test xác nhận kết quả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C5106-59E2-42CF-B267-C0D8BEFB552B}"/>
              </a:ext>
            </a:extLst>
          </p:cNvPr>
          <p:cNvSpPr>
            <a:spLocks noGrp="1"/>
          </p:cNvSpPr>
          <p:nvPr/>
        </p:nvSpPr>
        <p:spPr>
          <a:xfrm>
            <a:off x="609600" y="1104900"/>
            <a:ext cx="10972800" cy="19050"/>
          </a:xfrm>
          <a:prstGeom prst="rect">
            <a:avLst/>
          </a:prstGeom>
          <a:solidFill>
            <a:srgbClr val="E4D7D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60101-2A38-4AD7-A82F-687B0004051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756268"/>
                </a:solidFill>
              </a:defRPr>
            </a:pPr>
            <a:r>
              <a:rPr sz="750" b="0">
                <a:solidFill>
                  <a:srgbClr val="756268"/>
                </a:solidFill>
              </a:rPr>
              <a:t>24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B019280-FA0B-4FA0-85E8-9D018D05094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E4F5EA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EAE96-B84E-4673-8504-7BC167BFF72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47625" cy="3714750"/>
          </a:xfrm>
          <a:prstGeom prst="rect">
            <a:avLst/>
          </a:prstGeom>
          <a:solidFill>
            <a:srgbClr val="14804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59CA2-165D-40C6-AFD2-797E14808418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4804A"/>
                </a:solidFill>
              </a:defRPr>
            </a:pPr>
            <a:r>
              <a:rPr sz="1600" b="1">
                <a:solidFill>
                  <a:srgbClr val="14804A"/>
                </a:solidFill>
              </a:rPr>
              <a:t>Nghiệm thu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623A18-BEDA-4819-9FAC-DF32D2CA8F76}"/>
              </a:ext>
            </a:extLst>
          </p:cNvPr>
          <p:cNvSpPr>
            <a:spLocks noGrp="1"/>
          </p:cNvSpPr>
          <p:nvPr/>
        </p:nvSpPr>
        <p:spPr>
          <a:xfrm>
            <a:off x="800100" y="1914525"/>
            <a:ext cx="30480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22/22 acceptance PASSED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20,66 giây; 0 failed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raw = fact = 31.898.238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0 reject / 0 unknown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7/7 mart populated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16 Power BI views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73B293-A9A3-4755-BFFF-73B657523257}"/>
              </a:ext>
            </a:extLst>
          </p:cNvPr>
          <p:cNvSpPr>
            <a:spLocks noGrp="1"/>
          </p:cNvSpPr>
          <p:nvPr/>
        </p:nvSpPr>
        <p:spPr>
          <a:xfrm>
            <a:off x="4410075" y="1466850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0D6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9034F-6F20-462C-8037-159115F3F7D9}"/>
              </a:ext>
            </a:extLst>
          </p:cNvPr>
          <p:cNvSpPr>
            <a:spLocks noGrp="1"/>
          </p:cNvSpPr>
          <p:nvPr/>
        </p:nvSpPr>
        <p:spPr>
          <a:xfrm>
            <a:off x="4410075" y="1466850"/>
            <a:ext cx="47625" cy="3714750"/>
          </a:xfrm>
          <a:prstGeom prst="rect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CC13C-7997-446F-89AD-2A8E5CC3BD6E}"/>
              </a:ext>
            </a:extLst>
          </p:cNvPr>
          <p:cNvSpPr>
            <a:spLocks noGrp="1"/>
          </p:cNvSpPr>
          <p:nvPr/>
        </p:nvSpPr>
        <p:spPr>
          <a:xfrm>
            <a:off x="4600575" y="16192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77A23"/>
                </a:solidFill>
              </a:defRPr>
            </a:pPr>
            <a:r>
              <a:rPr sz="1600" b="1">
                <a:solidFill>
                  <a:srgbClr val="B77A23"/>
                </a:solidFill>
              </a:rPr>
              <a:t>Hạn chế hiện tại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A234F-0D1F-4DF4-8018-9082FA359D38}"/>
              </a:ext>
            </a:extLst>
          </p:cNvPr>
          <p:cNvSpPr>
            <a:spLocks noGrp="1"/>
          </p:cNvSpPr>
          <p:nvPr/>
        </p:nvSpPr>
        <p:spPr>
          <a:xfrm>
            <a:off x="4600575" y="1914525"/>
            <a:ext cx="30480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Dataset synthetic, 28 ngày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Không có branch/balance/fee/status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Không có official FX rate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Snapshot cloud, chưa realtime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Chưa có ML scoring</a:t>
            </a:r>
          </a:p>
          <a:p>
            <a:pPr marL="171450" indent="-1714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Cloud-only nên không có .pbix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9AFFB79-E69E-45FA-81D2-3B4DC4C00003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4D7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D49E3-CEBF-46CC-9FC2-C0C10FA3FE95}"/>
              </a:ext>
            </a:extLst>
          </p:cNvPr>
          <p:cNvSpPr>
            <a:spLocks noGrp="1"/>
          </p:cNvSpPr>
          <p:nvPr/>
        </p:nvSpPr>
        <p:spPr>
          <a:xfrm>
            <a:off x="8210550" y="1466850"/>
            <a:ext cx="47625" cy="3714750"/>
          </a:xfrm>
          <a:prstGeom prst="rect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5B445-4161-4575-A02F-1E55238649AF}"/>
              </a:ext>
            </a:extLst>
          </p:cNvPr>
          <p:cNvSpPr>
            <a:spLocks noGrp="1"/>
          </p:cNvSpPr>
          <p:nvPr/>
        </p:nvSpPr>
        <p:spPr>
          <a:xfrm>
            <a:off x="8401050" y="161925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B52B3A"/>
                </a:solidFill>
              </a:defRPr>
            </a:pPr>
            <a:r>
              <a:rPr sz="1600" b="1">
                <a:solidFill>
                  <a:srgbClr val="B52B3A"/>
                </a:solidFill>
              </a:rPr>
              <a:t>Hướng phát triển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6D8C1C-10B1-49CF-A1AD-1B357EBA7DDB}"/>
              </a:ext>
            </a:extLst>
          </p:cNvPr>
          <p:cNvSpPr>
            <a:spLocks noGrp="1"/>
          </p:cNvSpPr>
          <p:nvPr/>
        </p:nvSpPr>
        <p:spPr>
          <a:xfrm>
            <a:off x="8401050" y="1914525"/>
            <a:ext cx="3048000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Managed PostgreSQL + gateway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Incremental theo source date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dim_exchange_rate có kiểm soát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Feature mart và AML scoring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SLA, alert, deployment pipeline</a:t>
            </a:r>
          </a:p>
          <a:p>
            <a:pPr marL="285750" indent="-285750" algn="l">
              <a:buFont typeface="Courier New"/>
              <a:buChar char="o"/>
              <a:defRPr sz="1125" b="0">
                <a:solidFill>
                  <a:srgbClr val="2A1D21"/>
                </a:solidFill>
              </a:defRPr>
            </a:pPr>
            <a:r>
              <a:rPr sz="1400" b="0">
                <a:solidFill>
                  <a:srgbClr val="2A1D21"/>
                </a:solidFill>
              </a:rPr>
              <a:t>RLS theo vai trò nghiệp vụ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CCBD43-326F-48F8-854B-612850D79EF3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3B0B13"/>
                </a:solidFill>
              </a:defRPr>
            </a:pPr>
            <a:r>
              <a:rPr sz="1350" b="1">
                <a:solidFill>
                  <a:srgbClr val="3B0B13"/>
                </a:solidFill>
              </a:rPr>
              <a:t>Security hiện có: role powerbi_readonly chỉ SELECT schema pbi; không có quyền ghi raw</a:t>
            </a:r>
          </a:p>
        </p:txBody>
      </p:sp>
    </p:spTree>
    <p:extLst>
      <p:ext uri="{BB962C8B-B14F-4D97-AF65-F5344CB8AC3E}">
        <p14:creationId xmlns:p14="http://schemas.microsoft.com/office/powerpoint/2010/main" val="1708943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FF10E64-2A4D-4B83-918D-C2E9FCDD19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E5E644-B7B2-40E9-997E-C71C034B8B41}"/>
              </a:ext>
            </a:extLst>
          </p:cNvPr>
          <p:cNvSpPr>
            <a:spLocks noGrp="1"/>
          </p:cNvSpPr>
          <p:nvPr/>
        </p:nvSpPr>
        <p:spPr>
          <a:xfrm>
            <a:off x="666750" y="6858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D24B5A"/>
                </a:solidFill>
              </a:defRPr>
            </a:pPr>
            <a:r>
              <a:rPr sz="1600" b="1">
                <a:solidFill>
                  <a:srgbClr val="D24B5A"/>
                </a:solidFill>
              </a:rPr>
              <a:t>KẾT LUẬN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048FF-78AF-424E-9C51-01D6DD1EA7B6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6000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Data Warehouse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phân tích giao dịch </a:t>
            </a:r>
          </a:p>
          <a:p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ngân hàng và AML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0CEC8F-1A1E-4265-B492-39F65642ED96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31,90M giao dịch đối soát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40B2A1-3582-404E-AD6B-2F35508708A7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D24B5A"/>
                </a:solidFill>
              </a:defRPr>
            </a:pPr>
            <a:r>
              <a:rPr sz="1650" b="1">
                <a:solidFill>
                  <a:srgbClr val="D24B5A"/>
                </a:solidFill>
              </a:rPr>
              <a:t>22/22 kiểm thử đạt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7B6C0-58D4-4477-9E4B-703054F1D026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438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 dashboard Power BI hợp nhất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1FE83B-CC58-465E-BDF9-552A5AA754A6}"/>
              </a:ext>
            </a:extLst>
          </p:cNvPr>
          <p:cNvSpPr>
            <a:spLocks noGrp="1"/>
          </p:cNvSpPr>
          <p:nvPr/>
        </p:nvSpPr>
        <p:spPr>
          <a:xfrm>
            <a:off x="7086600" y="1123950"/>
            <a:ext cx="4095750" cy="4095750"/>
          </a:xfrm>
          <a:prstGeom prst="roundRect">
            <a:avLst>
              <a:gd name="adj" fmla="val 2791"/>
            </a:avLst>
          </a:prstGeom>
          <a:solidFill>
            <a:srgbClr val="5A1420"/>
          </a:solidFill>
          <a:ln w="9525">
            <a:solidFill>
              <a:srgbClr val="8A34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9AFC2-A7E2-4DF8-9B16-9642BA2B1B6E}"/>
              </a:ext>
            </a:extLst>
          </p:cNvPr>
          <p:cNvSpPr>
            <a:spLocks noGrp="1"/>
          </p:cNvSpPr>
          <p:nvPr/>
        </p:nvSpPr>
        <p:spPr>
          <a:xfrm>
            <a:off x="7467600" y="15049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Trình tự demo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53EDEA-1763-4014-BB3D-3A06C080E0D8}"/>
              </a:ext>
            </a:extLst>
          </p:cNvPr>
          <p:cNvSpPr>
            <a:spLocks noGrp="1"/>
          </p:cNvSpPr>
          <p:nvPr/>
        </p:nvSpPr>
        <p:spPr>
          <a:xfrm>
            <a:off x="7467600" y="2095500"/>
            <a:ext cx="361950" cy="361950"/>
          </a:xfrm>
          <a:prstGeom prst="ellipse">
            <a:avLst/>
          </a:prstGeom>
          <a:solidFill>
            <a:srgbClr val="D24B5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F85515-AC69-496F-9A22-5532C024E69F}"/>
              </a:ext>
            </a:extLst>
          </p:cNvPr>
          <p:cNvSpPr>
            <a:spLocks noGrp="1"/>
          </p:cNvSpPr>
          <p:nvPr/>
        </p:nvSpPr>
        <p:spPr>
          <a:xfrm>
            <a:off x="7467600" y="21621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972574-F2DC-4259-B0FB-3363200F1ED2}"/>
              </a:ext>
            </a:extLst>
          </p:cNvPr>
          <p:cNvSpPr>
            <a:spLocks noGrp="1"/>
          </p:cNvSpPr>
          <p:nvPr/>
        </p:nvSpPr>
        <p:spPr>
          <a:xfrm>
            <a:off x="7981950" y="207645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Acceptance test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888D52-2F57-46D0-87E0-179AE3DCFE2B}"/>
              </a:ext>
            </a:extLst>
          </p:cNvPr>
          <p:cNvSpPr>
            <a:spLocks noGrp="1"/>
          </p:cNvSpPr>
          <p:nvPr/>
        </p:nvSpPr>
        <p:spPr>
          <a:xfrm>
            <a:off x="7981950" y="232410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C7D7E7"/>
                </a:solidFill>
              </a:defRPr>
            </a:pPr>
            <a:r>
              <a:rPr sz="1050" b="0">
                <a:solidFill>
                  <a:srgbClr val="C7D7E7"/>
                </a:solidFill>
              </a:rPr>
              <a:t>Chạy Week 4 và mở qa.v_week4_latest_run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E8107E-BFD1-4695-BDBE-196AE507E3D0}"/>
              </a:ext>
            </a:extLst>
          </p:cNvPr>
          <p:cNvSpPr>
            <a:spLocks noGrp="1"/>
          </p:cNvSpPr>
          <p:nvPr/>
        </p:nvSpPr>
        <p:spPr>
          <a:xfrm>
            <a:off x="7467600" y="2952750"/>
            <a:ext cx="361950" cy="361950"/>
          </a:xfrm>
          <a:prstGeom prst="ellipse">
            <a:avLst/>
          </a:prstGeom>
          <a:solidFill>
            <a:srgbClr val="B52B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79A268-548B-4809-A29D-ACEB6312E832}"/>
              </a:ext>
            </a:extLst>
          </p:cNvPr>
          <p:cNvSpPr>
            <a:spLocks noGrp="1"/>
          </p:cNvSpPr>
          <p:nvPr/>
        </p:nvSpPr>
        <p:spPr>
          <a:xfrm>
            <a:off x="7467600" y="301942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5A06EB-B106-4B90-BD72-00B45BD828D2}"/>
              </a:ext>
            </a:extLst>
          </p:cNvPr>
          <p:cNvSpPr>
            <a:spLocks noGrp="1"/>
          </p:cNvSpPr>
          <p:nvPr/>
        </p:nvSpPr>
        <p:spPr>
          <a:xfrm>
            <a:off x="7981950" y="293370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Đối soát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3B713-4FCC-4170-9A79-70679C4DD543}"/>
              </a:ext>
            </a:extLst>
          </p:cNvPr>
          <p:cNvSpPr>
            <a:spLocks noGrp="1"/>
          </p:cNvSpPr>
          <p:nvPr/>
        </p:nvSpPr>
        <p:spPr>
          <a:xfrm>
            <a:off x="7981950" y="318135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C7D7E7"/>
                </a:solidFill>
              </a:defRPr>
            </a:pPr>
            <a:r>
              <a:rPr sz="1050" b="0">
                <a:solidFill>
                  <a:srgbClr val="C7D7E7"/>
                </a:solidFill>
              </a:rPr>
              <a:t>Chứng minh raw = fact = 31.898.238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538E86-78B2-4BE0-8F1C-C1C7EB5E3177}"/>
              </a:ext>
            </a:extLst>
          </p:cNvPr>
          <p:cNvSpPr>
            <a:spLocks noGrp="1"/>
          </p:cNvSpPr>
          <p:nvPr/>
        </p:nvSpPr>
        <p:spPr>
          <a:xfrm>
            <a:off x="7467600" y="3810000"/>
            <a:ext cx="361950" cy="361950"/>
          </a:xfrm>
          <a:prstGeom prst="ellipse">
            <a:avLst/>
          </a:prstGeom>
          <a:solidFill>
            <a:srgbClr val="B77A2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97090C-2C2C-49A4-802B-7EA7FF27B52E}"/>
              </a:ext>
            </a:extLst>
          </p:cNvPr>
          <p:cNvSpPr>
            <a:spLocks noGrp="1"/>
          </p:cNvSpPr>
          <p:nvPr/>
        </p:nvSpPr>
        <p:spPr>
          <a:xfrm>
            <a:off x="7467600" y="3876675"/>
            <a:ext cx="361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0C52C6-E039-4B32-8C11-94B0C82D03F5}"/>
              </a:ext>
            </a:extLst>
          </p:cNvPr>
          <p:cNvSpPr>
            <a:spLocks noGrp="1"/>
          </p:cNvSpPr>
          <p:nvPr/>
        </p:nvSpPr>
        <p:spPr>
          <a:xfrm>
            <a:off x="7981950" y="3790950"/>
            <a:ext cx="2714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Power BI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3F6E87-9285-41BE-AB48-6E9E64D18028}"/>
              </a:ext>
            </a:extLst>
          </p:cNvPr>
          <p:cNvSpPr>
            <a:spLocks noGrp="1"/>
          </p:cNvSpPr>
          <p:nvPr/>
        </p:nvSpPr>
        <p:spPr>
          <a:xfrm>
            <a:off x="7981950" y="403860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C7D7E7"/>
                </a:solidFill>
              </a:defRPr>
            </a:pPr>
            <a:r>
              <a:rPr sz="1050" b="0">
                <a:solidFill>
                  <a:srgbClr val="C7D7E7"/>
                </a:solidFill>
              </a:rPr>
              <a:t>Fit to width → KPI → khu vực 01–07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86DE20-D346-4738-8A4F-FD06BD29650F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F2D9DC"/>
                </a:solidFill>
              </a:defRPr>
            </a:pPr>
            <a:r>
              <a:rPr sz="1575" b="1">
                <a:solidFill>
                  <a:srgbClr val="F2D9DC"/>
                </a:solidFill>
              </a:rPr>
              <a:t>Thiết kế đúng grain + ETL chạy lại được + báo cáo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D92DAD-716D-4219-8B3F-4A87E193984C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750" b="0">
                <a:solidFill>
                  <a:srgbClr val="B7C7DA"/>
                </a:solidFill>
              </a:defRPr>
            </a:pPr>
            <a:r>
              <a:rPr sz="750" b="0">
                <a:solidFill>
                  <a:srgbClr val="B7C7DA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219762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</TotalTime>
  <Words>4907</Words>
  <Application>Microsoft Macintosh PowerPoint</Application>
  <DocSecurity>0</DocSecurity>
  <PresentationFormat>Widescreen</PresentationFormat>
  <Paragraphs>742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Trương Đức Vinh 24022005</cp:lastModifiedBy>
  <cp:revision>3</cp:revision>
  <dcterms:created xsi:type="dcterms:W3CDTF">2026-08-17T13:42:17Z</dcterms:created>
  <dcterms:modified xsi:type="dcterms:W3CDTF">2026-09-07T14:17:33Z</dcterms:modified>
</cp:coreProperties>
</file>