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0822"/>
  </p:normalViewPr>
  <p:slideViewPr>
    <p:cSldViewPr snapToGrid="0">
      <p:cViewPr varScale="1">
        <p:scale>
          <a:sx n="115" d="100"/>
          <a:sy n="115" d="100"/>
        </p:scale>
        <p:origin x="6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xin trình bày project IBM AML Transactions dưới góc nhìn Data Engineer. Bài toán của em là biến một nguồn dữ liệu gần 32 triệu giao dịch thành một data product có thể kiểm soát, truy vấn và trực quan hóa. Phần cloud em đề xuất ở mức basic: Amazon S3, AWS Glue, Data Catalog, Athena và Power BI; chưa viết code pyspark</a:t>
            </a:r>
          </a:p>
          <a:p>
            <a:r>
              <a:rPr lang="vi-VN"/>
              <a:t>Trước khi nói công nghệ, em bắt đầu từ vấn đề business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Đội AML và quản lý cần biết kênh nào có rủi ro cao, giao dịch nào cần ưu tiên điều tra và dữ liệu có đủ tin cậy để ra quyết định hay không. Nếu chỉ để ở CSV hoặc Excel, file rất lớn, logic KPI dễ khác nhau và khó tái lập. Vì vậy yêu cầu không chỉ là vẽ dashboard, mà phải chuẩn hóa pipeline từ raw đến dữ liệu phục vụ phân tích</a:t>
            </a:r>
          </a:p>
          <a:p>
            <a:endParaRPr lang="vi-VN"/>
          </a:p>
          <a:p>
            <a:r>
              <a:rPr lang="vi-VN"/>
              <a:t>Cloud là phương tiện để giải quyết vấn đề quản trị và mở rộng dữ liệu, không phải mục tiêu tự thân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có 31.898.238 giao dịch trong 28 ngày, 2.087.786 tài khoản và 122.333 ngân hàng. Chỉ có 35.230 giao dịch được gắn nhãn AML, tương đương 0,1104%. Đây là rare event. Vì vậy nếu sau này làm Machine Learning thì accuracy đơn thuần sẽ gây hiểu nhầm; còn trong project hiện tại em luôn trình bày cả số lượng và tỷ lệ</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Insight nổi bật nhất là ACH. Kênh này chỉ chiếm 12,13% tổng volume nhưng chứa 87,27% giao dịch AML. Tỷ lệ AML trong ACH là 0,7948%, cao khoảng 7,2 lần mức chung. Hàm ý business là không dùng một ngưỡng chung cho mọi kênh; cần ưu tiên rule, sampling và điều tra theo ACH</a:t>
            </a:r>
          </a:p>
          <a:p>
            <a:endParaRPr lang="vi-VN"/>
          </a:p>
          <a:p>
            <a:r>
              <a:rPr lang="vi-VN"/>
              <a:t>Đáng chú ý là ở đây ta đang nói ưu tiên điều tra, không nói mọi giao dịch ACH là bất thường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91,2% giao dịch là liên ngân hàng, nên lineage giữa bank nguồn và bank đích là trọng tâm. Self-transfer chiếm 8,03%, có thể dùng để xây rule riêng cho vòng lặp. Trong tập pattern, GATHER-SCATTER, SCATTER-GATHER và STACK chiếm 53,92% pattern transactions. Đây là ba nhóm ưu tiên cho drill-down và điều tra</a:t>
            </a:r>
          </a:p>
          <a:p>
            <a:endParaRPr lang="vi-VN"/>
          </a:p>
          <a:p>
            <a:r>
              <a:rPr lang="vi-VN"/>
              <a:t>Nhưng trước khi tin insight, Data Engineer phải kiểm tra chất lượng dữ liệu</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Volume giảm mạnh sau ngày 16/09. Em không kết luận business giảm giao dịch, mà coi đây là dấu hiệu completeness hoặc source window. Ngoài ra có 1,52% giao dịch khác currency. Vì chưa có FX rate nên không được cộng amount danh nghĩa giữa các loại tiền. Pipeline cần kiểm tra row count, min/max date, duplicate, orphan và reconciliation theo ngày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Hiện tại em đã dùng CSV, Python/SQL, PostgreSQL Data Warehouse và Power BI. Project không dùng SSIS. Trong kiến trúc AWS, S3 thay lớp lưu trữ file tập trung, Glue thay phần catalog và transformation cơ bản, Athena là query engine serverless, Power BI tiếp tục là lớp trình bày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Luồng dữ liệu đi từ CSV vào S3 raw. Glue Crawler đọc metadata và ghi định nghĩa bảng vào Data Catalog. Glue Visual ETL kéo-thả để cast kiểu, đổi tên, tạo cột dẫn xuất, validate và ghi Parquet vào S3 curated. Athena dùng SQL trên curated; Power BI đọc lớp view/KPI. CloudWatch và Glue Workflow/Trigger phục vụ vận hành</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 tách raw, curated, temporary và athena-results. Raw giữ nguyên nguồn để audit; curated là dữ liệu đã chuẩn hóa. Transactions, accounts và patterns có prefix riêng. Dữ liệu curated ghi Parquet Snappy và partition theo thời gian để Athena chỉ quét phần cần thiết</a:t>
            </a:r>
          </a:p>
          <a:p>
            <a:r>
              <a:rPr lang="en-US"/>
              <a:t>Và đáng chú ý S3 là data lake tức chỉ là object storage, không phải database quan hệ</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Crawler không biến đổi dữ liệu; nó phát hiện schema và location rồi đăng ký table trong Data Catalog. Em dùng database ibm_aml_raw và ba include path. Sau khi crawl vẫn phải kiểm tra header, delimiter, data type và schema drift. Catalog là metadata dùng chung cho Glue và Athena</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Visual ETL phù hợp mức basic vì em thiết kế bằng node kéo-thả, không viết PySpark. Các node chính là source, Change Schema, Derived Column, Filter/Validate, Join và S3 target. Tuy nhiên phía sau Glue vẫn sinh job Spark. Output phải là Parquet, có partition, có reject path và đối soát số dòng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Lớp curated được tổ chức theo star schema: fact_transaction ở grain một dòng một giao dịch, liên kết dim_account, dim_date, dim_payment_format, dim_currency; pattern dùng bridge vì một pattern liên kết nhiều giao dịch. Mô hình này giúp KPI nhất quán và Power BI không phải tự join raw</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Athena là query engine serverless, đọc table definition từ Glue Catalog và dữ liệu từ S3. Em sẽ tạo view cho daily volume, AML theo payment format, cross-bank và pattern summary. Power BI chỉ đọc view curated, không đọc raw. Nhờ vậy logic được quản lý tại data layer thay vì lặp lại trong mỗi biểu đồ</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Ở vận hành, mỗi run có run_id, row count trước/sau, thời gian và trạng thái. IAM áp dụng least privilege; S3 giữ Block Public Access và encryption. CloudWatch lưu log và cảnh báo job fail. Athena tính phí theo bytes scanned, Glue theo tài nguyên và thời gian, nên Parquet, partition và chạy sample trước là các kiểm soát chi phí quan trọng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 triển khai theo năm chặng: local baseline, S3 landing, Catalog, Visual ETL, Athena/BI. Mỗi chặng có gate: schema đúng, data quality đạt và KPI khớp số local. Trong demo, em sẽ đi từ kiến trúc, S3 prefix, Glue database, flow Visual ETL, câu lệnh Athena rồi quay lại dashboard để chứng minh business value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xin trình bày trung thực trạng thái. Local DW và Power BI đã hoàn thành. Trên AWS em đã tạo bucket ibm-aml-basic-huydungle-20260819, các prefix và Glue database ibm_aml_raw. Khi tạo crawler, tài khoản trả về ‘Account 739515567332 is denied access’, nên em chưa chạy end-to-end. Phần AWS trong bài là proposed architecture và kế hoạch PoC. Nếu được mở quyền, bước tiếp theo là chạy crawler, Visual ETL sample, đối soát Athena với local rồi mới chạy full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Kết luận, business cần ưu tiên ACH, giao dịch liên ngân hàng và ba pattern nổi bật. Dưới góc nhìn Data Engineer, giá trị của project là biến file thành data product có raw–curated zone, catalog, chất lượng dữ liệu, mô hình serving và khả năng quan sát. S3, Glue và Athena là lựa chọn phù hợp cho PoC serverless cơ bản; Power BI là lớp tiêu thụ. Vì AWS chưa hoàn chỉnh, nhưng kiến trúc, control và tiêu chí nghiệm thu đã được thiết kế đủ rõ để triển khai khi tài khoản được cấp quyền</a:t>
            </a:r>
          </a:p>
          <a:p>
            <a:endParaRPr lang="vi-VN"/>
          </a:p>
          <a:p>
            <a:r>
              <a:rPr lang="en-US"/>
              <a:t>Em xin kết thúc phần trình bày của mình tại đây ạ</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0A6AF3E-C59C-4EC6-86F1-02B214CF7F45}"/>
              </a:ext>
            </a:extLst>
          </p:cNvPr>
          <p:cNvSpPr>
            <a:spLocks noGrp="1"/>
          </p:cNvSpPr>
          <p:nvPr/>
        </p:nvSpPr>
        <p:spPr>
          <a:xfrm>
            <a:off x="0" y="0"/>
            <a:ext cx="12192000" cy="114300"/>
          </a:xfrm>
          <a:prstGeom prst="rect">
            <a:avLst/>
          </a:prstGeom>
          <a:solidFill>
            <a:srgbClr val="FF9900"/>
          </a:solidFill>
          <a:ln w="0">
            <a:solidFill>
              <a:srgbClr val="FF9900"/>
            </a:solidFill>
            <a:prstDash val="solid"/>
          </a:ln>
        </p:spPr>
        <p:txBody>
          <a:bodyPr/>
          <a:lstStyle/>
          <a:p>
            <a:endParaRPr lang="en-US"/>
          </a:p>
        </p:txBody>
      </p:sp>
      <p:sp>
        <p:nvSpPr>
          <p:cNvPr id="3" name="Rectangle 2">
            <a:extLst>
              <a:ext uri="{FF2B5EF4-FFF2-40B4-BE49-F238E27FC236}">
                <a16:creationId xmlns:a16="http://schemas.microsoft.com/office/drawing/2014/main" id="{B40CC5BB-227B-44F6-A27F-15B041117EA8}"/>
              </a:ext>
            </a:extLst>
          </p:cNvPr>
          <p:cNvSpPr>
            <a:spLocks noGrp="1"/>
          </p:cNvSpPr>
          <p:nvPr/>
        </p:nvSpPr>
        <p:spPr>
          <a:xfrm>
            <a:off x="685800" y="1428750"/>
            <a:ext cx="7810500" cy="1428750"/>
          </a:xfrm>
          <a:prstGeom prst="rect">
            <a:avLst/>
          </a:prstGeom>
          <a:noFill/>
          <a:ln w="0">
            <a:noFill/>
            <a:prstDash val="solid"/>
          </a:ln>
        </p:spPr>
        <p:txBody>
          <a:bodyPr/>
          <a:lstStyle/>
          <a:p>
            <a:pPr>
              <a:defRPr sz="4500" b="1">
                <a:solidFill>
                  <a:srgbClr val="12315B"/>
                </a:solidFill>
              </a:defRPr>
            </a:pPr>
            <a:r>
              <a:rPr lang="en-US" sz="4500" b="1" dirty="0" err="1"/>
              <a:t>Xây</a:t>
            </a:r>
            <a:r>
              <a:rPr lang="en-US" sz="4500" b="1" dirty="0"/>
              <a:t> </a:t>
            </a:r>
            <a:r>
              <a:rPr lang="en-US" sz="4500" b="1" dirty="0" err="1"/>
              <a:t>dựng</a:t>
            </a:r>
            <a:r>
              <a:rPr lang="en-US" sz="4500" b="1" dirty="0"/>
              <a:t> </a:t>
            </a:r>
            <a:r>
              <a:rPr lang="en-US" sz="4500" b="1" dirty="0" err="1"/>
              <a:t>nền</a:t>
            </a:r>
            <a:r>
              <a:rPr lang="en-US" sz="4500" b="1" dirty="0"/>
              <a:t> </a:t>
            </a:r>
            <a:r>
              <a:rPr lang="en-US" sz="4500" b="1" dirty="0" err="1"/>
              <a:t>tảng</a:t>
            </a:r>
            <a:r>
              <a:rPr lang="en-US" sz="4500" b="1" dirty="0"/>
              <a:t> </a:t>
            </a:r>
            <a:r>
              <a:rPr lang="en-US" sz="4500" b="1" dirty="0" err="1"/>
              <a:t>phân</a:t>
            </a:r>
            <a:r>
              <a:rPr lang="en-US" sz="4500" b="1" dirty="0"/>
              <a:t> </a:t>
            </a:r>
            <a:r>
              <a:rPr lang="en-US" sz="4500" b="1" dirty="0" err="1"/>
              <a:t>tích</a:t>
            </a:r>
            <a:r>
              <a:rPr lang="en-US" sz="4500" b="1" dirty="0"/>
              <a:t> </a:t>
            </a:r>
            <a:r>
              <a:rPr lang="en-US" sz="4500" b="1" dirty="0" err="1"/>
              <a:t>giao</a:t>
            </a:r>
            <a:r>
              <a:rPr lang="en-US" sz="4500" b="1" dirty="0"/>
              <a:t> </a:t>
            </a:r>
            <a:r>
              <a:rPr lang="en-US" sz="4500" b="1" dirty="0" err="1"/>
              <a:t>dịch</a:t>
            </a:r>
            <a:r>
              <a:rPr lang="en-US" sz="4500" b="1" dirty="0"/>
              <a:t> AML </a:t>
            </a:r>
            <a:r>
              <a:rPr lang="en-US" sz="4500" b="1" dirty="0" err="1"/>
              <a:t>trên</a:t>
            </a:r>
            <a:r>
              <a:rPr lang="en-US" sz="4500" b="1" dirty="0"/>
              <a:t> AWS Cloud</a:t>
            </a:r>
            <a:endParaRPr sz="4500" b="1" dirty="0">
              <a:solidFill>
                <a:srgbClr val="12315B"/>
              </a:solidFill>
            </a:endParaRPr>
          </a:p>
        </p:txBody>
      </p:sp>
      <p:sp>
        <p:nvSpPr>
          <p:cNvPr id="5" name="Rectangle 4">
            <a:extLst>
              <a:ext uri="{FF2B5EF4-FFF2-40B4-BE49-F238E27FC236}">
                <a16:creationId xmlns:a16="http://schemas.microsoft.com/office/drawing/2014/main" id="{C2D08FB4-CD37-4E75-82BD-B9DCB23654F1}"/>
              </a:ext>
            </a:extLst>
          </p:cNvPr>
          <p:cNvSpPr>
            <a:spLocks noGrp="1"/>
          </p:cNvSpPr>
          <p:nvPr/>
        </p:nvSpPr>
        <p:spPr>
          <a:xfrm>
            <a:off x="723900" y="3943350"/>
            <a:ext cx="2381250" cy="57150"/>
          </a:xfrm>
          <a:prstGeom prst="rect">
            <a:avLst/>
          </a:prstGeom>
          <a:solidFill>
            <a:srgbClr val="14B8A6"/>
          </a:solidFill>
          <a:ln w="0">
            <a:solidFill>
              <a:srgbClr val="14B8A6"/>
            </a:solidFill>
            <a:prstDash val="solid"/>
          </a:ln>
        </p:spPr>
        <p:txBody>
          <a:bodyPr/>
          <a:lstStyle/>
          <a:p>
            <a:endParaRPr lang="en-US"/>
          </a:p>
        </p:txBody>
      </p:sp>
      <p:sp>
        <p:nvSpPr>
          <p:cNvPr id="8" name="Rounded Rectangle 7">
            <a:extLst>
              <a:ext uri="{FF2B5EF4-FFF2-40B4-BE49-F238E27FC236}">
                <a16:creationId xmlns:a16="http://schemas.microsoft.com/office/drawing/2014/main" id="{53455D37-8358-4C44-9D8D-08759BA7E863}"/>
              </a:ext>
            </a:extLst>
          </p:cNvPr>
          <p:cNvSpPr>
            <a:spLocks noGrp="1"/>
          </p:cNvSpPr>
          <p:nvPr/>
        </p:nvSpPr>
        <p:spPr>
          <a:xfrm>
            <a:off x="8839200" y="1123950"/>
            <a:ext cx="2803450" cy="3611033"/>
          </a:xfrm>
          <a:prstGeom prst="roundRect">
            <a:avLst>
              <a:gd name="adj" fmla="val 6202"/>
            </a:avLst>
          </a:prstGeom>
          <a:solidFill>
            <a:srgbClr val="FFFFFF"/>
          </a:solidFill>
          <a:ln w="14288">
            <a:solidFill>
              <a:srgbClr val="BFD2E8"/>
            </a:solidFill>
            <a:prstDash val="solid"/>
          </a:ln>
        </p:spPr>
        <p:txBody>
          <a:bodyPr/>
          <a:lstStyle/>
          <a:p>
            <a:endParaRPr lang="en-US"/>
          </a:p>
        </p:txBody>
      </p:sp>
      <p:sp>
        <p:nvSpPr>
          <p:cNvPr id="9" name="Rounded Rectangle 8">
            <a:extLst>
              <a:ext uri="{FF2B5EF4-FFF2-40B4-BE49-F238E27FC236}">
                <a16:creationId xmlns:a16="http://schemas.microsoft.com/office/drawing/2014/main" id="{0ADBBB42-FC93-4539-A561-234182BD2CE9}"/>
              </a:ext>
            </a:extLst>
          </p:cNvPr>
          <p:cNvSpPr>
            <a:spLocks noGrp="1"/>
          </p:cNvSpPr>
          <p:nvPr/>
        </p:nvSpPr>
        <p:spPr>
          <a:xfrm>
            <a:off x="9067800" y="1428750"/>
            <a:ext cx="819150" cy="323850"/>
          </a:xfrm>
          <a:prstGeom prst="roundRect">
            <a:avLst>
              <a:gd name="adj" fmla="val 35294"/>
            </a:avLst>
          </a:prstGeom>
          <a:solidFill>
            <a:srgbClr val="FFF3DD"/>
          </a:solidFill>
          <a:ln w="9525">
            <a:solidFill>
              <a:srgbClr val="FFF3DD"/>
            </a:solidFill>
            <a:prstDash val="solid"/>
          </a:ln>
        </p:spPr>
        <p:txBody>
          <a:bodyPr/>
          <a:lstStyle/>
          <a:p>
            <a:endParaRPr lang="en-US"/>
          </a:p>
        </p:txBody>
      </p:sp>
      <p:sp>
        <p:nvSpPr>
          <p:cNvPr id="10" name="Rectangle 9">
            <a:extLst>
              <a:ext uri="{FF2B5EF4-FFF2-40B4-BE49-F238E27FC236}">
                <a16:creationId xmlns:a16="http://schemas.microsoft.com/office/drawing/2014/main" id="{CE59DD71-09A4-4712-A99F-3AD36856D140}"/>
              </a:ext>
            </a:extLst>
          </p:cNvPr>
          <p:cNvSpPr>
            <a:spLocks noGrp="1"/>
          </p:cNvSpPr>
          <p:nvPr/>
        </p:nvSpPr>
        <p:spPr>
          <a:xfrm>
            <a:off x="9144000" y="1466850"/>
            <a:ext cx="666750" cy="190500"/>
          </a:xfrm>
          <a:prstGeom prst="rect">
            <a:avLst/>
          </a:prstGeom>
          <a:noFill/>
          <a:ln w="0">
            <a:noFill/>
            <a:prstDash val="solid"/>
          </a:ln>
        </p:spPr>
        <p:txBody>
          <a:bodyPr/>
          <a:lstStyle/>
          <a:p>
            <a:pPr algn="ctr">
              <a:buNone/>
              <a:defRPr sz="1200" b="1">
                <a:solidFill>
                  <a:srgbClr val="D97706"/>
                </a:solidFill>
              </a:defRPr>
            </a:pPr>
            <a:r>
              <a:rPr sz="1200" b="1">
                <a:solidFill>
                  <a:srgbClr val="D97706"/>
                </a:solidFill>
              </a:rPr>
              <a:t>S3</a:t>
            </a:r>
          </a:p>
        </p:txBody>
      </p:sp>
      <p:sp>
        <p:nvSpPr>
          <p:cNvPr id="11" name="Rectangle 10">
            <a:extLst>
              <a:ext uri="{FF2B5EF4-FFF2-40B4-BE49-F238E27FC236}">
                <a16:creationId xmlns:a16="http://schemas.microsoft.com/office/drawing/2014/main" id="{44CC2022-C106-4F63-992E-5831F04B2067}"/>
              </a:ext>
            </a:extLst>
          </p:cNvPr>
          <p:cNvSpPr>
            <a:spLocks noGrp="1"/>
          </p:cNvSpPr>
          <p:nvPr/>
        </p:nvSpPr>
        <p:spPr>
          <a:xfrm>
            <a:off x="10020300" y="1485900"/>
            <a:ext cx="1028700" cy="361950"/>
          </a:xfrm>
          <a:prstGeom prst="rect">
            <a:avLst/>
          </a:prstGeom>
          <a:noFill/>
          <a:ln w="0">
            <a:noFill/>
            <a:prstDash val="solid"/>
          </a:ln>
        </p:spPr>
        <p:txBody>
          <a:bodyPr/>
          <a:lstStyle/>
          <a:p>
            <a:pPr algn="l">
              <a:buNone/>
              <a:defRPr sz="1200" b="1">
                <a:solidFill>
                  <a:srgbClr val="12315B"/>
                </a:solidFill>
              </a:defRPr>
            </a:pPr>
            <a:r>
              <a:rPr sz="1200" b="1">
                <a:solidFill>
                  <a:srgbClr val="12315B"/>
                </a:solidFill>
              </a:rPr>
              <a:t>Data Lake</a:t>
            </a:r>
          </a:p>
        </p:txBody>
      </p:sp>
      <p:sp>
        <p:nvSpPr>
          <p:cNvPr id="12" name="Rounded Rectangle 11">
            <a:extLst>
              <a:ext uri="{FF2B5EF4-FFF2-40B4-BE49-F238E27FC236}">
                <a16:creationId xmlns:a16="http://schemas.microsoft.com/office/drawing/2014/main" id="{10D74A1F-2C36-4018-A57F-E6FC3D072DB6}"/>
              </a:ext>
            </a:extLst>
          </p:cNvPr>
          <p:cNvSpPr>
            <a:spLocks noGrp="1"/>
          </p:cNvSpPr>
          <p:nvPr/>
        </p:nvSpPr>
        <p:spPr>
          <a:xfrm>
            <a:off x="9067800" y="2305050"/>
            <a:ext cx="81915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13" name="Rectangle 12">
            <a:extLst>
              <a:ext uri="{FF2B5EF4-FFF2-40B4-BE49-F238E27FC236}">
                <a16:creationId xmlns:a16="http://schemas.microsoft.com/office/drawing/2014/main" id="{6BCD7564-5F1B-4FFC-8D3B-4072EC80C82A}"/>
              </a:ext>
            </a:extLst>
          </p:cNvPr>
          <p:cNvSpPr>
            <a:spLocks noGrp="1"/>
          </p:cNvSpPr>
          <p:nvPr/>
        </p:nvSpPr>
        <p:spPr>
          <a:xfrm>
            <a:off x="9144000" y="2343150"/>
            <a:ext cx="666750" cy="190500"/>
          </a:xfrm>
          <a:prstGeom prst="rect">
            <a:avLst/>
          </a:prstGeom>
          <a:noFill/>
          <a:ln w="0">
            <a:noFill/>
            <a:prstDash val="solid"/>
          </a:ln>
        </p:spPr>
        <p:txBody>
          <a:bodyPr/>
          <a:lstStyle/>
          <a:p>
            <a:pPr algn="ctr">
              <a:buNone/>
              <a:defRPr sz="1200" b="1">
                <a:solidFill>
                  <a:srgbClr val="2563EB"/>
                </a:solidFill>
              </a:defRPr>
            </a:pPr>
            <a:r>
              <a:rPr sz="1200" b="1">
                <a:solidFill>
                  <a:srgbClr val="2563EB"/>
                </a:solidFill>
              </a:rPr>
              <a:t>Glue</a:t>
            </a:r>
          </a:p>
        </p:txBody>
      </p:sp>
      <p:sp>
        <p:nvSpPr>
          <p:cNvPr id="14" name="Rectangle 13">
            <a:extLst>
              <a:ext uri="{FF2B5EF4-FFF2-40B4-BE49-F238E27FC236}">
                <a16:creationId xmlns:a16="http://schemas.microsoft.com/office/drawing/2014/main" id="{146E181B-9E7E-407B-B18B-3185D063A87E}"/>
              </a:ext>
            </a:extLst>
          </p:cNvPr>
          <p:cNvSpPr>
            <a:spLocks noGrp="1"/>
          </p:cNvSpPr>
          <p:nvPr/>
        </p:nvSpPr>
        <p:spPr>
          <a:xfrm>
            <a:off x="10020300" y="2362200"/>
            <a:ext cx="1485900" cy="361950"/>
          </a:xfrm>
          <a:prstGeom prst="rect">
            <a:avLst/>
          </a:prstGeom>
          <a:noFill/>
          <a:ln w="0">
            <a:noFill/>
            <a:prstDash val="solid"/>
          </a:ln>
        </p:spPr>
        <p:txBody>
          <a:bodyPr/>
          <a:lstStyle/>
          <a:p>
            <a:pPr algn="l">
              <a:buNone/>
              <a:defRPr sz="1200" b="1">
                <a:solidFill>
                  <a:srgbClr val="12315B"/>
                </a:solidFill>
              </a:defRPr>
            </a:pPr>
            <a:r>
              <a:rPr sz="1200" b="1">
                <a:solidFill>
                  <a:srgbClr val="12315B"/>
                </a:solidFill>
              </a:rPr>
              <a:t>Catalog + Visual ETL</a:t>
            </a:r>
          </a:p>
        </p:txBody>
      </p:sp>
      <p:sp>
        <p:nvSpPr>
          <p:cNvPr id="15" name="Rounded Rectangle 14">
            <a:extLst>
              <a:ext uri="{FF2B5EF4-FFF2-40B4-BE49-F238E27FC236}">
                <a16:creationId xmlns:a16="http://schemas.microsoft.com/office/drawing/2014/main" id="{2927C9EF-4017-4EF2-AEB5-153421AF8F6D}"/>
              </a:ext>
            </a:extLst>
          </p:cNvPr>
          <p:cNvSpPr>
            <a:spLocks noGrp="1"/>
          </p:cNvSpPr>
          <p:nvPr/>
        </p:nvSpPr>
        <p:spPr>
          <a:xfrm>
            <a:off x="9067800" y="3181350"/>
            <a:ext cx="81915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16" name="Rectangle 15">
            <a:extLst>
              <a:ext uri="{FF2B5EF4-FFF2-40B4-BE49-F238E27FC236}">
                <a16:creationId xmlns:a16="http://schemas.microsoft.com/office/drawing/2014/main" id="{A4EF8E30-1FD8-46E3-96D0-2C4536A05EE0}"/>
              </a:ext>
            </a:extLst>
          </p:cNvPr>
          <p:cNvSpPr>
            <a:spLocks noGrp="1"/>
          </p:cNvSpPr>
          <p:nvPr/>
        </p:nvSpPr>
        <p:spPr>
          <a:xfrm>
            <a:off x="9144000" y="3219450"/>
            <a:ext cx="666750" cy="190500"/>
          </a:xfrm>
          <a:prstGeom prst="rect">
            <a:avLst/>
          </a:prstGeom>
          <a:noFill/>
          <a:ln w="0">
            <a:noFill/>
            <a:prstDash val="solid"/>
          </a:ln>
        </p:spPr>
        <p:txBody>
          <a:bodyPr/>
          <a:lstStyle/>
          <a:p>
            <a:pPr algn="ctr">
              <a:buNone/>
              <a:defRPr sz="900" b="1">
                <a:solidFill>
                  <a:srgbClr val="2563EB"/>
                </a:solidFill>
              </a:defRPr>
            </a:pPr>
            <a:r>
              <a:rPr sz="1200" b="1">
                <a:solidFill>
                  <a:srgbClr val="2563EB"/>
                </a:solidFill>
              </a:rPr>
              <a:t>Athena</a:t>
            </a:r>
          </a:p>
        </p:txBody>
      </p:sp>
      <p:sp>
        <p:nvSpPr>
          <p:cNvPr id="17" name="Rectangle 16">
            <a:extLst>
              <a:ext uri="{FF2B5EF4-FFF2-40B4-BE49-F238E27FC236}">
                <a16:creationId xmlns:a16="http://schemas.microsoft.com/office/drawing/2014/main" id="{950D2633-3BC5-456A-BAE9-0057B27F731B}"/>
              </a:ext>
            </a:extLst>
          </p:cNvPr>
          <p:cNvSpPr>
            <a:spLocks noGrp="1"/>
          </p:cNvSpPr>
          <p:nvPr/>
        </p:nvSpPr>
        <p:spPr>
          <a:xfrm>
            <a:off x="10020299" y="3238500"/>
            <a:ext cx="1356537" cy="361950"/>
          </a:xfrm>
          <a:prstGeom prst="rect">
            <a:avLst/>
          </a:prstGeom>
          <a:noFill/>
          <a:ln w="0">
            <a:noFill/>
            <a:prstDash val="solid"/>
          </a:ln>
        </p:spPr>
        <p:txBody>
          <a:bodyPr/>
          <a:lstStyle/>
          <a:p>
            <a:pPr algn="l">
              <a:buNone/>
              <a:defRPr sz="1200" b="1">
                <a:solidFill>
                  <a:srgbClr val="12315B"/>
                </a:solidFill>
              </a:defRPr>
            </a:pPr>
            <a:r>
              <a:rPr sz="1200" b="1">
                <a:solidFill>
                  <a:srgbClr val="12315B"/>
                </a:solidFill>
              </a:rPr>
              <a:t>SQL serverless</a:t>
            </a:r>
          </a:p>
        </p:txBody>
      </p:sp>
      <p:sp>
        <p:nvSpPr>
          <p:cNvPr id="18" name="Rounded Rectangle 17">
            <a:extLst>
              <a:ext uri="{FF2B5EF4-FFF2-40B4-BE49-F238E27FC236}">
                <a16:creationId xmlns:a16="http://schemas.microsoft.com/office/drawing/2014/main" id="{BFF00AF5-3471-4DD8-8BDC-4D8BE3B14FC2}"/>
              </a:ext>
            </a:extLst>
          </p:cNvPr>
          <p:cNvSpPr>
            <a:spLocks noGrp="1"/>
          </p:cNvSpPr>
          <p:nvPr/>
        </p:nvSpPr>
        <p:spPr>
          <a:xfrm>
            <a:off x="9067800" y="4057650"/>
            <a:ext cx="81915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19" name="Rectangle 18">
            <a:extLst>
              <a:ext uri="{FF2B5EF4-FFF2-40B4-BE49-F238E27FC236}">
                <a16:creationId xmlns:a16="http://schemas.microsoft.com/office/drawing/2014/main" id="{494F8635-5986-4D2B-AFB1-7D17E119A988}"/>
              </a:ext>
            </a:extLst>
          </p:cNvPr>
          <p:cNvSpPr>
            <a:spLocks noGrp="1"/>
          </p:cNvSpPr>
          <p:nvPr/>
        </p:nvSpPr>
        <p:spPr>
          <a:xfrm>
            <a:off x="9144000" y="4096808"/>
            <a:ext cx="666750" cy="190500"/>
          </a:xfrm>
          <a:prstGeom prst="rect">
            <a:avLst/>
          </a:prstGeom>
          <a:noFill/>
          <a:ln w="0">
            <a:noFill/>
            <a:prstDash val="solid"/>
          </a:ln>
        </p:spPr>
        <p:txBody>
          <a:bodyPr/>
          <a:lstStyle/>
          <a:p>
            <a:pPr algn="ctr">
              <a:buNone/>
              <a:defRPr sz="1200" b="1">
                <a:solidFill>
                  <a:srgbClr val="2563EB"/>
                </a:solidFill>
              </a:defRPr>
            </a:pPr>
            <a:r>
              <a:rPr sz="1200" b="1">
                <a:solidFill>
                  <a:srgbClr val="2563EB"/>
                </a:solidFill>
              </a:rPr>
              <a:t>BI</a:t>
            </a:r>
          </a:p>
        </p:txBody>
      </p:sp>
      <p:sp>
        <p:nvSpPr>
          <p:cNvPr id="20" name="Rectangle 19">
            <a:extLst>
              <a:ext uri="{FF2B5EF4-FFF2-40B4-BE49-F238E27FC236}">
                <a16:creationId xmlns:a16="http://schemas.microsoft.com/office/drawing/2014/main" id="{AA79ABCB-8328-491B-8ACC-9B3B7457D2BB}"/>
              </a:ext>
            </a:extLst>
          </p:cNvPr>
          <p:cNvSpPr>
            <a:spLocks noGrp="1"/>
          </p:cNvSpPr>
          <p:nvPr/>
        </p:nvSpPr>
        <p:spPr>
          <a:xfrm>
            <a:off x="10020299" y="4114800"/>
            <a:ext cx="1622351" cy="361950"/>
          </a:xfrm>
          <a:prstGeom prst="rect">
            <a:avLst/>
          </a:prstGeom>
          <a:noFill/>
          <a:ln w="0">
            <a:noFill/>
            <a:prstDash val="solid"/>
          </a:ln>
        </p:spPr>
        <p:txBody>
          <a:bodyPr/>
          <a:lstStyle/>
          <a:p>
            <a:pPr algn="l">
              <a:buNone/>
              <a:defRPr sz="1200" b="1">
                <a:solidFill>
                  <a:srgbClr val="12315B"/>
                </a:solidFill>
              </a:defRPr>
            </a:pPr>
            <a:r>
              <a:rPr sz="1200" b="1">
                <a:solidFill>
                  <a:srgbClr val="12315B"/>
                </a:solidFill>
              </a:rPr>
              <a:t>Power BI</a:t>
            </a:r>
          </a:p>
        </p:txBody>
      </p:sp>
      <p:graphicFrame>
        <p:nvGraphicFramePr>
          <p:cNvPr id="24" name="Table 15">
            <a:extLst>
              <a:ext uri="{FF2B5EF4-FFF2-40B4-BE49-F238E27FC236}">
                <a16:creationId xmlns:a16="http://schemas.microsoft.com/office/drawing/2014/main" id="{7E8E3AE5-8F70-7443-0630-DC74BCC06568}"/>
              </a:ext>
            </a:extLst>
          </p:cNvPr>
          <p:cNvGraphicFramePr/>
          <p:nvPr>
            <p:extLst>
              <p:ext uri="{D42A27DB-BD31-4B8C-83A1-F6EECF244321}">
                <p14:modId xmlns:p14="http://schemas.microsoft.com/office/powerpoint/2010/main" val="2636046091"/>
              </p:ext>
            </p:extLst>
          </p:nvPr>
        </p:nvGraphicFramePr>
        <p:xfrm>
          <a:off x="723900" y="4295775"/>
          <a:ext cx="8381999" cy="1504950"/>
        </p:xfrm>
        <a:graphic>
          <a:graphicData uri="http://schemas.openxmlformats.org/drawingml/2006/table">
            <a:tbl>
              <a:tblPr firstRow="1" bandRow="1">
                <a:tableStyleId>{5C22544A-7EE6-4342-B048-85BDC9FD1C3A}</a:tableStyleId>
              </a:tblPr>
              <a:tblGrid>
                <a:gridCol w="2185110">
                  <a:extLst>
                    <a:ext uri="{9D8B030D-6E8A-4147-A177-3AD203B41FA5}">
                      <a16:colId xmlns:a16="http://schemas.microsoft.com/office/drawing/2014/main" val="20000"/>
                    </a:ext>
                  </a:extLst>
                </a:gridCol>
                <a:gridCol w="6196889">
                  <a:extLst>
                    <a:ext uri="{9D8B030D-6E8A-4147-A177-3AD203B41FA5}">
                      <a16:colId xmlns:a16="http://schemas.microsoft.com/office/drawing/2014/main" val="20001"/>
                    </a:ext>
                  </a:extLst>
                </a:gridCol>
              </a:tblGrid>
              <a:tr h="752475">
                <a:tc>
                  <a:txBody>
                    <a:bodyPr/>
                    <a:lstStyle/>
                    <a:p>
                      <a:r>
                        <a:rPr sz="3200" b="1" dirty="0">
                          <a:solidFill>
                            <a:schemeClr val="tx2">
                              <a:lumMod val="75000"/>
                              <a:lumOff val="25000"/>
                            </a:schemeClr>
                          </a:solidFill>
                        </a:rPr>
                        <a:t>Học </a:t>
                      </a:r>
                      <a:r>
                        <a:rPr sz="3200" b="1" dirty="0" err="1">
                          <a:solidFill>
                            <a:schemeClr val="tx2">
                              <a:lumMod val="75000"/>
                              <a:lumOff val="25000"/>
                            </a:schemeClr>
                          </a:solidFill>
                        </a:rPr>
                        <a:t>viên</a:t>
                      </a:r>
                      <a:r>
                        <a:rPr sz="3200" b="1" dirty="0">
                          <a:solidFill>
                            <a:schemeClr val="tx2">
                              <a:lumMod val="75000"/>
                              <a:lumOff val="25000"/>
                            </a:schemeClr>
                          </a:solidFill>
                        </a:rPr>
                        <a: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r>
                        <a:rPr sz="3200" b="1" dirty="0">
                          <a:solidFill>
                            <a:schemeClr val="tx2">
                              <a:lumMod val="75000"/>
                              <a:lumOff val="25000"/>
                            </a:schemeClr>
                          </a:solidFill>
                        </a:rPr>
                        <a:t>Trương Văn Hiển</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52475">
                <a:tc>
                  <a:txBody>
                    <a:bodyPr/>
                    <a:lstStyle/>
                    <a:p>
                      <a:r>
                        <a:rPr sz="3200" b="1">
                          <a:solidFill>
                            <a:schemeClr val="tx2">
                              <a:lumMod val="75000"/>
                              <a:lumOff val="25000"/>
                            </a:schemeClr>
                          </a:solidFill>
                        </a:rPr>
                        <a:t>Lớp:</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r>
                        <a:rPr sz="3200" b="1" dirty="0">
                          <a:solidFill>
                            <a:schemeClr val="tx2">
                              <a:lumMod val="75000"/>
                              <a:lumOff val="25000"/>
                            </a:schemeClr>
                          </a:solidFill>
                        </a:rPr>
                        <a:t>Data Engineer – K20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30606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466858F4-54F9-46ED-8C99-AEAC9A35551B}"/>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31,9 triệu giao dịch: không thể làm thủ công</a:t>
            </a:r>
          </a:p>
        </p:txBody>
      </p:sp>
      <p:sp>
        <p:nvSpPr>
          <p:cNvPr id="2" name="Rectangle 1">
            <a:extLst>
              <a:ext uri="{FF2B5EF4-FFF2-40B4-BE49-F238E27FC236}">
                <a16:creationId xmlns:a16="http://schemas.microsoft.com/office/drawing/2014/main" id="{427CE3A8-1F7E-43F9-B4E9-12671C10B4AC}"/>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Business problem: phát hiện vùng rủi ro trong dữ liệu lớn và phân tán</a:t>
            </a:r>
          </a:p>
        </p:txBody>
      </p:sp>
      <p:sp>
        <p:nvSpPr>
          <p:cNvPr id="3" name="Rectangle 2">
            <a:extLst>
              <a:ext uri="{FF2B5EF4-FFF2-40B4-BE49-F238E27FC236}">
                <a16:creationId xmlns:a16="http://schemas.microsoft.com/office/drawing/2014/main" id="{4AC88EC8-A27D-4118-A70C-5119EDD2632A}"/>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ectangle 4">
            <a:extLst>
              <a:ext uri="{FF2B5EF4-FFF2-40B4-BE49-F238E27FC236}">
                <a16:creationId xmlns:a16="http://schemas.microsoft.com/office/drawing/2014/main" id="{C4818F1A-CCBE-4407-964F-ACF2BF624148}"/>
              </a:ext>
            </a:extLst>
          </p:cNvPr>
          <p:cNvSpPr>
            <a:spLocks noGrp="1"/>
          </p:cNvSpPr>
          <p:nvPr/>
        </p:nvSpPr>
        <p:spPr>
          <a:xfrm>
            <a:off x="647700" y="1657350"/>
            <a:ext cx="3048000" cy="323850"/>
          </a:xfrm>
          <a:prstGeom prst="rect">
            <a:avLst/>
          </a:prstGeom>
          <a:noFill/>
          <a:ln w="0">
            <a:noFill/>
            <a:prstDash val="solid"/>
          </a:ln>
        </p:spPr>
        <p:txBody>
          <a:bodyPr/>
          <a:lstStyle/>
          <a:p>
            <a:pPr algn="l">
              <a:buNone/>
              <a:defRPr sz="1950" b="1">
                <a:solidFill>
                  <a:srgbClr val="C83E4D"/>
                </a:solidFill>
              </a:defRPr>
            </a:pPr>
            <a:r>
              <a:rPr sz="1950" b="1">
                <a:solidFill>
                  <a:srgbClr val="C83E4D"/>
                </a:solidFill>
              </a:rPr>
              <a:t>Bài toán nghiệp vụ</a:t>
            </a:r>
          </a:p>
        </p:txBody>
      </p:sp>
      <p:sp>
        <p:nvSpPr>
          <p:cNvPr id="6" name="Rectangle 5">
            <a:extLst>
              <a:ext uri="{FF2B5EF4-FFF2-40B4-BE49-F238E27FC236}">
                <a16:creationId xmlns:a16="http://schemas.microsoft.com/office/drawing/2014/main" id="{A45EA021-7F85-46A2-92AA-19F5235E9AD9}"/>
              </a:ext>
            </a:extLst>
          </p:cNvPr>
          <p:cNvSpPr>
            <a:spLocks noGrp="1"/>
          </p:cNvSpPr>
          <p:nvPr/>
        </p:nvSpPr>
        <p:spPr>
          <a:xfrm>
            <a:off x="647700" y="2085975"/>
            <a:ext cx="5191125" cy="1200150"/>
          </a:xfrm>
          <a:prstGeom prst="rect">
            <a:avLst/>
          </a:prstGeom>
          <a:noFill/>
          <a:ln w="0">
            <a:noFill/>
            <a:prstDash val="solid"/>
          </a:ln>
        </p:spPr>
        <p:txBody>
          <a:bodyPr/>
          <a:lstStyle/>
          <a:p>
            <a:pPr algn="l">
              <a:buNone/>
              <a:defRPr sz="1425" b="1">
                <a:solidFill>
                  <a:srgbClr val="12315B"/>
                </a:solidFill>
              </a:defRPr>
            </a:pPr>
            <a:r>
              <a:rPr sz="1600" b="1">
                <a:solidFill>
                  <a:srgbClr val="12315B"/>
                </a:solidFill>
              </a:rPr>
              <a:t>Bộ phận AML cần biết nên điều tra kênh nào, ngân hàng nào và pattern nào trước</a:t>
            </a:r>
            <a:r>
              <a:rPr lang="vi-VN" sz="1600" b="1">
                <a:solidFill>
                  <a:srgbClr val="12315B"/>
                </a:solidFill>
              </a:rPr>
              <a:t>,</a:t>
            </a:r>
            <a:r>
              <a:rPr sz="1600" b="1">
                <a:solidFill>
                  <a:srgbClr val="12315B"/>
                </a:solidFill>
              </a:rPr>
              <a:t> nhưng dữ liệu nguồn</a:t>
            </a:r>
            <a:r>
              <a:rPr lang="vi-VN" sz="1600" b="1">
                <a:solidFill>
                  <a:srgbClr val="12315B"/>
                </a:solidFill>
              </a:rPr>
              <a:t> raw data</a:t>
            </a:r>
            <a:r>
              <a:rPr sz="1600" b="1">
                <a:solidFill>
                  <a:srgbClr val="12315B"/>
                </a:solidFill>
              </a:rPr>
              <a:t> chưa sẵn sàng cho quyết định</a:t>
            </a:r>
          </a:p>
        </p:txBody>
      </p:sp>
      <p:sp>
        <p:nvSpPr>
          <p:cNvPr id="7" name="Oval 6">
            <a:extLst>
              <a:ext uri="{FF2B5EF4-FFF2-40B4-BE49-F238E27FC236}">
                <a16:creationId xmlns:a16="http://schemas.microsoft.com/office/drawing/2014/main" id="{7D5E64A8-0313-4D18-B2C3-D0BB9810B1BC}"/>
              </a:ext>
            </a:extLst>
          </p:cNvPr>
          <p:cNvSpPr>
            <a:spLocks noGrp="1"/>
          </p:cNvSpPr>
          <p:nvPr/>
        </p:nvSpPr>
        <p:spPr>
          <a:xfrm>
            <a:off x="666750" y="3676650"/>
            <a:ext cx="85725" cy="85725"/>
          </a:xfrm>
          <a:prstGeom prst="ellipse">
            <a:avLst/>
          </a:prstGeom>
          <a:solidFill>
            <a:srgbClr val="C83E4D"/>
          </a:solidFill>
          <a:ln w="0">
            <a:solidFill>
              <a:srgbClr val="C83E4D"/>
            </a:solidFill>
            <a:prstDash val="solid"/>
          </a:ln>
        </p:spPr>
        <p:txBody>
          <a:bodyPr/>
          <a:lstStyle/>
          <a:p>
            <a:endParaRPr lang="en-US"/>
          </a:p>
        </p:txBody>
      </p:sp>
      <p:sp>
        <p:nvSpPr>
          <p:cNvPr id="8" name="Rectangle 7">
            <a:extLst>
              <a:ext uri="{FF2B5EF4-FFF2-40B4-BE49-F238E27FC236}">
                <a16:creationId xmlns:a16="http://schemas.microsoft.com/office/drawing/2014/main" id="{A2487464-560D-4C61-8BD7-070719DE6007}"/>
              </a:ext>
            </a:extLst>
          </p:cNvPr>
          <p:cNvSpPr>
            <a:spLocks noGrp="1"/>
          </p:cNvSpPr>
          <p:nvPr/>
        </p:nvSpPr>
        <p:spPr>
          <a:xfrm>
            <a:off x="838200" y="3600450"/>
            <a:ext cx="49720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Nhãn AML rất hiếm, dễ bị chìm trong giao dịch bình thường</a:t>
            </a:r>
          </a:p>
        </p:txBody>
      </p:sp>
      <p:sp>
        <p:nvSpPr>
          <p:cNvPr id="9" name="Oval 8">
            <a:extLst>
              <a:ext uri="{FF2B5EF4-FFF2-40B4-BE49-F238E27FC236}">
                <a16:creationId xmlns:a16="http://schemas.microsoft.com/office/drawing/2014/main" id="{D0E6984F-6D08-440B-B81A-12A03B50656C}"/>
              </a:ext>
            </a:extLst>
          </p:cNvPr>
          <p:cNvSpPr>
            <a:spLocks noGrp="1"/>
          </p:cNvSpPr>
          <p:nvPr/>
        </p:nvSpPr>
        <p:spPr>
          <a:xfrm>
            <a:off x="666750" y="4248150"/>
            <a:ext cx="85725" cy="85725"/>
          </a:xfrm>
          <a:prstGeom prst="ellipse">
            <a:avLst/>
          </a:prstGeom>
          <a:solidFill>
            <a:srgbClr val="FF9900"/>
          </a:solidFill>
          <a:ln w="0">
            <a:solidFill>
              <a:srgbClr val="FF9900"/>
            </a:solidFill>
            <a:prstDash val="solid"/>
          </a:ln>
        </p:spPr>
        <p:txBody>
          <a:bodyPr/>
          <a:lstStyle/>
          <a:p>
            <a:endParaRPr lang="en-US"/>
          </a:p>
        </p:txBody>
      </p:sp>
      <p:sp>
        <p:nvSpPr>
          <p:cNvPr id="10" name="Rectangle 9">
            <a:extLst>
              <a:ext uri="{FF2B5EF4-FFF2-40B4-BE49-F238E27FC236}">
                <a16:creationId xmlns:a16="http://schemas.microsoft.com/office/drawing/2014/main" id="{00C32C35-96A6-47DA-8329-F00C8CBA59C5}"/>
              </a:ext>
            </a:extLst>
          </p:cNvPr>
          <p:cNvSpPr>
            <a:spLocks noGrp="1"/>
          </p:cNvSpPr>
          <p:nvPr/>
        </p:nvSpPr>
        <p:spPr>
          <a:xfrm>
            <a:off x="838200" y="4171950"/>
            <a:ext cx="49720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Transaction, account và pattern nằm ở các nguồn khác nhau</a:t>
            </a:r>
          </a:p>
        </p:txBody>
      </p:sp>
      <p:sp>
        <p:nvSpPr>
          <p:cNvPr id="11" name="Oval 10">
            <a:extLst>
              <a:ext uri="{FF2B5EF4-FFF2-40B4-BE49-F238E27FC236}">
                <a16:creationId xmlns:a16="http://schemas.microsoft.com/office/drawing/2014/main" id="{1BED7672-098A-45A4-AF53-1DCBABBFFF68}"/>
              </a:ext>
            </a:extLst>
          </p:cNvPr>
          <p:cNvSpPr>
            <a:spLocks noGrp="1"/>
          </p:cNvSpPr>
          <p:nvPr/>
        </p:nvSpPr>
        <p:spPr>
          <a:xfrm>
            <a:off x="666750" y="4819650"/>
            <a:ext cx="85725" cy="85725"/>
          </a:xfrm>
          <a:prstGeom prst="ellipse">
            <a:avLst/>
          </a:prstGeom>
          <a:solidFill>
            <a:srgbClr val="2563EB"/>
          </a:solidFill>
          <a:ln w="0">
            <a:solidFill>
              <a:srgbClr val="2563EB"/>
            </a:solidFill>
            <a:prstDash val="solid"/>
          </a:ln>
        </p:spPr>
        <p:txBody>
          <a:bodyPr/>
          <a:lstStyle/>
          <a:p>
            <a:endParaRPr lang="en-US"/>
          </a:p>
        </p:txBody>
      </p:sp>
      <p:sp>
        <p:nvSpPr>
          <p:cNvPr id="12" name="Rectangle 11">
            <a:extLst>
              <a:ext uri="{FF2B5EF4-FFF2-40B4-BE49-F238E27FC236}">
                <a16:creationId xmlns:a16="http://schemas.microsoft.com/office/drawing/2014/main" id="{7B955820-5D04-4889-8CF1-BBE1324782C9}"/>
              </a:ext>
            </a:extLst>
          </p:cNvPr>
          <p:cNvSpPr>
            <a:spLocks noGrp="1"/>
          </p:cNvSpPr>
          <p:nvPr/>
        </p:nvSpPr>
        <p:spPr>
          <a:xfrm>
            <a:off x="838200" y="4743450"/>
            <a:ext cx="49720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Thiếu lớp raw bất biến, lineage và kiểm tra chất lượng có thể làm sai báo cáo</a:t>
            </a:r>
          </a:p>
        </p:txBody>
      </p:sp>
      <p:sp>
        <p:nvSpPr>
          <p:cNvPr id="13" name="Rounded Rectangle 12">
            <a:extLst>
              <a:ext uri="{FF2B5EF4-FFF2-40B4-BE49-F238E27FC236}">
                <a16:creationId xmlns:a16="http://schemas.microsoft.com/office/drawing/2014/main" id="{6CAF4AB9-7A82-4BCD-B75B-CB020266EFBC}"/>
              </a:ext>
            </a:extLst>
          </p:cNvPr>
          <p:cNvSpPr>
            <a:spLocks noGrp="1"/>
          </p:cNvSpPr>
          <p:nvPr/>
        </p:nvSpPr>
        <p:spPr>
          <a:xfrm>
            <a:off x="6534150" y="1695450"/>
            <a:ext cx="4819650" cy="3848100"/>
          </a:xfrm>
          <a:prstGeom prst="roundRect">
            <a:avLst>
              <a:gd name="adj" fmla="val 3960"/>
            </a:avLst>
          </a:prstGeom>
          <a:solidFill>
            <a:srgbClr val="FFFFFF"/>
          </a:solidFill>
          <a:ln w="9525">
            <a:solidFill>
              <a:srgbClr val="D7E0EA"/>
            </a:solidFill>
            <a:prstDash val="solid"/>
          </a:ln>
        </p:spPr>
        <p:txBody>
          <a:bodyPr/>
          <a:lstStyle/>
          <a:p>
            <a:endParaRPr lang="en-US"/>
          </a:p>
        </p:txBody>
      </p:sp>
      <p:sp>
        <p:nvSpPr>
          <p:cNvPr id="14" name="Rectangle 13">
            <a:extLst>
              <a:ext uri="{FF2B5EF4-FFF2-40B4-BE49-F238E27FC236}">
                <a16:creationId xmlns:a16="http://schemas.microsoft.com/office/drawing/2014/main" id="{09ECBD40-36F8-41B9-B7A2-156DFE27A5F6}"/>
              </a:ext>
            </a:extLst>
          </p:cNvPr>
          <p:cNvSpPr>
            <a:spLocks noGrp="1"/>
          </p:cNvSpPr>
          <p:nvPr/>
        </p:nvSpPr>
        <p:spPr>
          <a:xfrm>
            <a:off x="6896100" y="2038350"/>
            <a:ext cx="4000500" cy="323850"/>
          </a:xfrm>
          <a:prstGeom prst="rect">
            <a:avLst/>
          </a:prstGeom>
          <a:noFill/>
          <a:ln w="0">
            <a:noFill/>
            <a:prstDash val="solid"/>
          </a:ln>
        </p:spPr>
        <p:txBody>
          <a:bodyPr/>
          <a:lstStyle/>
          <a:p>
            <a:pPr algn="l">
              <a:buNone/>
              <a:defRPr sz="1950" b="1">
                <a:solidFill>
                  <a:srgbClr val="0F766E"/>
                </a:solidFill>
              </a:defRPr>
            </a:pPr>
            <a:r>
              <a:rPr sz="1950" b="1">
                <a:solidFill>
                  <a:srgbClr val="0F766E"/>
                </a:solidFill>
              </a:rPr>
              <a:t>Mục tiêu giải pháp</a:t>
            </a:r>
          </a:p>
        </p:txBody>
      </p:sp>
      <p:sp>
        <p:nvSpPr>
          <p:cNvPr id="15" name="Rectangle 14">
            <a:extLst>
              <a:ext uri="{FF2B5EF4-FFF2-40B4-BE49-F238E27FC236}">
                <a16:creationId xmlns:a16="http://schemas.microsoft.com/office/drawing/2014/main" id="{32E4E4DF-8DA1-468F-80CF-BCA518C84CF7}"/>
              </a:ext>
            </a:extLst>
          </p:cNvPr>
          <p:cNvSpPr>
            <a:spLocks noGrp="1"/>
          </p:cNvSpPr>
          <p:nvPr/>
        </p:nvSpPr>
        <p:spPr>
          <a:xfrm>
            <a:off x="6896100" y="2571750"/>
            <a:ext cx="4000500" cy="342900"/>
          </a:xfrm>
          <a:prstGeom prst="rect">
            <a:avLst/>
          </a:prstGeom>
          <a:noFill/>
          <a:ln w="0">
            <a:noFill/>
            <a:prstDash val="solid"/>
          </a:ln>
        </p:spPr>
        <p:txBody>
          <a:bodyPr/>
          <a:lstStyle/>
          <a:p>
            <a:pPr algn="l">
              <a:buNone/>
              <a:defRPr sz="1500" b="0">
                <a:solidFill>
                  <a:srgbClr val="5C7291"/>
                </a:solidFill>
              </a:defRPr>
            </a:pPr>
            <a:r>
              <a:rPr sz="1500" b="0">
                <a:solidFill>
                  <a:srgbClr val="5C7291"/>
                </a:solidFill>
              </a:rPr>
              <a:t>Biến dữ liệu giao dịch thành một pipeline có thể:</a:t>
            </a:r>
          </a:p>
        </p:txBody>
      </p:sp>
      <p:sp>
        <p:nvSpPr>
          <p:cNvPr id="16" name="Rounded Rectangle 15">
            <a:extLst>
              <a:ext uri="{FF2B5EF4-FFF2-40B4-BE49-F238E27FC236}">
                <a16:creationId xmlns:a16="http://schemas.microsoft.com/office/drawing/2014/main" id="{83A22CBB-CBDD-4E20-B3B4-8A953C137F41}"/>
              </a:ext>
            </a:extLst>
          </p:cNvPr>
          <p:cNvSpPr>
            <a:spLocks noGrp="1"/>
          </p:cNvSpPr>
          <p:nvPr/>
        </p:nvSpPr>
        <p:spPr>
          <a:xfrm>
            <a:off x="6915150" y="3114675"/>
            <a:ext cx="47625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17" name="Rectangle 16">
            <a:extLst>
              <a:ext uri="{FF2B5EF4-FFF2-40B4-BE49-F238E27FC236}">
                <a16:creationId xmlns:a16="http://schemas.microsoft.com/office/drawing/2014/main" id="{00DB1895-8EA5-4983-BDDB-309683C431ED}"/>
              </a:ext>
            </a:extLst>
          </p:cNvPr>
          <p:cNvSpPr>
            <a:spLocks noGrp="1"/>
          </p:cNvSpPr>
          <p:nvPr/>
        </p:nvSpPr>
        <p:spPr>
          <a:xfrm>
            <a:off x="6991350" y="3152775"/>
            <a:ext cx="323850" cy="190500"/>
          </a:xfrm>
          <a:prstGeom prst="rect">
            <a:avLst/>
          </a:prstGeom>
          <a:noFill/>
          <a:ln w="0">
            <a:noFill/>
            <a:prstDash val="solid"/>
          </a:ln>
        </p:spPr>
        <p:txBody>
          <a:bodyPr/>
          <a:lstStyle/>
          <a:p>
            <a:pPr algn="ctr">
              <a:buNone/>
              <a:defRPr sz="1275" b="1">
                <a:solidFill>
                  <a:srgbClr val="0F766E"/>
                </a:solidFill>
              </a:defRPr>
            </a:pPr>
            <a:r>
              <a:rPr sz="1275" b="1">
                <a:solidFill>
                  <a:srgbClr val="0F766E"/>
                </a:solidFill>
              </a:rPr>
              <a:t>1</a:t>
            </a:r>
          </a:p>
        </p:txBody>
      </p:sp>
      <p:sp>
        <p:nvSpPr>
          <p:cNvPr id="18" name="Rectangle 17">
            <a:extLst>
              <a:ext uri="{FF2B5EF4-FFF2-40B4-BE49-F238E27FC236}">
                <a16:creationId xmlns:a16="http://schemas.microsoft.com/office/drawing/2014/main" id="{254E5C31-DEEE-45A8-AC0A-0D6C00D8158D}"/>
              </a:ext>
            </a:extLst>
          </p:cNvPr>
          <p:cNvSpPr>
            <a:spLocks noGrp="1"/>
          </p:cNvSpPr>
          <p:nvPr/>
        </p:nvSpPr>
        <p:spPr>
          <a:xfrm>
            <a:off x="7572375" y="3152775"/>
            <a:ext cx="3333750" cy="266700"/>
          </a:xfrm>
          <a:prstGeom prst="rect">
            <a:avLst/>
          </a:prstGeom>
          <a:noFill/>
          <a:ln w="0">
            <a:noFill/>
            <a:prstDash val="solid"/>
          </a:ln>
        </p:spPr>
        <p:txBody>
          <a:bodyPr/>
          <a:lstStyle/>
          <a:p>
            <a:pPr algn="l">
              <a:buNone/>
              <a:defRPr sz="1275" b="1">
                <a:solidFill>
                  <a:srgbClr val="12315B"/>
                </a:solidFill>
              </a:defRPr>
            </a:pPr>
            <a:r>
              <a:rPr sz="1275" b="1">
                <a:solidFill>
                  <a:srgbClr val="12315B"/>
                </a:solidFill>
              </a:rPr>
              <a:t>Lưu trữ và audit dữ liệu gốc</a:t>
            </a:r>
          </a:p>
        </p:txBody>
      </p:sp>
      <p:sp>
        <p:nvSpPr>
          <p:cNvPr id="19" name="Rounded Rectangle 18">
            <a:extLst>
              <a:ext uri="{FF2B5EF4-FFF2-40B4-BE49-F238E27FC236}">
                <a16:creationId xmlns:a16="http://schemas.microsoft.com/office/drawing/2014/main" id="{0569E8A7-F3FE-41E6-BB28-61B729457CF4}"/>
              </a:ext>
            </a:extLst>
          </p:cNvPr>
          <p:cNvSpPr>
            <a:spLocks noGrp="1"/>
          </p:cNvSpPr>
          <p:nvPr/>
        </p:nvSpPr>
        <p:spPr>
          <a:xfrm>
            <a:off x="6915150" y="3667125"/>
            <a:ext cx="47625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20" name="Rectangle 19">
            <a:extLst>
              <a:ext uri="{FF2B5EF4-FFF2-40B4-BE49-F238E27FC236}">
                <a16:creationId xmlns:a16="http://schemas.microsoft.com/office/drawing/2014/main" id="{B4B8CA02-F161-40AD-921C-97646741D91F}"/>
              </a:ext>
            </a:extLst>
          </p:cNvPr>
          <p:cNvSpPr>
            <a:spLocks noGrp="1"/>
          </p:cNvSpPr>
          <p:nvPr/>
        </p:nvSpPr>
        <p:spPr>
          <a:xfrm>
            <a:off x="6991350" y="3705225"/>
            <a:ext cx="323850" cy="190500"/>
          </a:xfrm>
          <a:prstGeom prst="rect">
            <a:avLst/>
          </a:prstGeom>
          <a:noFill/>
          <a:ln w="0">
            <a:noFill/>
            <a:prstDash val="solid"/>
          </a:ln>
        </p:spPr>
        <p:txBody>
          <a:bodyPr/>
          <a:lstStyle/>
          <a:p>
            <a:pPr algn="ctr">
              <a:buNone/>
              <a:defRPr sz="1275" b="1">
                <a:solidFill>
                  <a:srgbClr val="0F766E"/>
                </a:solidFill>
              </a:defRPr>
            </a:pPr>
            <a:r>
              <a:rPr sz="1275" b="1">
                <a:solidFill>
                  <a:srgbClr val="0F766E"/>
                </a:solidFill>
              </a:rPr>
              <a:t>2</a:t>
            </a:r>
          </a:p>
        </p:txBody>
      </p:sp>
      <p:sp>
        <p:nvSpPr>
          <p:cNvPr id="21" name="Rectangle 20">
            <a:extLst>
              <a:ext uri="{FF2B5EF4-FFF2-40B4-BE49-F238E27FC236}">
                <a16:creationId xmlns:a16="http://schemas.microsoft.com/office/drawing/2014/main" id="{B7D84A2E-C404-42BA-B143-71ADF447C1BE}"/>
              </a:ext>
            </a:extLst>
          </p:cNvPr>
          <p:cNvSpPr>
            <a:spLocks noGrp="1"/>
          </p:cNvSpPr>
          <p:nvPr/>
        </p:nvSpPr>
        <p:spPr>
          <a:xfrm>
            <a:off x="7572375" y="3705225"/>
            <a:ext cx="3333750" cy="266700"/>
          </a:xfrm>
          <a:prstGeom prst="rect">
            <a:avLst/>
          </a:prstGeom>
          <a:noFill/>
          <a:ln w="0">
            <a:noFill/>
            <a:prstDash val="solid"/>
          </a:ln>
        </p:spPr>
        <p:txBody>
          <a:bodyPr/>
          <a:lstStyle/>
          <a:p>
            <a:pPr algn="l">
              <a:buNone/>
              <a:defRPr sz="1275" b="1">
                <a:solidFill>
                  <a:srgbClr val="12315B"/>
                </a:solidFill>
              </a:defRPr>
            </a:pPr>
            <a:r>
              <a:rPr sz="1275" b="1">
                <a:solidFill>
                  <a:srgbClr val="12315B"/>
                </a:solidFill>
              </a:rPr>
              <a:t>Chuẩn hóa, đối soát và chạy lại</a:t>
            </a:r>
          </a:p>
        </p:txBody>
      </p:sp>
      <p:sp>
        <p:nvSpPr>
          <p:cNvPr id="22" name="Rounded Rectangle 21">
            <a:extLst>
              <a:ext uri="{FF2B5EF4-FFF2-40B4-BE49-F238E27FC236}">
                <a16:creationId xmlns:a16="http://schemas.microsoft.com/office/drawing/2014/main" id="{57C6716E-0313-49D7-A1EE-C90C03452D0D}"/>
              </a:ext>
            </a:extLst>
          </p:cNvPr>
          <p:cNvSpPr>
            <a:spLocks noGrp="1"/>
          </p:cNvSpPr>
          <p:nvPr/>
        </p:nvSpPr>
        <p:spPr>
          <a:xfrm>
            <a:off x="6915150" y="4219575"/>
            <a:ext cx="47625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23" name="Rectangle 22">
            <a:extLst>
              <a:ext uri="{FF2B5EF4-FFF2-40B4-BE49-F238E27FC236}">
                <a16:creationId xmlns:a16="http://schemas.microsoft.com/office/drawing/2014/main" id="{1E4F20C5-F89D-48F6-AABF-6834AFDC29DE}"/>
              </a:ext>
            </a:extLst>
          </p:cNvPr>
          <p:cNvSpPr>
            <a:spLocks noGrp="1"/>
          </p:cNvSpPr>
          <p:nvPr/>
        </p:nvSpPr>
        <p:spPr>
          <a:xfrm>
            <a:off x="6991350" y="4262203"/>
            <a:ext cx="323850" cy="190500"/>
          </a:xfrm>
          <a:prstGeom prst="rect">
            <a:avLst/>
          </a:prstGeom>
          <a:noFill/>
          <a:ln w="0">
            <a:noFill/>
            <a:prstDash val="solid"/>
          </a:ln>
        </p:spPr>
        <p:txBody>
          <a:bodyPr/>
          <a:lstStyle/>
          <a:p>
            <a:pPr algn="ctr">
              <a:buNone/>
              <a:defRPr sz="1275" b="1">
                <a:solidFill>
                  <a:srgbClr val="0F766E"/>
                </a:solidFill>
              </a:defRPr>
            </a:pPr>
            <a:r>
              <a:rPr sz="1275" b="1">
                <a:solidFill>
                  <a:srgbClr val="0F766E"/>
                </a:solidFill>
              </a:rPr>
              <a:t>3</a:t>
            </a:r>
          </a:p>
        </p:txBody>
      </p:sp>
      <p:sp>
        <p:nvSpPr>
          <p:cNvPr id="24" name="Rectangle 23">
            <a:extLst>
              <a:ext uri="{FF2B5EF4-FFF2-40B4-BE49-F238E27FC236}">
                <a16:creationId xmlns:a16="http://schemas.microsoft.com/office/drawing/2014/main" id="{7EE74E89-8E31-49D4-A1DC-135005A34FCE}"/>
              </a:ext>
            </a:extLst>
          </p:cNvPr>
          <p:cNvSpPr>
            <a:spLocks noGrp="1"/>
          </p:cNvSpPr>
          <p:nvPr/>
        </p:nvSpPr>
        <p:spPr>
          <a:xfrm>
            <a:off x="7572375" y="4257675"/>
            <a:ext cx="3333750" cy="266700"/>
          </a:xfrm>
          <a:prstGeom prst="rect">
            <a:avLst/>
          </a:prstGeom>
          <a:noFill/>
          <a:ln w="0">
            <a:noFill/>
            <a:prstDash val="solid"/>
          </a:ln>
        </p:spPr>
        <p:txBody>
          <a:bodyPr/>
          <a:lstStyle/>
          <a:p>
            <a:pPr algn="l">
              <a:buNone/>
              <a:defRPr sz="1275" b="1">
                <a:solidFill>
                  <a:srgbClr val="12315B"/>
                </a:solidFill>
              </a:defRPr>
            </a:pPr>
            <a:r>
              <a:rPr sz="1275" b="1">
                <a:solidFill>
                  <a:srgbClr val="12315B"/>
                </a:solidFill>
              </a:rPr>
              <a:t>Truy vấn nhanh theo nhu cầu</a:t>
            </a:r>
          </a:p>
        </p:txBody>
      </p:sp>
      <p:sp>
        <p:nvSpPr>
          <p:cNvPr id="25" name="Rounded Rectangle 24">
            <a:extLst>
              <a:ext uri="{FF2B5EF4-FFF2-40B4-BE49-F238E27FC236}">
                <a16:creationId xmlns:a16="http://schemas.microsoft.com/office/drawing/2014/main" id="{DD89CCDB-9F63-4290-9154-840DBAA9D880}"/>
              </a:ext>
            </a:extLst>
          </p:cNvPr>
          <p:cNvSpPr>
            <a:spLocks noGrp="1"/>
          </p:cNvSpPr>
          <p:nvPr/>
        </p:nvSpPr>
        <p:spPr>
          <a:xfrm>
            <a:off x="6915150" y="4772025"/>
            <a:ext cx="47625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26" name="Rectangle 25">
            <a:extLst>
              <a:ext uri="{FF2B5EF4-FFF2-40B4-BE49-F238E27FC236}">
                <a16:creationId xmlns:a16="http://schemas.microsoft.com/office/drawing/2014/main" id="{C852BB88-74BD-4328-A3C5-700AC547F197}"/>
              </a:ext>
            </a:extLst>
          </p:cNvPr>
          <p:cNvSpPr>
            <a:spLocks noGrp="1"/>
          </p:cNvSpPr>
          <p:nvPr/>
        </p:nvSpPr>
        <p:spPr>
          <a:xfrm>
            <a:off x="6991350" y="4808407"/>
            <a:ext cx="323850" cy="190500"/>
          </a:xfrm>
          <a:prstGeom prst="rect">
            <a:avLst/>
          </a:prstGeom>
          <a:noFill/>
          <a:ln w="0">
            <a:noFill/>
            <a:prstDash val="solid"/>
          </a:ln>
        </p:spPr>
        <p:txBody>
          <a:bodyPr/>
          <a:lstStyle/>
          <a:p>
            <a:pPr algn="ctr">
              <a:buNone/>
              <a:defRPr sz="1275" b="1">
                <a:solidFill>
                  <a:srgbClr val="0F766E"/>
                </a:solidFill>
              </a:defRPr>
            </a:pPr>
            <a:r>
              <a:rPr sz="1275" b="1">
                <a:solidFill>
                  <a:srgbClr val="0F766E"/>
                </a:solidFill>
              </a:rPr>
              <a:t>4</a:t>
            </a:r>
          </a:p>
        </p:txBody>
      </p:sp>
      <p:sp>
        <p:nvSpPr>
          <p:cNvPr id="27" name="Rectangle 26">
            <a:extLst>
              <a:ext uri="{FF2B5EF4-FFF2-40B4-BE49-F238E27FC236}">
                <a16:creationId xmlns:a16="http://schemas.microsoft.com/office/drawing/2014/main" id="{97183E42-EA01-437E-A649-2A235BB63B8A}"/>
              </a:ext>
            </a:extLst>
          </p:cNvPr>
          <p:cNvSpPr>
            <a:spLocks noGrp="1"/>
          </p:cNvSpPr>
          <p:nvPr/>
        </p:nvSpPr>
        <p:spPr>
          <a:xfrm>
            <a:off x="7572375" y="4810125"/>
            <a:ext cx="3333750" cy="266700"/>
          </a:xfrm>
          <a:prstGeom prst="rect">
            <a:avLst/>
          </a:prstGeom>
          <a:noFill/>
          <a:ln w="0">
            <a:noFill/>
            <a:prstDash val="solid"/>
          </a:ln>
        </p:spPr>
        <p:txBody>
          <a:bodyPr/>
          <a:lstStyle/>
          <a:p>
            <a:pPr algn="l">
              <a:buNone/>
              <a:defRPr sz="1275" b="1">
                <a:solidFill>
                  <a:srgbClr val="12315B"/>
                </a:solidFill>
              </a:defRPr>
            </a:pPr>
            <a:r>
              <a:rPr sz="1275" b="1">
                <a:solidFill>
                  <a:srgbClr val="12315B"/>
                </a:solidFill>
              </a:rPr>
              <a:t>Cấp insight ưu tiên điều tra</a:t>
            </a:r>
          </a:p>
        </p:txBody>
      </p:sp>
      <p:sp>
        <p:nvSpPr>
          <p:cNvPr id="29" name="Rectangle 28">
            <a:extLst>
              <a:ext uri="{FF2B5EF4-FFF2-40B4-BE49-F238E27FC236}">
                <a16:creationId xmlns:a16="http://schemas.microsoft.com/office/drawing/2014/main" id="{C4404C91-E2EE-4F47-8A24-590B1F4C5A97}"/>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2/17</a:t>
            </a:r>
          </a:p>
        </p:txBody>
      </p:sp>
    </p:spTree>
    <p:extLst>
      <p:ext uri="{BB962C8B-B14F-4D97-AF65-F5344CB8AC3E}">
        <p14:creationId xmlns:p14="http://schemas.microsoft.com/office/powerpoint/2010/main" val="430227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F3CD548-96BE-4BB2-9772-B6D5766C549A}"/>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AML chỉ chiếm 0,1104% tổng giao dịch</a:t>
            </a:r>
          </a:p>
        </p:txBody>
      </p:sp>
      <p:sp>
        <p:nvSpPr>
          <p:cNvPr id="2" name="Rectangle 1">
            <a:extLst>
              <a:ext uri="{FF2B5EF4-FFF2-40B4-BE49-F238E27FC236}">
                <a16:creationId xmlns:a16="http://schemas.microsoft.com/office/drawing/2014/main" id="{E89B78EB-4EFA-4F96-BBD2-7BA14F3A88B1}"/>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Phạm vi IBM AML HI-Medium</a:t>
            </a:r>
            <a:r>
              <a:rPr lang="vi-VN" sz="1650" b="0">
                <a:solidFill>
                  <a:srgbClr val="5C7291"/>
                </a:solidFill>
              </a:rPr>
              <a:t>: </a:t>
            </a:r>
            <a:r>
              <a:rPr sz="1650" b="0">
                <a:solidFill>
                  <a:srgbClr val="5C7291"/>
                </a:solidFill>
              </a:rPr>
              <a:t>01/09/2022–28/09/2022</a:t>
            </a:r>
          </a:p>
        </p:txBody>
      </p:sp>
      <p:sp>
        <p:nvSpPr>
          <p:cNvPr id="3" name="Rectangle 2">
            <a:extLst>
              <a:ext uri="{FF2B5EF4-FFF2-40B4-BE49-F238E27FC236}">
                <a16:creationId xmlns:a16="http://schemas.microsoft.com/office/drawing/2014/main" id="{2540BE21-B424-4A70-A648-08E539B9C653}"/>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43E1CF8F-7C94-4839-9679-0592EAA6DA5A}"/>
              </a:ext>
            </a:extLst>
          </p:cNvPr>
          <p:cNvSpPr>
            <a:spLocks noGrp="1"/>
          </p:cNvSpPr>
          <p:nvPr/>
        </p:nvSpPr>
        <p:spPr>
          <a:xfrm>
            <a:off x="609600" y="1714500"/>
            <a:ext cx="2552700" cy="1352550"/>
          </a:xfrm>
          <a:prstGeom prst="roundRect">
            <a:avLst>
              <a:gd name="adj" fmla="val 8451"/>
            </a:avLst>
          </a:prstGeom>
          <a:solidFill>
            <a:srgbClr val="FFFFFF"/>
          </a:solidFill>
          <a:ln w="9525">
            <a:solidFill>
              <a:srgbClr val="D7E0EA"/>
            </a:solidFill>
            <a:prstDash val="solid"/>
          </a:ln>
        </p:spPr>
        <p:txBody>
          <a:bodyPr/>
          <a:lstStyle/>
          <a:p>
            <a:endParaRPr lang="en-US"/>
          </a:p>
        </p:txBody>
      </p:sp>
      <p:sp>
        <p:nvSpPr>
          <p:cNvPr id="6" name="Rectangle 5">
            <a:extLst>
              <a:ext uri="{FF2B5EF4-FFF2-40B4-BE49-F238E27FC236}">
                <a16:creationId xmlns:a16="http://schemas.microsoft.com/office/drawing/2014/main" id="{35FF04C9-4A77-4594-92AD-9349F86F622D}"/>
              </a:ext>
            </a:extLst>
          </p:cNvPr>
          <p:cNvSpPr>
            <a:spLocks noGrp="1"/>
          </p:cNvSpPr>
          <p:nvPr/>
        </p:nvSpPr>
        <p:spPr>
          <a:xfrm>
            <a:off x="609600" y="1714500"/>
            <a:ext cx="66675" cy="1352550"/>
          </a:xfrm>
          <a:prstGeom prst="rect">
            <a:avLst/>
          </a:prstGeom>
          <a:solidFill>
            <a:srgbClr val="2563EB"/>
          </a:solidFill>
          <a:ln w="0">
            <a:solidFill>
              <a:srgbClr val="2563EB"/>
            </a:solidFill>
            <a:prstDash val="solid"/>
          </a:ln>
        </p:spPr>
        <p:txBody>
          <a:bodyPr/>
          <a:lstStyle/>
          <a:p>
            <a:endParaRPr lang="en-US"/>
          </a:p>
        </p:txBody>
      </p:sp>
      <p:sp>
        <p:nvSpPr>
          <p:cNvPr id="7" name="Rectangle 6">
            <a:extLst>
              <a:ext uri="{FF2B5EF4-FFF2-40B4-BE49-F238E27FC236}">
                <a16:creationId xmlns:a16="http://schemas.microsoft.com/office/drawing/2014/main" id="{BD11D0DE-836B-40F8-9209-CF942C3CFDF8}"/>
              </a:ext>
            </a:extLst>
          </p:cNvPr>
          <p:cNvSpPr>
            <a:spLocks noGrp="1"/>
          </p:cNvSpPr>
          <p:nvPr/>
        </p:nvSpPr>
        <p:spPr>
          <a:xfrm>
            <a:off x="838200" y="1914525"/>
            <a:ext cx="2171700" cy="428625"/>
          </a:xfrm>
          <a:prstGeom prst="rect">
            <a:avLst/>
          </a:prstGeom>
          <a:noFill/>
          <a:ln w="0">
            <a:noFill/>
            <a:prstDash val="solid"/>
          </a:ln>
        </p:spPr>
        <p:txBody>
          <a:bodyPr/>
          <a:lstStyle/>
          <a:p>
            <a:pPr algn="l">
              <a:buNone/>
              <a:defRPr sz="2250" b="1">
                <a:solidFill>
                  <a:srgbClr val="12315B"/>
                </a:solidFill>
              </a:defRPr>
            </a:pPr>
            <a:r>
              <a:rPr sz="2250" b="1">
                <a:solidFill>
                  <a:srgbClr val="12315B"/>
                </a:solidFill>
              </a:rPr>
              <a:t>31.898.238</a:t>
            </a:r>
          </a:p>
        </p:txBody>
      </p:sp>
      <p:sp>
        <p:nvSpPr>
          <p:cNvPr id="8" name="Rectangle 7">
            <a:extLst>
              <a:ext uri="{FF2B5EF4-FFF2-40B4-BE49-F238E27FC236}">
                <a16:creationId xmlns:a16="http://schemas.microsoft.com/office/drawing/2014/main" id="{43D7AACE-307F-456A-9346-BEC3200E86D5}"/>
              </a:ext>
            </a:extLst>
          </p:cNvPr>
          <p:cNvSpPr>
            <a:spLocks noGrp="1"/>
          </p:cNvSpPr>
          <p:nvPr/>
        </p:nvSpPr>
        <p:spPr>
          <a:xfrm>
            <a:off x="838200" y="2381250"/>
            <a:ext cx="2190750" cy="285750"/>
          </a:xfrm>
          <a:prstGeom prst="rect">
            <a:avLst/>
          </a:prstGeom>
          <a:noFill/>
          <a:ln w="0">
            <a:noFill/>
            <a:prstDash val="solid"/>
          </a:ln>
        </p:spPr>
        <p:txBody>
          <a:bodyPr/>
          <a:lstStyle/>
          <a:p>
            <a:pPr algn="l">
              <a:buNone/>
              <a:defRPr sz="1500" b="1">
                <a:solidFill>
                  <a:srgbClr val="5C7291"/>
                </a:solidFill>
              </a:defRPr>
            </a:pPr>
            <a:r>
              <a:rPr sz="1600" b="1">
                <a:solidFill>
                  <a:srgbClr val="5C7291"/>
                </a:solidFill>
              </a:rPr>
              <a:t>giao dịch</a:t>
            </a:r>
          </a:p>
        </p:txBody>
      </p:sp>
      <p:sp>
        <p:nvSpPr>
          <p:cNvPr id="9" name="Rectangle 8">
            <a:extLst>
              <a:ext uri="{FF2B5EF4-FFF2-40B4-BE49-F238E27FC236}">
                <a16:creationId xmlns:a16="http://schemas.microsoft.com/office/drawing/2014/main" id="{9F72DEB6-7195-42DF-83AE-D2F66D9A022C}"/>
              </a:ext>
            </a:extLst>
          </p:cNvPr>
          <p:cNvSpPr>
            <a:spLocks noGrp="1"/>
          </p:cNvSpPr>
          <p:nvPr/>
        </p:nvSpPr>
        <p:spPr>
          <a:xfrm>
            <a:off x="838200" y="2686050"/>
            <a:ext cx="2190750" cy="247650"/>
          </a:xfrm>
          <a:prstGeom prst="rect">
            <a:avLst/>
          </a:prstGeom>
          <a:noFill/>
          <a:ln w="0">
            <a:noFill/>
            <a:prstDash val="solid"/>
          </a:ln>
        </p:spPr>
        <p:txBody>
          <a:bodyPr/>
          <a:lstStyle/>
          <a:p>
            <a:pPr algn="l">
              <a:buNone/>
              <a:defRPr sz="1125" b="0">
                <a:solidFill>
                  <a:srgbClr val="5C7291"/>
                </a:solidFill>
              </a:defRPr>
            </a:pPr>
            <a:r>
              <a:rPr sz="1400" b="0">
                <a:solidFill>
                  <a:srgbClr val="5C7291"/>
                </a:solidFill>
              </a:rPr>
              <a:t>28 ngày dữ liệu</a:t>
            </a:r>
          </a:p>
        </p:txBody>
      </p:sp>
      <p:sp>
        <p:nvSpPr>
          <p:cNvPr id="10" name="Rounded Rectangle 9">
            <a:extLst>
              <a:ext uri="{FF2B5EF4-FFF2-40B4-BE49-F238E27FC236}">
                <a16:creationId xmlns:a16="http://schemas.microsoft.com/office/drawing/2014/main" id="{16B75961-0C27-48A7-ACDE-879CE72D93AA}"/>
              </a:ext>
            </a:extLst>
          </p:cNvPr>
          <p:cNvSpPr>
            <a:spLocks noGrp="1"/>
          </p:cNvSpPr>
          <p:nvPr/>
        </p:nvSpPr>
        <p:spPr>
          <a:xfrm>
            <a:off x="3343275" y="1714500"/>
            <a:ext cx="2552700" cy="1352550"/>
          </a:xfrm>
          <a:prstGeom prst="roundRect">
            <a:avLst>
              <a:gd name="adj" fmla="val 8451"/>
            </a:avLst>
          </a:prstGeom>
          <a:solidFill>
            <a:srgbClr val="FFFFFF"/>
          </a:solidFill>
          <a:ln w="9525">
            <a:solidFill>
              <a:srgbClr val="D7E0EA"/>
            </a:solidFill>
            <a:prstDash val="solid"/>
          </a:ln>
        </p:spPr>
        <p:txBody>
          <a:bodyPr/>
          <a:lstStyle/>
          <a:p>
            <a:endParaRPr lang="en-US"/>
          </a:p>
        </p:txBody>
      </p:sp>
      <p:sp>
        <p:nvSpPr>
          <p:cNvPr id="11" name="Rectangle 10">
            <a:extLst>
              <a:ext uri="{FF2B5EF4-FFF2-40B4-BE49-F238E27FC236}">
                <a16:creationId xmlns:a16="http://schemas.microsoft.com/office/drawing/2014/main" id="{4B5777F5-4E33-4EF1-AEFE-081B8CE4D153}"/>
              </a:ext>
            </a:extLst>
          </p:cNvPr>
          <p:cNvSpPr>
            <a:spLocks noGrp="1"/>
          </p:cNvSpPr>
          <p:nvPr/>
        </p:nvSpPr>
        <p:spPr>
          <a:xfrm>
            <a:off x="3343275" y="1714500"/>
            <a:ext cx="66675" cy="1352550"/>
          </a:xfrm>
          <a:prstGeom prst="rect">
            <a:avLst/>
          </a:prstGeom>
          <a:solidFill>
            <a:srgbClr val="C83E4D"/>
          </a:solidFill>
          <a:ln w="0">
            <a:solidFill>
              <a:srgbClr val="C83E4D"/>
            </a:solidFill>
            <a:prstDash val="solid"/>
          </a:ln>
        </p:spPr>
        <p:txBody>
          <a:bodyPr/>
          <a:lstStyle/>
          <a:p>
            <a:endParaRPr lang="en-US"/>
          </a:p>
        </p:txBody>
      </p:sp>
      <p:sp>
        <p:nvSpPr>
          <p:cNvPr id="12" name="Rectangle 11">
            <a:extLst>
              <a:ext uri="{FF2B5EF4-FFF2-40B4-BE49-F238E27FC236}">
                <a16:creationId xmlns:a16="http://schemas.microsoft.com/office/drawing/2014/main" id="{DFC27AF5-CF63-4368-A493-F0A5200E8208}"/>
              </a:ext>
            </a:extLst>
          </p:cNvPr>
          <p:cNvSpPr>
            <a:spLocks noGrp="1"/>
          </p:cNvSpPr>
          <p:nvPr/>
        </p:nvSpPr>
        <p:spPr>
          <a:xfrm>
            <a:off x="3571875" y="1914525"/>
            <a:ext cx="2171700" cy="428625"/>
          </a:xfrm>
          <a:prstGeom prst="rect">
            <a:avLst/>
          </a:prstGeom>
          <a:noFill/>
          <a:ln w="0">
            <a:noFill/>
            <a:prstDash val="solid"/>
          </a:ln>
        </p:spPr>
        <p:txBody>
          <a:bodyPr/>
          <a:lstStyle/>
          <a:p>
            <a:pPr algn="l">
              <a:buNone/>
              <a:defRPr sz="2250" b="1">
                <a:solidFill>
                  <a:srgbClr val="12315B"/>
                </a:solidFill>
              </a:defRPr>
            </a:pPr>
            <a:r>
              <a:rPr sz="2250" b="1">
                <a:solidFill>
                  <a:srgbClr val="12315B"/>
                </a:solidFill>
              </a:rPr>
              <a:t>35.230</a:t>
            </a:r>
          </a:p>
        </p:txBody>
      </p:sp>
      <p:sp>
        <p:nvSpPr>
          <p:cNvPr id="13" name="Rectangle 12">
            <a:extLst>
              <a:ext uri="{FF2B5EF4-FFF2-40B4-BE49-F238E27FC236}">
                <a16:creationId xmlns:a16="http://schemas.microsoft.com/office/drawing/2014/main" id="{78BA8EED-AD10-40EC-AC93-6960136121A3}"/>
              </a:ext>
            </a:extLst>
          </p:cNvPr>
          <p:cNvSpPr>
            <a:spLocks noGrp="1"/>
          </p:cNvSpPr>
          <p:nvPr/>
        </p:nvSpPr>
        <p:spPr>
          <a:xfrm>
            <a:off x="3571875" y="2381250"/>
            <a:ext cx="2190750" cy="285750"/>
          </a:xfrm>
          <a:prstGeom prst="rect">
            <a:avLst/>
          </a:prstGeom>
          <a:noFill/>
          <a:ln w="0">
            <a:noFill/>
            <a:prstDash val="solid"/>
          </a:ln>
        </p:spPr>
        <p:txBody>
          <a:bodyPr/>
          <a:lstStyle/>
          <a:p>
            <a:pPr algn="l">
              <a:buNone/>
              <a:defRPr sz="1275" b="1">
                <a:solidFill>
                  <a:srgbClr val="5C7291"/>
                </a:solidFill>
              </a:defRPr>
            </a:pPr>
            <a:r>
              <a:rPr sz="1600" b="1">
                <a:solidFill>
                  <a:srgbClr val="5C7291"/>
                </a:solidFill>
              </a:rPr>
              <a:t>giao dịch AML</a:t>
            </a:r>
          </a:p>
        </p:txBody>
      </p:sp>
      <p:sp>
        <p:nvSpPr>
          <p:cNvPr id="14" name="Rectangle 13">
            <a:extLst>
              <a:ext uri="{FF2B5EF4-FFF2-40B4-BE49-F238E27FC236}">
                <a16:creationId xmlns:a16="http://schemas.microsoft.com/office/drawing/2014/main" id="{6DE7DDD3-69DD-4138-8AD0-A2C08CB629C6}"/>
              </a:ext>
            </a:extLst>
          </p:cNvPr>
          <p:cNvSpPr>
            <a:spLocks noGrp="1"/>
          </p:cNvSpPr>
          <p:nvPr/>
        </p:nvSpPr>
        <p:spPr>
          <a:xfrm>
            <a:off x="3571875" y="2686050"/>
            <a:ext cx="2190750" cy="247650"/>
          </a:xfrm>
          <a:prstGeom prst="rect">
            <a:avLst/>
          </a:prstGeom>
          <a:noFill/>
          <a:ln w="0">
            <a:noFill/>
            <a:prstDash val="solid"/>
          </a:ln>
        </p:spPr>
        <p:txBody>
          <a:bodyPr/>
          <a:lstStyle/>
          <a:p>
            <a:pPr algn="l">
              <a:buNone/>
              <a:defRPr sz="1125" b="0">
                <a:solidFill>
                  <a:srgbClr val="5C7291"/>
                </a:solidFill>
              </a:defRPr>
            </a:pPr>
            <a:r>
              <a:rPr sz="1400" b="0">
                <a:solidFill>
                  <a:srgbClr val="5C7291"/>
                </a:solidFill>
              </a:rPr>
              <a:t>synthetic ground truth</a:t>
            </a:r>
          </a:p>
        </p:txBody>
      </p:sp>
      <p:sp>
        <p:nvSpPr>
          <p:cNvPr id="15" name="Rounded Rectangle 14">
            <a:extLst>
              <a:ext uri="{FF2B5EF4-FFF2-40B4-BE49-F238E27FC236}">
                <a16:creationId xmlns:a16="http://schemas.microsoft.com/office/drawing/2014/main" id="{6C332BA2-8189-416D-932B-56EE09AF45A2}"/>
              </a:ext>
            </a:extLst>
          </p:cNvPr>
          <p:cNvSpPr>
            <a:spLocks noGrp="1"/>
          </p:cNvSpPr>
          <p:nvPr/>
        </p:nvSpPr>
        <p:spPr>
          <a:xfrm>
            <a:off x="6076950" y="1714500"/>
            <a:ext cx="2552700" cy="1352550"/>
          </a:xfrm>
          <a:prstGeom prst="roundRect">
            <a:avLst>
              <a:gd name="adj" fmla="val 8451"/>
            </a:avLst>
          </a:prstGeom>
          <a:solidFill>
            <a:srgbClr val="FFFFFF"/>
          </a:solidFill>
          <a:ln w="9525">
            <a:solidFill>
              <a:srgbClr val="D7E0EA"/>
            </a:solidFill>
            <a:prstDash val="solid"/>
          </a:ln>
        </p:spPr>
        <p:txBody>
          <a:bodyPr/>
          <a:lstStyle/>
          <a:p>
            <a:endParaRPr lang="en-US"/>
          </a:p>
        </p:txBody>
      </p:sp>
      <p:sp>
        <p:nvSpPr>
          <p:cNvPr id="16" name="Rectangle 15">
            <a:extLst>
              <a:ext uri="{FF2B5EF4-FFF2-40B4-BE49-F238E27FC236}">
                <a16:creationId xmlns:a16="http://schemas.microsoft.com/office/drawing/2014/main" id="{98B0A00D-D342-413C-9630-0AF1E7A4F787}"/>
              </a:ext>
            </a:extLst>
          </p:cNvPr>
          <p:cNvSpPr>
            <a:spLocks noGrp="1"/>
          </p:cNvSpPr>
          <p:nvPr/>
        </p:nvSpPr>
        <p:spPr>
          <a:xfrm>
            <a:off x="6076950" y="1714500"/>
            <a:ext cx="66675" cy="1352550"/>
          </a:xfrm>
          <a:prstGeom prst="rect">
            <a:avLst/>
          </a:prstGeom>
          <a:solidFill>
            <a:srgbClr val="C83E4D"/>
          </a:solidFill>
          <a:ln w="0">
            <a:solidFill>
              <a:srgbClr val="C83E4D"/>
            </a:solidFill>
            <a:prstDash val="solid"/>
          </a:ln>
        </p:spPr>
        <p:txBody>
          <a:bodyPr/>
          <a:lstStyle/>
          <a:p>
            <a:endParaRPr lang="en-US"/>
          </a:p>
        </p:txBody>
      </p:sp>
      <p:sp>
        <p:nvSpPr>
          <p:cNvPr id="17" name="Rectangle 16">
            <a:extLst>
              <a:ext uri="{FF2B5EF4-FFF2-40B4-BE49-F238E27FC236}">
                <a16:creationId xmlns:a16="http://schemas.microsoft.com/office/drawing/2014/main" id="{39974441-2B4D-405C-8333-E405907A29BF}"/>
              </a:ext>
            </a:extLst>
          </p:cNvPr>
          <p:cNvSpPr>
            <a:spLocks noGrp="1"/>
          </p:cNvSpPr>
          <p:nvPr/>
        </p:nvSpPr>
        <p:spPr>
          <a:xfrm>
            <a:off x="6305550" y="1914525"/>
            <a:ext cx="2171700" cy="428625"/>
          </a:xfrm>
          <a:prstGeom prst="rect">
            <a:avLst/>
          </a:prstGeom>
          <a:noFill/>
          <a:ln w="0">
            <a:noFill/>
            <a:prstDash val="solid"/>
          </a:ln>
        </p:spPr>
        <p:txBody>
          <a:bodyPr/>
          <a:lstStyle/>
          <a:p>
            <a:pPr algn="l">
              <a:buNone/>
              <a:defRPr sz="2250" b="1">
                <a:solidFill>
                  <a:srgbClr val="12315B"/>
                </a:solidFill>
              </a:defRPr>
            </a:pPr>
            <a:r>
              <a:rPr sz="2250" b="1">
                <a:solidFill>
                  <a:srgbClr val="12315B"/>
                </a:solidFill>
              </a:rPr>
              <a:t>0,1104%</a:t>
            </a:r>
          </a:p>
        </p:txBody>
      </p:sp>
      <p:sp>
        <p:nvSpPr>
          <p:cNvPr id="18" name="Rectangle 17">
            <a:extLst>
              <a:ext uri="{FF2B5EF4-FFF2-40B4-BE49-F238E27FC236}">
                <a16:creationId xmlns:a16="http://schemas.microsoft.com/office/drawing/2014/main" id="{FA38F9AE-B5F8-4618-989E-B62A81E52356}"/>
              </a:ext>
            </a:extLst>
          </p:cNvPr>
          <p:cNvSpPr>
            <a:spLocks noGrp="1"/>
          </p:cNvSpPr>
          <p:nvPr/>
        </p:nvSpPr>
        <p:spPr>
          <a:xfrm>
            <a:off x="6305550" y="2381250"/>
            <a:ext cx="2190750" cy="285750"/>
          </a:xfrm>
          <a:prstGeom prst="rect">
            <a:avLst/>
          </a:prstGeom>
          <a:noFill/>
          <a:ln w="0">
            <a:noFill/>
            <a:prstDash val="solid"/>
          </a:ln>
        </p:spPr>
        <p:txBody>
          <a:bodyPr/>
          <a:lstStyle/>
          <a:p>
            <a:pPr algn="l">
              <a:buNone/>
              <a:defRPr sz="1500" b="1">
                <a:solidFill>
                  <a:srgbClr val="5C7291"/>
                </a:solidFill>
              </a:defRPr>
            </a:pPr>
            <a:r>
              <a:rPr sz="1600" b="1">
                <a:solidFill>
                  <a:srgbClr val="5C7291"/>
                </a:solidFill>
              </a:rPr>
              <a:t>tỷ lệ AML</a:t>
            </a:r>
          </a:p>
        </p:txBody>
      </p:sp>
      <p:sp>
        <p:nvSpPr>
          <p:cNvPr id="19" name="Rectangle 18">
            <a:extLst>
              <a:ext uri="{FF2B5EF4-FFF2-40B4-BE49-F238E27FC236}">
                <a16:creationId xmlns:a16="http://schemas.microsoft.com/office/drawing/2014/main" id="{8ABB39A4-2B90-449E-9499-B2F532376381}"/>
              </a:ext>
            </a:extLst>
          </p:cNvPr>
          <p:cNvSpPr>
            <a:spLocks noGrp="1"/>
          </p:cNvSpPr>
          <p:nvPr/>
        </p:nvSpPr>
        <p:spPr>
          <a:xfrm>
            <a:off x="6305550" y="2686050"/>
            <a:ext cx="2190750" cy="247650"/>
          </a:xfrm>
          <a:prstGeom prst="rect">
            <a:avLst/>
          </a:prstGeom>
          <a:noFill/>
          <a:ln w="0">
            <a:noFill/>
            <a:prstDash val="solid"/>
          </a:ln>
        </p:spPr>
        <p:txBody>
          <a:bodyPr/>
          <a:lstStyle/>
          <a:p>
            <a:pPr algn="l">
              <a:buNone/>
              <a:defRPr sz="1125" b="0">
                <a:solidFill>
                  <a:srgbClr val="5C7291"/>
                </a:solidFill>
              </a:defRPr>
            </a:pPr>
            <a:r>
              <a:rPr sz="1400" b="0">
                <a:solidFill>
                  <a:srgbClr val="5C7291"/>
                </a:solidFill>
              </a:rPr>
              <a:t>rare-event problem</a:t>
            </a:r>
          </a:p>
        </p:txBody>
      </p:sp>
      <p:sp>
        <p:nvSpPr>
          <p:cNvPr id="20" name="Rounded Rectangle 19">
            <a:extLst>
              <a:ext uri="{FF2B5EF4-FFF2-40B4-BE49-F238E27FC236}">
                <a16:creationId xmlns:a16="http://schemas.microsoft.com/office/drawing/2014/main" id="{E2D66BA7-6E4F-43CB-B8ED-4236FC881085}"/>
              </a:ext>
            </a:extLst>
          </p:cNvPr>
          <p:cNvSpPr>
            <a:spLocks noGrp="1"/>
          </p:cNvSpPr>
          <p:nvPr/>
        </p:nvSpPr>
        <p:spPr>
          <a:xfrm>
            <a:off x="8810625" y="1714500"/>
            <a:ext cx="2771775" cy="1352550"/>
          </a:xfrm>
          <a:prstGeom prst="roundRect">
            <a:avLst>
              <a:gd name="adj" fmla="val 8451"/>
            </a:avLst>
          </a:prstGeom>
          <a:solidFill>
            <a:srgbClr val="FFFFFF"/>
          </a:solidFill>
          <a:ln w="9525">
            <a:solidFill>
              <a:srgbClr val="D7E0EA"/>
            </a:solidFill>
            <a:prstDash val="solid"/>
          </a:ln>
        </p:spPr>
        <p:txBody>
          <a:bodyPr/>
          <a:lstStyle/>
          <a:p>
            <a:endParaRPr lang="en-US"/>
          </a:p>
        </p:txBody>
      </p:sp>
      <p:sp>
        <p:nvSpPr>
          <p:cNvPr id="21" name="Rectangle 20">
            <a:extLst>
              <a:ext uri="{FF2B5EF4-FFF2-40B4-BE49-F238E27FC236}">
                <a16:creationId xmlns:a16="http://schemas.microsoft.com/office/drawing/2014/main" id="{C43DC376-787B-4373-A9AC-6DA8DD496D2A}"/>
              </a:ext>
            </a:extLst>
          </p:cNvPr>
          <p:cNvSpPr>
            <a:spLocks noGrp="1"/>
          </p:cNvSpPr>
          <p:nvPr/>
        </p:nvSpPr>
        <p:spPr>
          <a:xfrm>
            <a:off x="8810625" y="1714500"/>
            <a:ext cx="66675" cy="1352550"/>
          </a:xfrm>
          <a:prstGeom prst="rect">
            <a:avLst/>
          </a:prstGeom>
          <a:solidFill>
            <a:srgbClr val="0F766E"/>
          </a:solidFill>
          <a:ln w="0">
            <a:solidFill>
              <a:srgbClr val="0F766E"/>
            </a:solidFill>
            <a:prstDash val="solid"/>
          </a:ln>
        </p:spPr>
        <p:txBody>
          <a:bodyPr/>
          <a:lstStyle/>
          <a:p>
            <a:endParaRPr lang="en-US"/>
          </a:p>
        </p:txBody>
      </p:sp>
      <p:sp>
        <p:nvSpPr>
          <p:cNvPr id="22" name="Rectangle 21">
            <a:extLst>
              <a:ext uri="{FF2B5EF4-FFF2-40B4-BE49-F238E27FC236}">
                <a16:creationId xmlns:a16="http://schemas.microsoft.com/office/drawing/2014/main" id="{9595CE58-C633-4637-B12B-E349CB6F7B6D}"/>
              </a:ext>
            </a:extLst>
          </p:cNvPr>
          <p:cNvSpPr>
            <a:spLocks noGrp="1"/>
          </p:cNvSpPr>
          <p:nvPr/>
        </p:nvSpPr>
        <p:spPr>
          <a:xfrm>
            <a:off x="9039225" y="1914525"/>
            <a:ext cx="2390775" cy="428625"/>
          </a:xfrm>
          <a:prstGeom prst="rect">
            <a:avLst/>
          </a:prstGeom>
          <a:noFill/>
          <a:ln w="0">
            <a:noFill/>
            <a:prstDash val="solid"/>
          </a:ln>
        </p:spPr>
        <p:txBody>
          <a:bodyPr/>
          <a:lstStyle/>
          <a:p>
            <a:pPr algn="l">
              <a:buNone/>
              <a:defRPr sz="2250" b="1">
                <a:solidFill>
                  <a:srgbClr val="12315B"/>
                </a:solidFill>
              </a:defRPr>
            </a:pPr>
            <a:r>
              <a:rPr sz="2250" b="1">
                <a:solidFill>
                  <a:srgbClr val="12315B"/>
                </a:solidFill>
              </a:rPr>
              <a:t>2.087.786</a:t>
            </a:r>
          </a:p>
        </p:txBody>
      </p:sp>
      <p:sp>
        <p:nvSpPr>
          <p:cNvPr id="23" name="Rectangle 22">
            <a:extLst>
              <a:ext uri="{FF2B5EF4-FFF2-40B4-BE49-F238E27FC236}">
                <a16:creationId xmlns:a16="http://schemas.microsoft.com/office/drawing/2014/main" id="{A28FB615-A83C-44E2-B6CC-7362C60834FC}"/>
              </a:ext>
            </a:extLst>
          </p:cNvPr>
          <p:cNvSpPr>
            <a:spLocks noGrp="1"/>
          </p:cNvSpPr>
          <p:nvPr/>
        </p:nvSpPr>
        <p:spPr>
          <a:xfrm>
            <a:off x="9039225" y="2381250"/>
            <a:ext cx="2409825" cy="285750"/>
          </a:xfrm>
          <a:prstGeom prst="rect">
            <a:avLst/>
          </a:prstGeom>
          <a:noFill/>
          <a:ln w="0">
            <a:noFill/>
            <a:prstDash val="solid"/>
          </a:ln>
        </p:spPr>
        <p:txBody>
          <a:bodyPr/>
          <a:lstStyle/>
          <a:p>
            <a:pPr algn="l">
              <a:buNone/>
              <a:defRPr sz="1500" b="1">
                <a:solidFill>
                  <a:srgbClr val="5C7291"/>
                </a:solidFill>
              </a:defRPr>
            </a:pPr>
            <a:r>
              <a:rPr sz="1600" b="1">
                <a:solidFill>
                  <a:srgbClr val="5C7291"/>
                </a:solidFill>
              </a:rPr>
              <a:t>tài khoản</a:t>
            </a:r>
          </a:p>
        </p:txBody>
      </p:sp>
      <p:sp>
        <p:nvSpPr>
          <p:cNvPr id="24" name="Rectangle 23">
            <a:extLst>
              <a:ext uri="{FF2B5EF4-FFF2-40B4-BE49-F238E27FC236}">
                <a16:creationId xmlns:a16="http://schemas.microsoft.com/office/drawing/2014/main" id="{B1F3AA64-0BE8-4A03-8226-3F0AFF833867}"/>
              </a:ext>
            </a:extLst>
          </p:cNvPr>
          <p:cNvSpPr>
            <a:spLocks noGrp="1"/>
          </p:cNvSpPr>
          <p:nvPr/>
        </p:nvSpPr>
        <p:spPr>
          <a:xfrm>
            <a:off x="9039225" y="2686050"/>
            <a:ext cx="2409825" cy="247650"/>
          </a:xfrm>
          <a:prstGeom prst="rect">
            <a:avLst/>
          </a:prstGeom>
          <a:noFill/>
          <a:ln w="0">
            <a:noFill/>
            <a:prstDash val="solid"/>
          </a:ln>
        </p:spPr>
        <p:txBody>
          <a:bodyPr/>
          <a:lstStyle/>
          <a:p>
            <a:pPr algn="l">
              <a:buNone/>
              <a:defRPr sz="1125" b="0">
                <a:solidFill>
                  <a:srgbClr val="5C7291"/>
                </a:solidFill>
              </a:defRPr>
            </a:pPr>
            <a:r>
              <a:rPr sz="1400" b="0">
                <a:solidFill>
                  <a:srgbClr val="5C7291"/>
                </a:solidFill>
              </a:rPr>
              <a:t>không thiếu master</a:t>
            </a:r>
          </a:p>
        </p:txBody>
      </p:sp>
      <p:sp>
        <p:nvSpPr>
          <p:cNvPr id="25" name="Rectangle 24">
            <a:extLst>
              <a:ext uri="{FF2B5EF4-FFF2-40B4-BE49-F238E27FC236}">
                <a16:creationId xmlns:a16="http://schemas.microsoft.com/office/drawing/2014/main" id="{B1CFA508-BC86-4F1A-AD18-230D24855AFC}"/>
              </a:ext>
            </a:extLst>
          </p:cNvPr>
          <p:cNvSpPr>
            <a:spLocks noGrp="1"/>
          </p:cNvSpPr>
          <p:nvPr/>
        </p:nvSpPr>
        <p:spPr>
          <a:xfrm>
            <a:off x="628650" y="3590925"/>
            <a:ext cx="3048000" cy="285750"/>
          </a:xfrm>
          <a:prstGeom prst="rect">
            <a:avLst/>
          </a:prstGeom>
          <a:noFill/>
          <a:ln w="0">
            <a:noFill/>
            <a:prstDash val="solid"/>
          </a:ln>
        </p:spPr>
        <p:txBody>
          <a:bodyPr/>
          <a:lstStyle/>
          <a:p>
            <a:pPr algn="l">
              <a:buNone/>
              <a:defRPr sz="1275" b="1">
                <a:solidFill>
                  <a:srgbClr val="12315B"/>
                </a:solidFill>
              </a:defRPr>
            </a:pPr>
            <a:r>
              <a:rPr sz="1600" b="1">
                <a:solidFill>
                  <a:srgbClr val="12315B"/>
                </a:solidFill>
              </a:rPr>
              <a:t>Các đối tượng sử dụng</a:t>
            </a:r>
          </a:p>
        </p:txBody>
      </p:sp>
      <p:sp>
        <p:nvSpPr>
          <p:cNvPr id="26" name="Rounded Rectangle 25">
            <a:extLst>
              <a:ext uri="{FF2B5EF4-FFF2-40B4-BE49-F238E27FC236}">
                <a16:creationId xmlns:a16="http://schemas.microsoft.com/office/drawing/2014/main" id="{02F0F01C-B1A2-45A2-A43F-E3CD289C331A}"/>
              </a:ext>
            </a:extLst>
          </p:cNvPr>
          <p:cNvSpPr>
            <a:spLocks noGrp="1"/>
          </p:cNvSpPr>
          <p:nvPr/>
        </p:nvSpPr>
        <p:spPr>
          <a:xfrm>
            <a:off x="647700" y="4057650"/>
            <a:ext cx="13335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27" name="Rectangle 26">
            <a:extLst>
              <a:ext uri="{FF2B5EF4-FFF2-40B4-BE49-F238E27FC236}">
                <a16:creationId xmlns:a16="http://schemas.microsoft.com/office/drawing/2014/main" id="{65C08BCB-49F8-4531-BD2E-8AF722E7FC8B}"/>
              </a:ext>
            </a:extLst>
          </p:cNvPr>
          <p:cNvSpPr>
            <a:spLocks noGrp="1"/>
          </p:cNvSpPr>
          <p:nvPr/>
        </p:nvSpPr>
        <p:spPr>
          <a:xfrm>
            <a:off x="704850" y="4061744"/>
            <a:ext cx="1181100" cy="190500"/>
          </a:xfrm>
          <a:prstGeom prst="rect">
            <a:avLst/>
          </a:prstGeom>
          <a:noFill/>
          <a:ln w="0">
            <a:noFill/>
            <a:prstDash val="solid"/>
          </a:ln>
        </p:spPr>
        <p:txBody>
          <a:bodyPr/>
          <a:lstStyle/>
          <a:p>
            <a:pPr algn="ctr">
              <a:buNone/>
              <a:defRPr sz="1275" b="1">
                <a:solidFill>
                  <a:srgbClr val="2563EB"/>
                </a:solidFill>
              </a:defRPr>
            </a:pPr>
            <a:r>
              <a:rPr sz="1400" b="1">
                <a:solidFill>
                  <a:srgbClr val="2563EB"/>
                </a:solidFill>
              </a:rPr>
              <a:t>Quản lý</a:t>
            </a:r>
          </a:p>
        </p:txBody>
      </p:sp>
      <p:sp>
        <p:nvSpPr>
          <p:cNvPr id="28" name="Rectangle 27">
            <a:extLst>
              <a:ext uri="{FF2B5EF4-FFF2-40B4-BE49-F238E27FC236}">
                <a16:creationId xmlns:a16="http://schemas.microsoft.com/office/drawing/2014/main" id="{4663325F-FE9C-487D-A943-88CBF1057F1E}"/>
              </a:ext>
            </a:extLst>
          </p:cNvPr>
          <p:cNvSpPr>
            <a:spLocks noGrp="1"/>
          </p:cNvSpPr>
          <p:nvPr/>
        </p:nvSpPr>
        <p:spPr>
          <a:xfrm>
            <a:off x="2171700" y="4114800"/>
            <a:ext cx="3600450" cy="438150"/>
          </a:xfrm>
          <a:prstGeom prst="rect">
            <a:avLst/>
          </a:prstGeom>
          <a:noFill/>
          <a:ln w="0">
            <a:noFill/>
            <a:prstDash val="solid"/>
          </a:ln>
        </p:spPr>
        <p:txBody>
          <a:bodyPr/>
          <a:lstStyle/>
          <a:p>
            <a:pPr algn="l">
              <a:buNone/>
              <a:defRPr sz="1500" b="1">
                <a:solidFill>
                  <a:srgbClr val="12315B"/>
                </a:solidFill>
              </a:defRPr>
            </a:pPr>
            <a:r>
              <a:rPr sz="1500" b="1">
                <a:solidFill>
                  <a:srgbClr val="12315B"/>
                </a:solidFill>
              </a:rPr>
              <a:t>KPI tổng quan và ưu tiên nguồn lực</a:t>
            </a:r>
          </a:p>
        </p:txBody>
      </p:sp>
      <p:sp>
        <p:nvSpPr>
          <p:cNvPr id="29" name="Rounded Rectangle 28">
            <a:extLst>
              <a:ext uri="{FF2B5EF4-FFF2-40B4-BE49-F238E27FC236}">
                <a16:creationId xmlns:a16="http://schemas.microsoft.com/office/drawing/2014/main" id="{0ADF5F90-7C30-49E2-B60F-55496F44BA33}"/>
              </a:ext>
            </a:extLst>
          </p:cNvPr>
          <p:cNvSpPr>
            <a:spLocks noGrp="1"/>
          </p:cNvSpPr>
          <p:nvPr/>
        </p:nvSpPr>
        <p:spPr>
          <a:xfrm>
            <a:off x="6038850" y="4057650"/>
            <a:ext cx="13335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30" name="Rectangle 29">
            <a:extLst>
              <a:ext uri="{FF2B5EF4-FFF2-40B4-BE49-F238E27FC236}">
                <a16:creationId xmlns:a16="http://schemas.microsoft.com/office/drawing/2014/main" id="{72CF7513-650A-42CE-886F-C915F644F87A}"/>
              </a:ext>
            </a:extLst>
          </p:cNvPr>
          <p:cNvSpPr>
            <a:spLocks noGrp="1"/>
          </p:cNvSpPr>
          <p:nvPr/>
        </p:nvSpPr>
        <p:spPr>
          <a:xfrm>
            <a:off x="6131141" y="4064763"/>
            <a:ext cx="1181100" cy="190500"/>
          </a:xfrm>
          <a:prstGeom prst="rect">
            <a:avLst/>
          </a:prstGeom>
          <a:noFill/>
          <a:ln w="0">
            <a:noFill/>
            <a:prstDash val="solid"/>
          </a:ln>
        </p:spPr>
        <p:txBody>
          <a:bodyPr/>
          <a:lstStyle/>
          <a:p>
            <a:pPr algn="ctr">
              <a:buNone/>
              <a:defRPr sz="1125" b="1">
                <a:solidFill>
                  <a:srgbClr val="2563EB"/>
                </a:solidFill>
              </a:defRPr>
            </a:pPr>
            <a:r>
              <a:rPr sz="1400" b="1">
                <a:solidFill>
                  <a:srgbClr val="2563EB"/>
                </a:solidFill>
              </a:rPr>
              <a:t>AML analyst</a:t>
            </a:r>
          </a:p>
        </p:txBody>
      </p:sp>
      <p:sp>
        <p:nvSpPr>
          <p:cNvPr id="31" name="Rectangle 30">
            <a:extLst>
              <a:ext uri="{FF2B5EF4-FFF2-40B4-BE49-F238E27FC236}">
                <a16:creationId xmlns:a16="http://schemas.microsoft.com/office/drawing/2014/main" id="{565D7212-A205-46D3-A50B-5DA8C9577518}"/>
              </a:ext>
            </a:extLst>
          </p:cNvPr>
          <p:cNvSpPr>
            <a:spLocks noGrp="1"/>
          </p:cNvSpPr>
          <p:nvPr/>
        </p:nvSpPr>
        <p:spPr>
          <a:xfrm>
            <a:off x="7562850" y="4114800"/>
            <a:ext cx="3600450" cy="438150"/>
          </a:xfrm>
          <a:prstGeom prst="rect">
            <a:avLst/>
          </a:prstGeom>
          <a:noFill/>
          <a:ln w="0">
            <a:noFill/>
            <a:prstDash val="solid"/>
          </a:ln>
        </p:spPr>
        <p:txBody>
          <a:bodyPr/>
          <a:lstStyle/>
          <a:p>
            <a:pPr algn="l">
              <a:buNone/>
              <a:defRPr sz="1500" b="1">
                <a:solidFill>
                  <a:srgbClr val="12315B"/>
                </a:solidFill>
              </a:defRPr>
            </a:pPr>
            <a:r>
              <a:rPr sz="1500" b="1">
                <a:solidFill>
                  <a:srgbClr val="12315B"/>
                </a:solidFill>
              </a:rPr>
              <a:t>Kênh, account và pattern rủi ro</a:t>
            </a:r>
          </a:p>
        </p:txBody>
      </p:sp>
      <p:sp>
        <p:nvSpPr>
          <p:cNvPr id="32" name="Rounded Rectangle 31">
            <a:extLst>
              <a:ext uri="{FF2B5EF4-FFF2-40B4-BE49-F238E27FC236}">
                <a16:creationId xmlns:a16="http://schemas.microsoft.com/office/drawing/2014/main" id="{F3465AB8-1129-418D-9E3D-8DE17FE9BC4B}"/>
              </a:ext>
            </a:extLst>
          </p:cNvPr>
          <p:cNvSpPr>
            <a:spLocks noGrp="1"/>
          </p:cNvSpPr>
          <p:nvPr/>
        </p:nvSpPr>
        <p:spPr>
          <a:xfrm>
            <a:off x="647700" y="4895850"/>
            <a:ext cx="13335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33" name="Rectangle 32">
            <a:extLst>
              <a:ext uri="{FF2B5EF4-FFF2-40B4-BE49-F238E27FC236}">
                <a16:creationId xmlns:a16="http://schemas.microsoft.com/office/drawing/2014/main" id="{DB9F0CE9-DA00-469D-8EC9-F496EF980A66}"/>
              </a:ext>
            </a:extLst>
          </p:cNvPr>
          <p:cNvSpPr>
            <a:spLocks noGrp="1"/>
          </p:cNvSpPr>
          <p:nvPr/>
        </p:nvSpPr>
        <p:spPr>
          <a:xfrm>
            <a:off x="723900" y="4895850"/>
            <a:ext cx="1181100" cy="190500"/>
          </a:xfrm>
          <a:prstGeom prst="rect">
            <a:avLst/>
          </a:prstGeom>
          <a:noFill/>
          <a:ln w="0">
            <a:noFill/>
            <a:prstDash val="solid"/>
          </a:ln>
        </p:spPr>
        <p:txBody>
          <a:bodyPr/>
          <a:lstStyle/>
          <a:p>
            <a:pPr algn="ctr">
              <a:buNone/>
              <a:defRPr sz="1275" b="1">
                <a:solidFill>
                  <a:srgbClr val="2563EB"/>
                </a:solidFill>
              </a:defRPr>
            </a:pPr>
            <a:r>
              <a:rPr sz="1400" b="1">
                <a:solidFill>
                  <a:srgbClr val="2563EB"/>
                </a:solidFill>
              </a:rPr>
              <a:t>Operations</a:t>
            </a:r>
          </a:p>
        </p:txBody>
      </p:sp>
      <p:sp>
        <p:nvSpPr>
          <p:cNvPr id="34" name="Rectangle 33">
            <a:extLst>
              <a:ext uri="{FF2B5EF4-FFF2-40B4-BE49-F238E27FC236}">
                <a16:creationId xmlns:a16="http://schemas.microsoft.com/office/drawing/2014/main" id="{673D332D-EB8D-45A5-81CC-A6D9120DE97A}"/>
              </a:ext>
            </a:extLst>
          </p:cNvPr>
          <p:cNvSpPr>
            <a:spLocks noGrp="1"/>
          </p:cNvSpPr>
          <p:nvPr/>
        </p:nvSpPr>
        <p:spPr>
          <a:xfrm>
            <a:off x="2171700" y="4953000"/>
            <a:ext cx="3600450" cy="438150"/>
          </a:xfrm>
          <a:prstGeom prst="rect">
            <a:avLst/>
          </a:prstGeom>
          <a:noFill/>
          <a:ln w="0">
            <a:noFill/>
            <a:prstDash val="solid"/>
          </a:ln>
        </p:spPr>
        <p:txBody>
          <a:bodyPr/>
          <a:lstStyle/>
          <a:p>
            <a:pPr algn="l">
              <a:buNone/>
              <a:defRPr sz="1500" b="1">
                <a:solidFill>
                  <a:srgbClr val="12315B"/>
                </a:solidFill>
              </a:defRPr>
            </a:pPr>
            <a:r>
              <a:rPr sz="1500" b="1">
                <a:solidFill>
                  <a:srgbClr val="12315B"/>
                </a:solidFill>
              </a:rPr>
              <a:t>Luồng tiền và hoạt động ngân hàng</a:t>
            </a:r>
          </a:p>
        </p:txBody>
      </p:sp>
      <p:sp>
        <p:nvSpPr>
          <p:cNvPr id="37" name="Rectangle 36">
            <a:extLst>
              <a:ext uri="{FF2B5EF4-FFF2-40B4-BE49-F238E27FC236}">
                <a16:creationId xmlns:a16="http://schemas.microsoft.com/office/drawing/2014/main" id="{23D9CFDD-3D7E-4FDE-85DF-4F1ED79F3A58}"/>
              </a:ext>
            </a:extLst>
          </p:cNvPr>
          <p:cNvSpPr>
            <a:spLocks noGrp="1"/>
          </p:cNvSpPr>
          <p:nvPr/>
        </p:nvSpPr>
        <p:spPr>
          <a:xfrm>
            <a:off x="7562850" y="4953000"/>
            <a:ext cx="3600450" cy="438150"/>
          </a:xfrm>
          <a:prstGeom prst="rect">
            <a:avLst/>
          </a:prstGeom>
          <a:noFill/>
          <a:ln w="0">
            <a:noFill/>
            <a:prstDash val="solid"/>
          </a:ln>
        </p:spPr>
        <p:txBody>
          <a:bodyPr/>
          <a:lstStyle/>
          <a:p>
            <a:pPr algn="l">
              <a:buNone/>
              <a:defRPr sz="1500" b="1">
                <a:solidFill>
                  <a:srgbClr val="12315B"/>
                </a:solidFill>
              </a:defRPr>
            </a:pPr>
            <a:r>
              <a:rPr sz="1500" b="1">
                <a:solidFill>
                  <a:srgbClr val="12315B"/>
                </a:solidFill>
              </a:rPr>
              <a:t>Quality, lineage, batch và vận hành</a:t>
            </a:r>
          </a:p>
        </p:txBody>
      </p:sp>
      <p:sp>
        <p:nvSpPr>
          <p:cNvPr id="38" name="Rectangle 37">
            <a:extLst>
              <a:ext uri="{FF2B5EF4-FFF2-40B4-BE49-F238E27FC236}">
                <a16:creationId xmlns:a16="http://schemas.microsoft.com/office/drawing/2014/main" id="{2383782F-0DD9-4BD3-AE9E-CDD2496DD626}"/>
              </a:ext>
            </a:extLst>
          </p:cNvPr>
          <p:cNvSpPr>
            <a:spLocks noGrp="1"/>
          </p:cNvSpPr>
          <p:nvPr/>
        </p:nvSpPr>
        <p:spPr>
          <a:xfrm>
            <a:off x="647700" y="5934075"/>
            <a:ext cx="10668000" cy="285750"/>
          </a:xfrm>
          <a:prstGeom prst="rect">
            <a:avLst/>
          </a:prstGeom>
          <a:noFill/>
          <a:ln w="0">
            <a:noFill/>
            <a:prstDash val="solid"/>
          </a:ln>
        </p:spPr>
        <p:txBody>
          <a:bodyPr/>
          <a:lstStyle/>
          <a:p>
            <a:pPr algn="l">
              <a:buNone/>
              <a:defRPr sz="1275" b="1">
                <a:solidFill>
                  <a:srgbClr val="C83E4D"/>
                </a:solidFill>
              </a:defRPr>
            </a:pPr>
            <a:r>
              <a:rPr sz="1400" b="1">
                <a:solidFill>
                  <a:srgbClr val="C83E4D"/>
                </a:solidFill>
              </a:rPr>
              <a:t>Không gọi nhãn AML là kết luận pháp lý hoặc alert do hệ thống sinh ra</a:t>
            </a:r>
          </a:p>
        </p:txBody>
      </p:sp>
      <p:sp>
        <p:nvSpPr>
          <p:cNvPr id="40" name="Rectangle 39">
            <a:extLst>
              <a:ext uri="{FF2B5EF4-FFF2-40B4-BE49-F238E27FC236}">
                <a16:creationId xmlns:a16="http://schemas.microsoft.com/office/drawing/2014/main" id="{062F1161-DBF0-408A-A1BE-F11BEEBBAE48}"/>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3/17</a:t>
            </a:r>
          </a:p>
        </p:txBody>
      </p:sp>
      <p:sp>
        <p:nvSpPr>
          <p:cNvPr id="42" name="Rounded Rectangle 41">
            <a:extLst>
              <a:ext uri="{FF2B5EF4-FFF2-40B4-BE49-F238E27FC236}">
                <a16:creationId xmlns:a16="http://schemas.microsoft.com/office/drawing/2014/main" id="{9535AF36-B76D-7CF2-261C-0E442351A266}"/>
              </a:ext>
            </a:extLst>
          </p:cNvPr>
          <p:cNvSpPr>
            <a:spLocks noGrp="1"/>
          </p:cNvSpPr>
          <p:nvPr/>
        </p:nvSpPr>
        <p:spPr>
          <a:xfrm>
            <a:off x="6038850" y="4962525"/>
            <a:ext cx="13335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43" name="Rectangle 42">
            <a:extLst>
              <a:ext uri="{FF2B5EF4-FFF2-40B4-BE49-F238E27FC236}">
                <a16:creationId xmlns:a16="http://schemas.microsoft.com/office/drawing/2014/main" id="{B6BA787F-9BA6-1D25-EB8A-76344458D913}"/>
              </a:ext>
            </a:extLst>
          </p:cNvPr>
          <p:cNvSpPr>
            <a:spLocks noGrp="1"/>
          </p:cNvSpPr>
          <p:nvPr/>
        </p:nvSpPr>
        <p:spPr>
          <a:xfrm>
            <a:off x="6071032" y="4962525"/>
            <a:ext cx="1301318" cy="190500"/>
          </a:xfrm>
          <a:prstGeom prst="rect">
            <a:avLst/>
          </a:prstGeom>
          <a:noFill/>
          <a:ln w="0">
            <a:noFill/>
            <a:prstDash val="solid"/>
          </a:ln>
        </p:spPr>
        <p:txBody>
          <a:bodyPr/>
          <a:lstStyle/>
          <a:p>
            <a:pPr algn="ctr">
              <a:buNone/>
              <a:defRPr sz="1125" b="1">
                <a:solidFill>
                  <a:srgbClr val="2563EB"/>
                </a:solidFill>
              </a:defRPr>
            </a:pPr>
            <a:r>
              <a:rPr lang="vi-VN" sz="1400" b="1">
                <a:solidFill>
                  <a:srgbClr val="2563EB"/>
                </a:solidFill>
              </a:rPr>
              <a:t>Data Engineer</a:t>
            </a:r>
            <a:endParaRPr sz="1400" b="1">
              <a:solidFill>
                <a:srgbClr val="2563EB"/>
              </a:solidFill>
            </a:endParaRPr>
          </a:p>
        </p:txBody>
      </p:sp>
    </p:spTree>
    <p:extLst>
      <p:ext uri="{BB962C8B-B14F-4D97-AF65-F5344CB8AC3E}">
        <p14:creationId xmlns:p14="http://schemas.microsoft.com/office/powerpoint/2010/main" val="700176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1B5AEE2-A2DF-47EE-979C-46E4C0FCA628}"/>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ACH tập trung 87,3% giao dịch AML</a:t>
            </a:r>
          </a:p>
        </p:txBody>
      </p:sp>
      <p:sp>
        <p:nvSpPr>
          <p:cNvPr id="2" name="Rectangle 1">
            <a:extLst>
              <a:ext uri="{FF2B5EF4-FFF2-40B4-BE49-F238E27FC236}">
                <a16:creationId xmlns:a16="http://schemas.microsoft.com/office/drawing/2014/main" id="{D9853A73-F29B-42A1-8948-196194D673CE}"/>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Một kênh tương đối nhỏ nhưng chứa phần lớn giao dịch có nhãn AML</a:t>
            </a:r>
          </a:p>
        </p:txBody>
      </p:sp>
      <p:sp>
        <p:nvSpPr>
          <p:cNvPr id="3" name="Rectangle 2">
            <a:extLst>
              <a:ext uri="{FF2B5EF4-FFF2-40B4-BE49-F238E27FC236}">
                <a16:creationId xmlns:a16="http://schemas.microsoft.com/office/drawing/2014/main" id="{4AC9DE80-5D9E-4AC9-A984-F54A83CA439D}"/>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pic>
        <p:nvPicPr>
          <p:cNvPr id="24" name="Picture 23"/>
          <p:cNvPicPr>
            <a:picLocks noChangeAspect="1"/>
          </p:cNvPicPr>
          <p:nvPr/>
        </p:nvPicPr>
        <p:blipFill>
          <a:blip r:embed="rId3"/>
          <a:stretch/>
        </p:blipFill>
        <p:spPr>
          <a:xfrm>
            <a:off x="552450" y="1624542"/>
            <a:ext cx="7239000" cy="3056467"/>
          </a:xfrm>
          <a:prstGeom prst="roundRect">
            <a:avLst>
              <a:gd name="adj" fmla="val 3636"/>
            </a:avLst>
          </a:prstGeom>
        </p:spPr>
      </p:pic>
      <p:sp>
        <p:nvSpPr>
          <p:cNvPr id="6" name="Rounded Rectangle 5">
            <a:extLst>
              <a:ext uri="{FF2B5EF4-FFF2-40B4-BE49-F238E27FC236}">
                <a16:creationId xmlns:a16="http://schemas.microsoft.com/office/drawing/2014/main" id="{3944AEDF-6D8B-42CB-9043-C33A87805FD8}"/>
              </a:ext>
            </a:extLst>
          </p:cNvPr>
          <p:cNvSpPr>
            <a:spLocks noGrp="1"/>
          </p:cNvSpPr>
          <p:nvPr/>
        </p:nvSpPr>
        <p:spPr>
          <a:xfrm>
            <a:off x="8172450" y="1657350"/>
            <a:ext cx="3181350" cy="3733800"/>
          </a:xfrm>
          <a:prstGeom prst="roundRect">
            <a:avLst>
              <a:gd name="adj" fmla="val 4790"/>
            </a:avLst>
          </a:prstGeom>
          <a:solidFill>
            <a:srgbClr val="FFFFFF"/>
          </a:solidFill>
          <a:ln w="14288">
            <a:solidFill>
              <a:srgbClr val="BFD2E8"/>
            </a:solidFill>
            <a:prstDash val="solid"/>
          </a:ln>
        </p:spPr>
        <p:txBody>
          <a:bodyPr/>
          <a:lstStyle/>
          <a:p>
            <a:endParaRPr lang="en-US"/>
          </a:p>
        </p:txBody>
      </p:sp>
      <p:sp>
        <p:nvSpPr>
          <p:cNvPr id="7" name="Rectangle 6">
            <a:extLst>
              <a:ext uri="{FF2B5EF4-FFF2-40B4-BE49-F238E27FC236}">
                <a16:creationId xmlns:a16="http://schemas.microsoft.com/office/drawing/2014/main" id="{84C0F0E0-B1E9-4DE4-8545-77C6C0D94D7F}"/>
              </a:ext>
            </a:extLst>
          </p:cNvPr>
          <p:cNvSpPr>
            <a:spLocks noGrp="1"/>
          </p:cNvSpPr>
          <p:nvPr/>
        </p:nvSpPr>
        <p:spPr>
          <a:xfrm>
            <a:off x="8505825" y="2009775"/>
            <a:ext cx="2476500" cy="514350"/>
          </a:xfrm>
          <a:prstGeom prst="rect">
            <a:avLst/>
          </a:prstGeom>
          <a:noFill/>
          <a:ln w="0">
            <a:noFill/>
            <a:prstDash val="solid"/>
          </a:ln>
        </p:spPr>
        <p:txBody>
          <a:bodyPr/>
          <a:lstStyle/>
          <a:p>
            <a:pPr algn="ctr">
              <a:buNone/>
              <a:defRPr sz="2250" b="1">
                <a:solidFill>
                  <a:srgbClr val="12315B"/>
                </a:solidFill>
              </a:defRPr>
            </a:pPr>
            <a:r>
              <a:rPr sz="2400" b="1">
                <a:solidFill>
                  <a:srgbClr val="12315B"/>
                </a:solidFill>
              </a:rPr>
              <a:t>12,1%</a:t>
            </a:r>
          </a:p>
        </p:txBody>
      </p:sp>
      <p:sp>
        <p:nvSpPr>
          <p:cNvPr id="8" name="Rectangle 7">
            <a:extLst>
              <a:ext uri="{FF2B5EF4-FFF2-40B4-BE49-F238E27FC236}">
                <a16:creationId xmlns:a16="http://schemas.microsoft.com/office/drawing/2014/main" id="{1DEDF368-B961-4523-A96C-43209696520F}"/>
              </a:ext>
            </a:extLst>
          </p:cNvPr>
          <p:cNvSpPr>
            <a:spLocks noGrp="1"/>
          </p:cNvSpPr>
          <p:nvPr/>
        </p:nvSpPr>
        <p:spPr>
          <a:xfrm>
            <a:off x="8505825" y="2533650"/>
            <a:ext cx="2476500" cy="266700"/>
          </a:xfrm>
          <a:prstGeom prst="rect">
            <a:avLst/>
          </a:prstGeom>
          <a:noFill/>
          <a:ln w="0">
            <a:noFill/>
            <a:prstDash val="solid"/>
          </a:ln>
        </p:spPr>
        <p:txBody>
          <a:bodyPr/>
          <a:lstStyle/>
          <a:p>
            <a:pPr algn="ctr">
              <a:buNone/>
              <a:defRPr sz="1200" b="0">
                <a:solidFill>
                  <a:srgbClr val="5C7291"/>
                </a:solidFill>
              </a:defRPr>
            </a:pPr>
            <a:r>
              <a:rPr sz="1600" b="0">
                <a:solidFill>
                  <a:srgbClr val="5C7291"/>
                </a:solidFill>
              </a:rPr>
              <a:t>tổng lưu lượng giao dịch</a:t>
            </a:r>
          </a:p>
        </p:txBody>
      </p:sp>
      <p:sp>
        <p:nvSpPr>
          <p:cNvPr id="9" name="Rectangle 8">
            <a:extLst>
              <a:ext uri="{FF2B5EF4-FFF2-40B4-BE49-F238E27FC236}">
                <a16:creationId xmlns:a16="http://schemas.microsoft.com/office/drawing/2014/main" id="{E708CF36-0E85-40DD-9522-3B1E33243C0A}"/>
              </a:ext>
            </a:extLst>
          </p:cNvPr>
          <p:cNvSpPr>
            <a:spLocks noGrp="1"/>
          </p:cNvSpPr>
          <p:nvPr/>
        </p:nvSpPr>
        <p:spPr>
          <a:xfrm>
            <a:off x="8791575" y="3028950"/>
            <a:ext cx="1905000" cy="38100"/>
          </a:xfrm>
          <a:prstGeom prst="rect">
            <a:avLst/>
          </a:prstGeom>
          <a:solidFill>
            <a:srgbClr val="FF9900"/>
          </a:solidFill>
          <a:ln w="0">
            <a:solidFill>
              <a:srgbClr val="FF9900"/>
            </a:solidFill>
            <a:prstDash val="solid"/>
          </a:ln>
        </p:spPr>
        <p:txBody>
          <a:bodyPr/>
          <a:lstStyle/>
          <a:p>
            <a:endParaRPr lang="en-US"/>
          </a:p>
        </p:txBody>
      </p:sp>
      <p:sp>
        <p:nvSpPr>
          <p:cNvPr id="10" name="Rectangle 9">
            <a:extLst>
              <a:ext uri="{FF2B5EF4-FFF2-40B4-BE49-F238E27FC236}">
                <a16:creationId xmlns:a16="http://schemas.microsoft.com/office/drawing/2014/main" id="{A50DB357-7DC7-4AD0-AB6E-5E949C169298}"/>
              </a:ext>
            </a:extLst>
          </p:cNvPr>
          <p:cNvSpPr>
            <a:spLocks noGrp="1"/>
          </p:cNvSpPr>
          <p:nvPr/>
        </p:nvSpPr>
        <p:spPr>
          <a:xfrm>
            <a:off x="8505825" y="3276600"/>
            <a:ext cx="2476500" cy="514350"/>
          </a:xfrm>
          <a:prstGeom prst="rect">
            <a:avLst/>
          </a:prstGeom>
          <a:noFill/>
          <a:ln w="0">
            <a:noFill/>
            <a:prstDash val="solid"/>
          </a:ln>
        </p:spPr>
        <p:txBody>
          <a:bodyPr/>
          <a:lstStyle/>
          <a:p>
            <a:pPr algn="ctr">
              <a:buNone/>
              <a:defRPr sz="2250" b="1">
                <a:solidFill>
                  <a:srgbClr val="FF9900"/>
                </a:solidFill>
              </a:defRPr>
            </a:pPr>
            <a:r>
              <a:rPr sz="2400" b="1">
                <a:solidFill>
                  <a:srgbClr val="FF9900"/>
                </a:solidFill>
              </a:rPr>
              <a:t>87,3%</a:t>
            </a:r>
          </a:p>
        </p:txBody>
      </p:sp>
      <p:sp>
        <p:nvSpPr>
          <p:cNvPr id="11" name="Rectangle 10">
            <a:extLst>
              <a:ext uri="{FF2B5EF4-FFF2-40B4-BE49-F238E27FC236}">
                <a16:creationId xmlns:a16="http://schemas.microsoft.com/office/drawing/2014/main" id="{812B1B08-AA1A-48FA-A70A-AB37FD919019}"/>
              </a:ext>
            </a:extLst>
          </p:cNvPr>
          <p:cNvSpPr>
            <a:spLocks noGrp="1"/>
          </p:cNvSpPr>
          <p:nvPr/>
        </p:nvSpPr>
        <p:spPr>
          <a:xfrm>
            <a:off x="8505825" y="3800475"/>
            <a:ext cx="2476500" cy="266700"/>
          </a:xfrm>
          <a:prstGeom prst="rect">
            <a:avLst/>
          </a:prstGeom>
          <a:noFill/>
          <a:ln w="0">
            <a:noFill/>
            <a:prstDash val="solid"/>
          </a:ln>
        </p:spPr>
        <p:txBody>
          <a:bodyPr/>
          <a:lstStyle/>
          <a:p>
            <a:pPr algn="ctr">
              <a:buNone/>
              <a:defRPr sz="1200" b="0">
                <a:solidFill>
                  <a:srgbClr val="5C7291"/>
                </a:solidFill>
              </a:defRPr>
            </a:pPr>
            <a:r>
              <a:rPr sz="1600" b="0">
                <a:solidFill>
                  <a:srgbClr val="5C7291"/>
                </a:solidFill>
              </a:rPr>
              <a:t>tổng giao dịch AML</a:t>
            </a:r>
          </a:p>
        </p:txBody>
      </p:sp>
      <p:sp>
        <p:nvSpPr>
          <p:cNvPr id="12" name="Rectangle 11">
            <a:extLst>
              <a:ext uri="{FF2B5EF4-FFF2-40B4-BE49-F238E27FC236}">
                <a16:creationId xmlns:a16="http://schemas.microsoft.com/office/drawing/2014/main" id="{EB6A8AF0-D249-440E-A45D-83A99595D2A4}"/>
              </a:ext>
            </a:extLst>
          </p:cNvPr>
          <p:cNvSpPr>
            <a:spLocks noGrp="1"/>
          </p:cNvSpPr>
          <p:nvPr/>
        </p:nvSpPr>
        <p:spPr>
          <a:xfrm>
            <a:off x="8791575" y="4276725"/>
            <a:ext cx="1905000" cy="38100"/>
          </a:xfrm>
          <a:prstGeom prst="rect">
            <a:avLst/>
          </a:prstGeom>
          <a:solidFill>
            <a:srgbClr val="14B8A6"/>
          </a:solidFill>
          <a:ln w="0">
            <a:solidFill>
              <a:srgbClr val="14B8A6"/>
            </a:solidFill>
            <a:prstDash val="solid"/>
          </a:ln>
        </p:spPr>
        <p:txBody>
          <a:bodyPr/>
          <a:lstStyle/>
          <a:p>
            <a:endParaRPr lang="en-US"/>
          </a:p>
        </p:txBody>
      </p:sp>
      <p:sp>
        <p:nvSpPr>
          <p:cNvPr id="13" name="Rectangle 12">
            <a:extLst>
              <a:ext uri="{FF2B5EF4-FFF2-40B4-BE49-F238E27FC236}">
                <a16:creationId xmlns:a16="http://schemas.microsoft.com/office/drawing/2014/main" id="{5367FB72-C9FE-483D-8FDB-6C159C48D5A5}"/>
              </a:ext>
            </a:extLst>
          </p:cNvPr>
          <p:cNvSpPr>
            <a:spLocks noGrp="1"/>
          </p:cNvSpPr>
          <p:nvPr/>
        </p:nvSpPr>
        <p:spPr>
          <a:xfrm>
            <a:off x="8505825" y="4514850"/>
            <a:ext cx="2476500" cy="514350"/>
          </a:xfrm>
          <a:prstGeom prst="rect">
            <a:avLst/>
          </a:prstGeom>
          <a:noFill/>
          <a:ln w="0">
            <a:noFill/>
            <a:prstDash val="solid"/>
          </a:ln>
        </p:spPr>
        <p:txBody>
          <a:bodyPr/>
          <a:lstStyle/>
          <a:p>
            <a:pPr algn="ctr">
              <a:buNone/>
              <a:defRPr sz="2250" b="1">
                <a:solidFill>
                  <a:srgbClr val="14B8A6"/>
                </a:solidFill>
              </a:defRPr>
            </a:pPr>
            <a:r>
              <a:rPr sz="2400" b="1">
                <a:solidFill>
                  <a:srgbClr val="14B8A6"/>
                </a:solidFill>
              </a:rPr>
              <a:t>7,2×</a:t>
            </a:r>
          </a:p>
        </p:txBody>
      </p:sp>
      <p:sp>
        <p:nvSpPr>
          <p:cNvPr id="14" name="Rectangle 13">
            <a:extLst>
              <a:ext uri="{FF2B5EF4-FFF2-40B4-BE49-F238E27FC236}">
                <a16:creationId xmlns:a16="http://schemas.microsoft.com/office/drawing/2014/main" id="{BB15F226-F2CF-4D6A-905E-3D38938397B2}"/>
              </a:ext>
            </a:extLst>
          </p:cNvPr>
          <p:cNvSpPr>
            <a:spLocks noGrp="1"/>
          </p:cNvSpPr>
          <p:nvPr/>
        </p:nvSpPr>
        <p:spPr>
          <a:xfrm>
            <a:off x="8410575" y="5038725"/>
            <a:ext cx="2667000" cy="266700"/>
          </a:xfrm>
          <a:prstGeom prst="rect">
            <a:avLst/>
          </a:prstGeom>
          <a:noFill/>
          <a:ln w="0">
            <a:noFill/>
            <a:prstDash val="solid"/>
          </a:ln>
        </p:spPr>
        <p:txBody>
          <a:bodyPr/>
          <a:lstStyle/>
          <a:p>
            <a:pPr algn="ctr">
              <a:buNone/>
              <a:defRPr sz="1200" b="0">
                <a:solidFill>
                  <a:srgbClr val="5C7291"/>
                </a:solidFill>
              </a:defRPr>
            </a:pPr>
            <a:r>
              <a:rPr sz="1600" b="0">
                <a:solidFill>
                  <a:srgbClr val="5C7291"/>
                </a:solidFill>
              </a:rPr>
              <a:t>cao hơn tỷ lệ AML toàn bộ</a:t>
            </a:r>
          </a:p>
        </p:txBody>
      </p:sp>
      <p:sp>
        <p:nvSpPr>
          <p:cNvPr id="15" name="Rectangle 14">
            <a:extLst>
              <a:ext uri="{FF2B5EF4-FFF2-40B4-BE49-F238E27FC236}">
                <a16:creationId xmlns:a16="http://schemas.microsoft.com/office/drawing/2014/main" id="{FE2500B1-F65F-43AF-B2C7-7E8D99053FBD}"/>
              </a:ext>
            </a:extLst>
          </p:cNvPr>
          <p:cNvSpPr>
            <a:spLocks noGrp="1"/>
          </p:cNvSpPr>
          <p:nvPr/>
        </p:nvSpPr>
        <p:spPr>
          <a:xfrm>
            <a:off x="709612" y="4801466"/>
            <a:ext cx="6924675" cy="514350"/>
          </a:xfrm>
          <a:prstGeom prst="rect">
            <a:avLst/>
          </a:prstGeom>
          <a:noFill/>
          <a:ln w="0">
            <a:noFill/>
            <a:prstDash val="solid"/>
          </a:ln>
        </p:spPr>
        <p:txBody>
          <a:bodyPr/>
          <a:lstStyle/>
          <a:p>
            <a:pPr algn="l">
              <a:buNone/>
              <a:defRPr sz="1725" b="1">
                <a:solidFill>
                  <a:srgbClr val="C83E4D"/>
                </a:solidFill>
              </a:defRPr>
            </a:pPr>
            <a:r>
              <a:rPr b="1">
                <a:solidFill>
                  <a:srgbClr val="C83E4D"/>
                </a:solidFill>
              </a:rPr>
              <a:t>Hành động business: ưu tiên rule, dashboard</a:t>
            </a:r>
            <a:endParaRPr lang="vi-VN" b="1">
              <a:solidFill>
                <a:srgbClr val="C83E4D"/>
              </a:solidFill>
            </a:endParaRPr>
          </a:p>
          <a:p>
            <a:pPr algn="l">
              <a:buNone/>
              <a:defRPr sz="1725" b="1">
                <a:solidFill>
                  <a:srgbClr val="C83E4D"/>
                </a:solidFill>
              </a:defRPr>
            </a:pPr>
            <a:r>
              <a:rPr b="1">
                <a:solidFill>
                  <a:srgbClr val="C83E4D"/>
                </a:solidFill>
              </a:rPr>
              <a:t>và nguồn lực điều tra cho ACH trước</a:t>
            </a:r>
          </a:p>
        </p:txBody>
      </p:sp>
      <p:sp>
        <p:nvSpPr>
          <p:cNvPr id="17" name="Rectangle 16">
            <a:extLst>
              <a:ext uri="{FF2B5EF4-FFF2-40B4-BE49-F238E27FC236}">
                <a16:creationId xmlns:a16="http://schemas.microsoft.com/office/drawing/2014/main" id="{F4EAC5B7-9C1A-4556-B862-E0495282FF74}"/>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4/17</a:t>
            </a:r>
          </a:p>
        </p:txBody>
      </p:sp>
    </p:spTree>
    <p:extLst>
      <p:ext uri="{BB962C8B-B14F-4D97-AF65-F5344CB8AC3E}">
        <p14:creationId xmlns:p14="http://schemas.microsoft.com/office/powerpoint/2010/main" val="1060744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5E57DAFF-819B-426B-8043-32E55F5048E8}"/>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91,2% giao dịch đi qua mạng liên ngân hàng</a:t>
            </a:r>
          </a:p>
        </p:txBody>
      </p:sp>
      <p:sp>
        <p:nvSpPr>
          <p:cNvPr id="2" name="Rectangle 1">
            <a:extLst>
              <a:ext uri="{FF2B5EF4-FFF2-40B4-BE49-F238E27FC236}">
                <a16:creationId xmlns:a16="http://schemas.microsoft.com/office/drawing/2014/main" id="{C071636C-FF30-4807-89C7-C17260C80111}"/>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Tách volume, network behavior và laundering pattern để tránh đọc sai tín hiệu</a:t>
            </a:r>
          </a:p>
        </p:txBody>
      </p:sp>
      <p:sp>
        <p:nvSpPr>
          <p:cNvPr id="3" name="Rectangle 2">
            <a:extLst>
              <a:ext uri="{FF2B5EF4-FFF2-40B4-BE49-F238E27FC236}">
                <a16:creationId xmlns:a16="http://schemas.microsoft.com/office/drawing/2014/main" id="{2C21BF29-CDC3-40AC-A829-C5372A5008C2}"/>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8F3AE4B3-7755-4E83-92E0-FE75C08E071A}"/>
              </a:ext>
            </a:extLst>
          </p:cNvPr>
          <p:cNvSpPr>
            <a:spLocks noGrp="1"/>
          </p:cNvSpPr>
          <p:nvPr/>
        </p:nvSpPr>
        <p:spPr>
          <a:xfrm>
            <a:off x="609600" y="1676400"/>
            <a:ext cx="2857500" cy="1295400"/>
          </a:xfrm>
          <a:prstGeom prst="roundRect">
            <a:avLst>
              <a:gd name="adj" fmla="val 8824"/>
            </a:avLst>
          </a:prstGeom>
          <a:solidFill>
            <a:srgbClr val="FFFFFF"/>
          </a:solidFill>
          <a:ln w="9525">
            <a:solidFill>
              <a:srgbClr val="D7E0EA"/>
            </a:solidFill>
            <a:prstDash val="solid"/>
          </a:ln>
        </p:spPr>
        <p:txBody>
          <a:bodyPr/>
          <a:lstStyle/>
          <a:p>
            <a:endParaRPr lang="en-US"/>
          </a:p>
        </p:txBody>
      </p:sp>
      <p:sp>
        <p:nvSpPr>
          <p:cNvPr id="6" name="Rectangle 5">
            <a:extLst>
              <a:ext uri="{FF2B5EF4-FFF2-40B4-BE49-F238E27FC236}">
                <a16:creationId xmlns:a16="http://schemas.microsoft.com/office/drawing/2014/main" id="{B81512EB-BD53-45C0-82BC-29FF4706EB75}"/>
              </a:ext>
            </a:extLst>
          </p:cNvPr>
          <p:cNvSpPr>
            <a:spLocks noGrp="1"/>
          </p:cNvSpPr>
          <p:nvPr/>
        </p:nvSpPr>
        <p:spPr>
          <a:xfrm>
            <a:off x="609600" y="1676400"/>
            <a:ext cx="66675" cy="1295400"/>
          </a:xfrm>
          <a:prstGeom prst="rect">
            <a:avLst/>
          </a:prstGeom>
          <a:solidFill>
            <a:srgbClr val="2563EB"/>
          </a:solidFill>
          <a:ln w="0">
            <a:solidFill>
              <a:srgbClr val="2563EB"/>
            </a:solidFill>
            <a:prstDash val="solid"/>
          </a:ln>
        </p:spPr>
        <p:txBody>
          <a:bodyPr/>
          <a:lstStyle/>
          <a:p>
            <a:endParaRPr lang="en-US"/>
          </a:p>
        </p:txBody>
      </p:sp>
      <p:sp>
        <p:nvSpPr>
          <p:cNvPr id="7" name="Rectangle 6">
            <a:extLst>
              <a:ext uri="{FF2B5EF4-FFF2-40B4-BE49-F238E27FC236}">
                <a16:creationId xmlns:a16="http://schemas.microsoft.com/office/drawing/2014/main" id="{168F1295-F973-467F-A5D0-D6470CEEBE80}"/>
              </a:ext>
            </a:extLst>
          </p:cNvPr>
          <p:cNvSpPr>
            <a:spLocks noGrp="1"/>
          </p:cNvSpPr>
          <p:nvPr/>
        </p:nvSpPr>
        <p:spPr>
          <a:xfrm>
            <a:off x="838200" y="1852612"/>
            <a:ext cx="2476500" cy="428625"/>
          </a:xfrm>
          <a:prstGeom prst="rect">
            <a:avLst/>
          </a:prstGeom>
          <a:noFill/>
          <a:ln w="0">
            <a:noFill/>
            <a:prstDash val="solid"/>
          </a:ln>
        </p:spPr>
        <p:txBody>
          <a:bodyPr/>
          <a:lstStyle/>
          <a:p>
            <a:pPr algn="l">
              <a:buNone/>
              <a:defRPr sz="2250" b="1">
                <a:solidFill>
                  <a:srgbClr val="12315B"/>
                </a:solidFill>
              </a:defRPr>
            </a:pPr>
            <a:r>
              <a:rPr sz="2800" b="1">
                <a:solidFill>
                  <a:srgbClr val="12315B"/>
                </a:solidFill>
              </a:rPr>
              <a:t>91,2%</a:t>
            </a:r>
          </a:p>
        </p:txBody>
      </p:sp>
      <p:sp>
        <p:nvSpPr>
          <p:cNvPr id="8" name="Rectangle 7">
            <a:extLst>
              <a:ext uri="{FF2B5EF4-FFF2-40B4-BE49-F238E27FC236}">
                <a16:creationId xmlns:a16="http://schemas.microsoft.com/office/drawing/2014/main" id="{4F69B71E-D766-498C-AF71-AD448B39BDC0}"/>
              </a:ext>
            </a:extLst>
          </p:cNvPr>
          <p:cNvSpPr>
            <a:spLocks noGrp="1"/>
          </p:cNvSpPr>
          <p:nvPr/>
        </p:nvSpPr>
        <p:spPr>
          <a:xfrm>
            <a:off x="838200" y="2343150"/>
            <a:ext cx="2495550" cy="285750"/>
          </a:xfrm>
          <a:prstGeom prst="rect">
            <a:avLst/>
          </a:prstGeom>
          <a:noFill/>
          <a:ln w="0">
            <a:noFill/>
            <a:prstDash val="solid"/>
          </a:ln>
        </p:spPr>
        <p:txBody>
          <a:bodyPr/>
          <a:lstStyle/>
          <a:p>
            <a:pPr algn="l">
              <a:buNone/>
              <a:defRPr sz="1275" b="1">
                <a:solidFill>
                  <a:srgbClr val="5C7291"/>
                </a:solidFill>
              </a:defRPr>
            </a:pPr>
            <a:r>
              <a:rPr sz="1600" b="1">
                <a:solidFill>
                  <a:srgbClr val="5C7291"/>
                </a:solidFill>
              </a:rPr>
              <a:t>giao dịch liên ngân hàng</a:t>
            </a:r>
          </a:p>
        </p:txBody>
      </p:sp>
      <p:sp>
        <p:nvSpPr>
          <p:cNvPr id="9" name="Rectangle 8">
            <a:extLst>
              <a:ext uri="{FF2B5EF4-FFF2-40B4-BE49-F238E27FC236}">
                <a16:creationId xmlns:a16="http://schemas.microsoft.com/office/drawing/2014/main" id="{86B4BDD9-C8E4-4336-9175-2BB58C189872}"/>
              </a:ext>
            </a:extLst>
          </p:cNvPr>
          <p:cNvSpPr>
            <a:spLocks noGrp="1"/>
          </p:cNvSpPr>
          <p:nvPr/>
        </p:nvSpPr>
        <p:spPr>
          <a:xfrm>
            <a:off x="838200" y="2647950"/>
            <a:ext cx="2495550" cy="247650"/>
          </a:xfrm>
          <a:prstGeom prst="rect">
            <a:avLst/>
          </a:prstGeom>
          <a:noFill/>
          <a:ln w="0">
            <a:noFill/>
            <a:prstDash val="solid"/>
          </a:ln>
        </p:spPr>
        <p:txBody>
          <a:bodyPr/>
          <a:lstStyle/>
          <a:p>
            <a:pPr algn="l">
              <a:buNone/>
              <a:defRPr sz="1125" b="0">
                <a:solidFill>
                  <a:srgbClr val="5C7291"/>
                </a:solidFill>
              </a:defRPr>
            </a:pPr>
            <a:r>
              <a:rPr sz="1500" b="0">
                <a:solidFill>
                  <a:srgbClr val="5C7291"/>
                </a:solidFill>
              </a:rPr>
              <a:t>29.092.624 giao dịch</a:t>
            </a:r>
          </a:p>
        </p:txBody>
      </p:sp>
      <p:sp>
        <p:nvSpPr>
          <p:cNvPr id="10" name="Rounded Rectangle 9">
            <a:extLst>
              <a:ext uri="{FF2B5EF4-FFF2-40B4-BE49-F238E27FC236}">
                <a16:creationId xmlns:a16="http://schemas.microsoft.com/office/drawing/2014/main" id="{70FA1E6B-66C5-4AC6-A628-E7EEC5ED4D53}"/>
              </a:ext>
            </a:extLst>
          </p:cNvPr>
          <p:cNvSpPr>
            <a:spLocks noGrp="1"/>
          </p:cNvSpPr>
          <p:nvPr/>
        </p:nvSpPr>
        <p:spPr>
          <a:xfrm>
            <a:off x="3638550" y="1676400"/>
            <a:ext cx="2857500" cy="1295400"/>
          </a:xfrm>
          <a:prstGeom prst="roundRect">
            <a:avLst>
              <a:gd name="adj" fmla="val 8824"/>
            </a:avLst>
          </a:prstGeom>
          <a:solidFill>
            <a:srgbClr val="FFFFFF"/>
          </a:solidFill>
          <a:ln w="9525">
            <a:solidFill>
              <a:srgbClr val="D7E0EA"/>
            </a:solidFill>
            <a:prstDash val="solid"/>
          </a:ln>
        </p:spPr>
        <p:txBody>
          <a:bodyPr/>
          <a:lstStyle/>
          <a:p>
            <a:endParaRPr lang="en-US"/>
          </a:p>
        </p:txBody>
      </p:sp>
      <p:sp>
        <p:nvSpPr>
          <p:cNvPr id="11" name="Rectangle 10">
            <a:extLst>
              <a:ext uri="{FF2B5EF4-FFF2-40B4-BE49-F238E27FC236}">
                <a16:creationId xmlns:a16="http://schemas.microsoft.com/office/drawing/2014/main" id="{DC951847-81B0-4E86-AF27-A059EFFDB5C3}"/>
              </a:ext>
            </a:extLst>
          </p:cNvPr>
          <p:cNvSpPr>
            <a:spLocks noGrp="1"/>
          </p:cNvSpPr>
          <p:nvPr/>
        </p:nvSpPr>
        <p:spPr>
          <a:xfrm>
            <a:off x="3638550" y="1676400"/>
            <a:ext cx="66675" cy="1295400"/>
          </a:xfrm>
          <a:prstGeom prst="rect">
            <a:avLst/>
          </a:prstGeom>
          <a:solidFill>
            <a:srgbClr val="D97706"/>
          </a:solidFill>
          <a:ln w="0">
            <a:solidFill>
              <a:srgbClr val="D97706"/>
            </a:solidFill>
            <a:prstDash val="solid"/>
          </a:ln>
        </p:spPr>
        <p:txBody>
          <a:bodyPr/>
          <a:lstStyle/>
          <a:p>
            <a:endParaRPr lang="en-US"/>
          </a:p>
        </p:txBody>
      </p:sp>
      <p:sp>
        <p:nvSpPr>
          <p:cNvPr id="12" name="Rectangle 11">
            <a:extLst>
              <a:ext uri="{FF2B5EF4-FFF2-40B4-BE49-F238E27FC236}">
                <a16:creationId xmlns:a16="http://schemas.microsoft.com/office/drawing/2014/main" id="{65F7BBBC-C100-470F-BBCF-AF0718D8702D}"/>
              </a:ext>
            </a:extLst>
          </p:cNvPr>
          <p:cNvSpPr>
            <a:spLocks noGrp="1"/>
          </p:cNvSpPr>
          <p:nvPr/>
        </p:nvSpPr>
        <p:spPr>
          <a:xfrm>
            <a:off x="3867150" y="1852612"/>
            <a:ext cx="2476500" cy="428625"/>
          </a:xfrm>
          <a:prstGeom prst="rect">
            <a:avLst/>
          </a:prstGeom>
          <a:noFill/>
          <a:ln w="0">
            <a:noFill/>
            <a:prstDash val="solid"/>
          </a:ln>
        </p:spPr>
        <p:txBody>
          <a:bodyPr/>
          <a:lstStyle/>
          <a:p>
            <a:pPr algn="l">
              <a:buNone/>
              <a:defRPr sz="2250" b="1">
                <a:solidFill>
                  <a:srgbClr val="12315B"/>
                </a:solidFill>
              </a:defRPr>
            </a:pPr>
            <a:r>
              <a:rPr sz="2800" b="1">
                <a:solidFill>
                  <a:srgbClr val="12315B"/>
                </a:solidFill>
              </a:rPr>
              <a:t>8,03%</a:t>
            </a:r>
          </a:p>
        </p:txBody>
      </p:sp>
      <p:sp>
        <p:nvSpPr>
          <p:cNvPr id="13" name="Rectangle 12">
            <a:extLst>
              <a:ext uri="{FF2B5EF4-FFF2-40B4-BE49-F238E27FC236}">
                <a16:creationId xmlns:a16="http://schemas.microsoft.com/office/drawing/2014/main" id="{FCF47C59-E5BD-48B9-AFE2-F3A97CC88BFC}"/>
              </a:ext>
            </a:extLst>
          </p:cNvPr>
          <p:cNvSpPr>
            <a:spLocks noGrp="1"/>
          </p:cNvSpPr>
          <p:nvPr/>
        </p:nvSpPr>
        <p:spPr>
          <a:xfrm>
            <a:off x="3867150" y="2343150"/>
            <a:ext cx="2495550" cy="285750"/>
          </a:xfrm>
          <a:prstGeom prst="rect">
            <a:avLst/>
          </a:prstGeom>
          <a:noFill/>
          <a:ln w="0">
            <a:noFill/>
            <a:prstDash val="solid"/>
          </a:ln>
        </p:spPr>
        <p:txBody>
          <a:bodyPr/>
          <a:lstStyle/>
          <a:p>
            <a:pPr algn="l">
              <a:buNone/>
              <a:defRPr sz="1275" b="1">
                <a:solidFill>
                  <a:srgbClr val="5C7291"/>
                </a:solidFill>
              </a:defRPr>
            </a:pPr>
            <a:r>
              <a:rPr sz="1600" b="1">
                <a:solidFill>
                  <a:srgbClr val="5C7291"/>
                </a:solidFill>
              </a:rPr>
              <a:t>self-transfer</a:t>
            </a:r>
          </a:p>
        </p:txBody>
      </p:sp>
      <p:sp>
        <p:nvSpPr>
          <p:cNvPr id="14" name="Rectangle 13">
            <a:extLst>
              <a:ext uri="{FF2B5EF4-FFF2-40B4-BE49-F238E27FC236}">
                <a16:creationId xmlns:a16="http://schemas.microsoft.com/office/drawing/2014/main" id="{8C4D411D-3C1A-4D45-869B-14928391739C}"/>
              </a:ext>
            </a:extLst>
          </p:cNvPr>
          <p:cNvSpPr>
            <a:spLocks noGrp="1"/>
          </p:cNvSpPr>
          <p:nvPr/>
        </p:nvSpPr>
        <p:spPr>
          <a:xfrm>
            <a:off x="3867150" y="2647950"/>
            <a:ext cx="2495550" cy="247650"/>
          </a:xfrm>
          <a:prstGeom prst="rect">
            <a:avLst/>
          </a:prstGeom>
          <a:noFill/>
          <a:ln w="0">
            <a:noFill/>
            <a:prstDash val="solid"/>
          </a:ln>
        </p:spPr>
        <p:txBody>
          <a:bodyPr/>
          <a:lstStyle/>
          <a:p>
            <a:pPr algn="l">
              <a:buNone/>
              <a:defRPr sz="1125" b="0">
                <a:solidFill>
                  <a:srgbClr val="5C7291"/>
                </a:solidFill>
              </a:defRPr>
            </a:pPr>
            <a:r>
              <a:rPr sz="1500" b="0">
                <a:solidFill>
                  <a:srgbClr val="5C7291"/>
                </a:solidFill>
              </a:rPr>
              <a:t>2.561.860 giao dịch</a:t>
            </a:r>
          </a:p>
        </p:txBody>
      </p:sp>
      <p:sp>
        <p:nvSpPr>
          <p:cNvPr id="15" name="Rounded Rectangle 14">
            <a:extLst>
              <a:ext uri="{FF2B5EF4-FFF2-40B4-BE49-F238E27FC236}">
                <a16:creationId xmlns:a16="http://schemas.microsoft.com/office/drawing/2014/main" id="{D3EFDD76-CB40-4A1E-86A3-E2E28C96C468}"/>
              </a:ext>
            </a:extLst>
          </p:cNvPr>
          <p:cNvSpPr>
            <a:spLocks noGrp="1"/>
          </p:cNvSpPr>
          <p:nvPr/>
        </p:nvSpPr>
        <p:spPr>
          <a:xfrm>
            <a:off x="6667500" y="1676400"/>
            <a:ext cx="2857500" cy="1295400"/>
          </a:xfrm>
          <a:prstGeom prst="roundRect">
            <a:avLst>
              <a:gd name="adj" fmla="val 8824"/>
            </a:avLst>
          </a:prstGeom>
          <a:solidFill>
            <a:srgbClr val="FFFFFF"/>
          </a:solidFill>
          <a:ln w="9525">
            <a:solidFill>
              <a:srgbClr val="D7E0EA"/>
            </a:solidFill>
            <a:prstDash val="solid"/>
          </a:ln>
        </p:spPr>
        <p:txBody>
          <a:bodyPr/>
          <a:lstStyle/>
          <a:p>
            <a:endParaRPr lang="en-US"/>
          </a:p>
        </p:txBody>
      </p:sp>
      <p:sp>
        <p:nvSpPr>
          <p:cNvPr id="16" name="Rectangle 15">
            <a:extLst>
              <a:ext uri="{FF2B5EF4-FFF2-40B4-BE49-F238E27FC236}">
                <a16:creationId xmlns:a16="http://schemas.microsoft.com/office/drawing/2014/main" id="{CBE11AF1-0390-47BA-ADE7-899CD5A7C3D3}"/>
              </a:ext>
            </a:extLst>
          </p:cNvPr>
          <p:cNvSpPr>
            <a:spLocks noGrp="1"/>
          </p:cNvSpPr>
          <p:nvPr/>
        </p:nvSpPr>
        <p:spPr>
          <a:xfrm>
            <a:off x="6667500" y="1676400"/>
            <a:ext cx="66675" cy="1295400"/>
          </a:xfrm>
          <a:prstGeom prst="rect">
            <a:avLst/>
          </a:prstGeom>
          <a:solidFill>
            <a:srgbClr val="0F766E"/>
          </a:solidFill>
          <a:ln w="0">
            <a:solidFill>
              <a:srgbClr val="0F766E"/>
            </a:solidFill>
            <a:prstDash val="solid"/>
          </a:ln>
        </p:spPr>
        <p:txBody>
          <a:bodyPr/>
          <a:lstStyle/>
          <a:p>
            <a:endParaRPr lang="en-US"/>
          </a:p>
        </p:txBody>
      </p:sp>
      <p:sp>
        <p:nvSpPr>
          <p:cNvPr id="17" name="Rectangle 16">
            <a:extLst>
              <a:ext uri="{FF2B5EF4-FFF2-40B4-BE49-F238E27FC236}">
                <a16:creationId xmlns:a16="http://schemas.microsoft.com/office/drawing/2014/main" id="{C25ED70A-A04E-4A7A-A3B8-655E1B3286B6}"/>
              </a:ext>
            </a:extLst>
          </p:cNvPr>
          <p:cNvSpPr>
            <a:spLocks noGrp="1"/>
          </p:cNvSpPr>
          <p:nvPr/>
        </p:nvSpPr>
        <p:spPr>
          <a:xfrm>
            <a:off x="6896100" y="1852612"/>
            <a:ext cx="2476500" cy="428625"/>
          </a:xfrm>
          <a:prstGeom prst="rect">
            <a:avLst/>
          </a:prstGeom>
          <a:noFill/>
          <a:ln w="0">
            <a:noFill/>
            <a:prstDash val="solid"/>
          </a:ln>
        </p:spPr>
        <p:txBody>
          <a:bodyPr/>
          <a:lstStyle/>
          <a:p>
            <a:pPr algn="l">
              <a:buNone/>
              <a:defRPr sz="2250" b="1">
                <a:solidFill>
                  <a:srgbClr val="12315B"/>
                </a:solidFill>
              </a:defRPr>
            </a:pPr>
            <a:r>
              <a:rPr sz="2800" b="1">
                <a:solidFill>
                  <a:srgbClr val="12315B"/>
                </a:solidFill>
              </a:rPr>
              <a:t>53,9%</a:t>
            </a:r>
          </a:p>
        </p:txBody>
      </p:sp>
      <p:sp>
        <p:nvSpPr>
          <p:cNvPr id="18" name="Rectangle 17">
            <a:extLst>
              <a:ext uri="{FF2B5EF4-FFF2-40B4-BE49-F238E27FC236}">
                <a16:creationId xmlns:a16="http://schemas.microsoft.com/office/drawing/2014/main" id="{69FBAF04-DC0B-412C-A106-1D3321216D2E}"/>
              </a:ext>
            </a:extLst>
          </p:cNvPr>
          <p:cNvSpPr>
            <a:spLocks noGrp="1"/>
          </p:cNvSpPr>
          <p:nvPr/>
        </p:nvSpPr>
        <p:spPr>
          <a:xfrm>
            <a:off x="6896100" y="2343150"/>
            <a:ext cx="2495550" cy="285750"/>
          </a:xfrm>
          <a:prstGeom prst="rect">
            <a:avLst/>
          </a:prstGeom>
          <a:noFill/>
          <a:ln w="0">
            <a:noFill/>
            <a:prstDash val="solid"/>
          </a:ln>
        </p:spPr>
        <p:txBody>
          <a:bodyPr/>
          <a:lstStyle/>
          <a:p>
            <a:pPr algn="l">
              <a:buNone/>
              <a:defRPr sz="1275" b="1">
                <a:solidFill>
                  <a:srgbClr val="5C7291"/>
                </a:solidFill>
              </a:defRPr>
            </a:pPr>
            <a:r>
              <a:rPr sz="1600" b="1">
                <a:solidFill>
                  <a:srgbClr val="5C7291"/>
                </a:solidFill>
              </a:rPr>
              <a:t>pattern transaction</a:t>
            </a:r>
          </a:p>
        </p:txBody>
      </p:sp>
      <p:sp>
        <p:nvSpPr>
          <p:cNvPr id="19" name="Rectangle 18">
            <a:extLst>
              <a:ext uri="{FF2B5EF4-FFF2-40B4-BE49-F238E27FC236}">
                <a16:creationId xmlns:a16="http://schemas.microsoft.com/office/drawing/2014/main" id="{12127C39-AD38-4500-AD1C-7D98AEAC8C7E}"/>
              </a:ext>
            </a:extLst>
          </p:cNvPr>
          <p:cNvSpPr>
            <a:spLocks noGrp="1"/>
          </p:cNvSpPr>
          <p:nvPr/>
        </p:nvSpPr>
        <p:spPr>
          <a:xfrm>
            <a:off x="6896100" y="2647950"/>
            <a:ext cx="2495550" cy="247650"/>
          </a:xfrm>
          <a:prstGeom prst="rect">
            <a:avLst/>
          </a:prstGeom>
          <a:noFill/>
          <a:ln w="0">
            <a:noFill/>
            <a:prstDash val="solid"/>
          </a:ln>
        </p:spPr>
        <p:txBody>
          <a:bodyPr/>
          <a:lstStyle/>
          <a:p>
            <a:pPr algn="l">
              <a:buNone/>
              <a:defRPr sz="1125" b="0">
                <a:solidFill>
                  <a:srgbClr val="5C7291"/>
                </a:solidFill>
              </a:defRPr>
            </a:pPr>
            <a:r>
              <a:rPr sz="1500" b="0">
                <a:solidFill>
                  <a:srgbClr val="5C7291"/>
                </a:solidFill>
              </a:rPr>
              <a:t>3 nhóm lớn nhất</a:t>
            </a:r>
          </a:p>
        </p:txBody>
      </p:sp>
      <p:sp>
        <p:nvSpPr>
          <p:cNvPr id="20" name="Rounded Rectangle 19">
            <a:extLst>
              <a:ext uri="{FF2B5EF4-FFF2-40B4-BE49-F238E27FC236}">
                <a16:creationId xmlns:a16="http://schemas.microsoft.com/office/drawing/2014/main" id="{C1F88AF1-0EA6-48C5-A786-DF2191F07041}"/>
              </a:ext>
            </a:extLst>
          </p:cNvPr>
          <p:cNvSpPr>
            <a:spLocks noGrp="1"/>
          </p:cNvSpPr>
          <p:nvPr/>
        </p:nvSpPr>
        <p:spPr>
          <a:xfrm>
            <a:off x="9686925" y="1743075"/>
            <a:ext cx="171450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21" name="Rectangle 20">
            <a:extLst>
              <a:ext uri="{FF2B5EF4-FFF2-40B4-BE49-F238E27FC236}">
                <a16:creationId xmlns:a16="http://schemas.microsoft.com/office/drawing/2014/main" id="{34C8DEEF-D4E7-411F-872A-EFE8C6B11D80}"/>
              </a:ext>
            </a:extLst>
          </p:cNvPr>
          <p:cNvSpPr>
            <a:spLocks noGrp="1"/>
          </p:cNvSpPr>
          <p:nvPr/>
        </p:nvSpPr>
        <p:spPr>
          <a:xfrm>
            <a:off x="9763125" y="1809750"/>
            <a:ext cx="1562100" cy="190500"/>
          </a:xfrm>
          <a:prstGeom prst="rect">
            <a:avLst/>
          </a:prstGeom>
          <a:noFill/>
          <a:ln w="0">
            <a:noFill/>
            <a:prstDash val="solid"/>
          </a:ln>
        </p:spPr>
        <p:txBody>
          <a:bodyPr/>
          <a:lstStyle/>
          <a:p>
            <a:pPr algn="ctr">
              <a:buNone/>
              <a:defRPr sz="1125" b="1">
                <a:solidFill>
                  <a:srgbClr val="0F766E"/>
                </a:solidFill>
              </a:defRPr>
            </a:pPr>
            <a:r>
              <a:rPr sz="1125" b="1">
                <a:solidFill>
                  <a:srgbClr val="0F766E"/>
                </a:solidFill>
              </a:rPr>
              <a:t>GATHER–SCATTER</a:t>
            </a:r>
          </a:p>
        </p:txBody>
      </p:sp>
      <p:sp>
        <p:nvSpPr>
          <p:cNvPr id="22" name="Rounded Rectangle 21">
            <a:extLst>
              <a:ext uri="{FF2B5EF4-FFF2-40B4-BE49-F238E27FC236}">
                <a16:creationId xmlns:a16="http://schemas.microsoft.com/office/drawing/2014/main" id="{F32097B0-D6CA-4A16-97ED-90D6306EB52B}"/>
              </a:ext>
            </a:extLst>
          </p:cNvPr>
          <p:cNvSpPr>
            <a:spLocks noGrp="1"/>
          </p:cNvSpPr>
          <p:nvPr/>
        </p:nvSpPr>
        <p:spPr>
          <a:xfrm>
            <a:off x="9686925" y="2152650"/>
            <a:ext cx="17145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23" name="Rectangle 22">
            <a:extLst>
              <a:ext uri="{FF2B5EF4-FFF2-40B4-BE49-F238E27FC236}">
                <a16:creationId xmlns:a16="http://schemas.microsoft.com/office/drawing/2014/main" id="{DE337078-2D9E-4D33-A279-7C9A6F976C7E}"/>
              </a:ext>
            </a:extLst>
          </p:cNvPr>
          <p:cNvSpPr>
            <a:spLocks noGrp="1"/>
          </p:cNvSpPr>
          <p:nvPr/>
        </p:nvSpPr>
        <p:spPr>
          <a:xfrm>
            <a:off x="9763125" y="2219325"/>
            <a:ext cx="1562100" cy="190500"/>
          </a:xfrm>
          <a:prstGeom prst="rect">
            <a:avLst/>
          </a:prstGeom>
          <a:noFill/>
          <a:ln w="0">
            <a:noFill/>
            <a:prstDash val="solid"/>
          </a:ln>
        </p:spPr>
        <p:txBody>
          <a:bodyPr/>
          <a:lstStyle/>
          <a:p>
            <a:pPr algn="ctr">
              <a:buNone/>
              <a:defRPr sz="1125" b="1">
                <a:solidFill>
                  <a:srgbClr val="2563EB"/>
                </a:solidFill>
              </a:defRPr>
            </a:pPr>
            <a:r>
              <a:rPr sz="1125" b="1">
                <a:solidFill>
                  <a:srgbClr val="2563EB"/>
                </a:solidFill>
              </a:rPr>
              <a:t>SCATTER–GATHER</a:t>
            </a:r>
          </a:p>
        </p:txBody>
      </p:sp>
      <p:sp>
        <p:nvSpPr>
          <p:cNvPr id="24" name="Rounded Rectangle 23">
            <a:extLst>
              <a:ext uri="{FF2B5EF4-FFF2-40B4-BE49-F238E27FC236}">
                <a16:creationId xmlns:a16="http://schemas.microsoft.com/office/drawing/2014/main" id="{BA246BCE-3299-4709-819B-927FCF69785C}"/>
              </a:ext>
            </a:extLst>
          </p:cNvPr>
          <p:cNvSpPr>
            <a:spLocks noGrp="1"/>
          </p:cNvSpPr>
          <p:nvPr/>
        </p:nvSpPr>
        <p:spPr>
          <a:xfrm>
            <a:off x="9686925" y="2562225"/>
            <a:ext cx="1714500" cy="323850"/>
          </a:xfrm>
          <a:prstGeom prst="roundRect">
            <a:avLst>
              <a:gd name="adj" fmla="val 35294"/>
            </a:avLst>
          </a:prstGeom>
          <a:solidFill>
            <a:srgbClr val="FFF3DD"/>
          </a:solidFill>
          <a:ln w="9525">
            <a:solidFill>
              <a:srgbClr val="FFF3DD"/>
            </a:solidFill>
            <a:prstDash val="solid"/>
          </a:ln>
        </p:spPr>
        <p:txBody>
          <a:bodyPr/>
          <a:lstStyle/>
          <a:p>
            <a:endParaRPr lang="en-US"/>
          </a:p>
        </p:txBody>
      </p:sp>
      <p:sp>
        <p:nvSpPr>
          <p:cNvPr id="25" name="Rectangle 24">
            <a:extLst>
              <a:ext uri="{FF2B5EF4-FFF2-40B4-BE49-F238E27FC236}">
                <a16:creationId xmlns:a16="http://schemas.microsoft.com/office/drawing/2014/main" id="{09D863B5-8A2A-412F-91BD-43E0804B2C25}"/>
              </a:ext>
            </a:extLst>
          </p:cNvPr>
          <p:cNvSpPr>
            <a:spLocks noGrp="1"/>
          </p:cNvSpPr>
          <p:nvPr/>
        </p:nvSpPr>
        <p:spPr>
          <a:xfrm>
            <a:off x="9763125" y="2628900"/>
            <a:ext cx="1562100" cy="190500"/>
          </a:xfrm>
          <a:prstGeom prst="rect">
            <a:avLst/>
          </a:prstGeom>
          <a:noFill/>
          <a:ln w="0">
            <a:noFill/>
            <a:prstDash val="solid"/>
          </a:ln>
        </p:spPr>
        <p:txBody>
          <a:bodyPr/>
          <a:lstStyle/>
          <a:p>
            <a:pPr algn="ctr">
              <a:buNone/>
              <a:defRPr sz="1275" b="1">
                <a:solidFill>
                  <a:srgbClr val="D97706"/>
                </a:solidFill>
              </a:defRPr>
            </a:pPr>
            <a:r>
              <a:rPr sz="1275" b="1">
                <a:solidFill>
                  <a:srgbClr val="D97706"/>
                </a:solidFill>
              </a:rPr>
              <a:t>STACK</a:t>
            </a:r>
          </a:p>
        </p:txBody>
      </p:sp>
      <p:pic>
        <p:nvPicPr>
          <p:cNvPr id="64" name="Picture 63"/>
          <p:cNvPicPr>
            <a:picLocks noChangeAspect="1"/>
          </p:cNvPicPr>
          <p:nvPr/>
        </p:nvPicPr>
        <p:blipFill>
          <a:blip r:embed="rId3"/>
          <a:stretch/>
        </p:blipFill>
        <p:spPr>
          <a:xfrm>
            <a:off x="597317" y="3171825"/>
            <a:ext cx="7579895" cy="3200400"/>
          </a:xfrm>
          <a:prstGeom prst="roundRect">
            <a:avLst>
              <a:gd name="adj" fmla="val 4211"/>
            </a:avLst>
          </a:prstGeom>
        </p:spPr>
      </p:pic>
      <p:sp>
        <p:nvSpPr>
          <p:cNvPr id="27" name="Rounded Rectangle 26">
            <a:extLst>
              <a:ext uri="{FF2B5EF4-FFF2-40B4-BE49-F238E27FC236}">
                <a16:creationId xmlns:a16="http://schemas.microsoft.com/office/drawing/2014/main" id="{A31DFCFE-D1A9-4161-A617-AA36E9C75608}"/>
              </a:ext>
            </a:extLst>
          </p:cNvPr>
          <p:cNvSpPr>
            <a:spLocks noGrp="1"/>
          </p:cNvSpPr>
          <p:nvPr/>
        </p:nvSpPr>
        <p:spPr>
          <a:xfrm>
            <a:off x="7877175" y="3428999"/>
            <a:ext cx="3476625" cy="2600325"/>
          </a:xfrm>
          <a:prstGeom prst="roundRect">
            <a:avLst>
              <a:gd name="adj" fmla="val 4762"/>
            </a:avLst>
          </a:prstGeom>
          <a:solidFill>
            <a:srgbClr val="FFFFFF"/>
          </a:solidFill>
          <a:ln w="9525">
            <a:solidFill>
              <a:srgbClr val="D7E0EA"/>
            </a:solidFill>
            <a:prstDash val="solid"/>
          </a:ln>
        </p:spPr>
        <p:txBody>
          <a:bodyPr/>
          <a:lstStyle/>
          <a:p>
            <a:endParaRPr lang="en-US"/>
          </a:p>
        </p:txBody>
      </p:sp>
      <p:sp>
        <p:nvSpPr>
          <p:cNvPr id="28" name="Rectangle 27">
            <a:extLst>
              <a:ext uri="{FF2B5EF4-FFF2-40B4-BE49-F238E27FC236}">
                <a16:creationId xmlns:a16="http://schemas.microsoft.com/office/drawing/2014/main" id="{1C806843-5982-4AFE-BA76-440BF6ECD359}"/>
              </a:ext>
            </a:extLst>
          </p:cNvPr>
          <p:cNvSpPr>
            <a:spLocks noGrp="1"/>
          </p:cNvSpPr>
          <p:nvPr/>
        </p:nvSpPr>
        <p:spPr>
          <a:xfrm>
            <a:off x="8172450" y="3724275"/>
            <a:ext cx="2857500" cy="285750"/>
          </a:xfrm>
          <a:prstGeom prst="rect">
            <a:avLst/>
          </a:prstGeom>
          <a:noFill/>
          <a:ln w="0">
            <a:noFill/>
            <a:prstDash val="solid"/>
          </a:ln>
        </p:spPr>
        <p:txBody>
          <a:bodyPr/>
          <a:lstStyle/>
          <a:p>
            <a:pPr algn="l">
              <a:buNone/>
              <a:defRPr sz="1275" b="1">
                <a:solidFill>
                  <a:srgbClr val="0F766E"/>
                </a:solidFill>
              </a:defRPr>
            </a:pPr>
            <a:r>
              <a:rPr sz="1600" b="1">
                <a:solidFill>
                  <a:srgbClr val="0F766E"/>
                </a:solidFill>
              </a:rPr>
              <a:t>Ý nghĩa điều tra</a:t>
            </a:r>
          </a:p>
        </p:txBody>
      </p:sp>
      <p:sp>
        <p:nvSpPr>
          <p:cNvPr id="29" name="Oval 28">
            <a:extLst>
              <a:ext uri="{FF2B5EF4-FFF2-40B4-BE49-F238E27FC236}">
                <a16:creationId xmlns:a16="http://schemas.microsoft.com/office/drawing/2014/main" id="{6AEAC545-4AF0-43F9-A20C-68AA7820F6D2}"/>
              </a:ext>
            </a:extLst>
          </p:cNvPr>
          <p:cNvSpPr>
            <a:spLocks noGrp="1"/>
          </p:cNvSpPr>
          <p:nvPr/>
        </p:nvSpPr>
        <p:spPr>
          <a:xfrm>
            <a:off x="8153400" y="4248150"/>
            <a:ext cx="85725" cy="85725"/>
          </a:xfrm>
          <a:prstGeom prst="ellipse">
            <a:avLst/>
          </a:prstGeom>
          <a:solidFill>
            <a:srgbClr val="2563EB"/>
          </a:solidFill>
          <a:ln w="0">
            <a:solidFill>
              <a:srgbClr val="2563EB"/>
            </a:solidFill>
            <a:prstDash val="solid"/>
          </a:ln>
        </p:spPr>
        <p:txBody>
          <a:bodyPr/>
          <a:lstStyle/>
          <a:p>
            <a:endParaRPr lang="en-US"/>
          </a:p>
        </p:txBody>
      </p:sp>
      <p:sp>
        <p:nvSpPr>
          <p:cNvPr id="30" name="Rectangle 29">
            <a:extLst>
              <a:ext uri="{FF2B5EF4-FFF2-40B4-BE49-F238E27FC236}">
                <a16:creationId xmlns:a16="http://schemas.microsoft.com/office/drawing/2014/main" id="{BCF2AEBD-6D79-4268-84AF-2E82A14D26B5}"/>
              </a:ext>
            </a:extLst>
          </p:cNvPr>
          <p:cNvSpPr>
            <a:spLocks noGrp="1"/>
          </p:cNvSpPr>
          <p:nvPr/>
        </p:nvSpPr>
        <p:spPr>
          <a:xfrm>
            <a:off x="8324850" y="4171950"/>
            <a:ext cx="26860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Ưu tiên luồng tiền xuyên ngân hàng</a:t>
            </a:r>
          </a:p>
        </p:txBody>
      </p:sp>
      <p:sp>
        <p:nvSpPr>
          <p:cNvPr id="31" name="Oval 30">
            <a:extLst>
              <a:ext uri="{FF2B5EF4-FFF2-40B4-BE49-F238E27FC236}">
                <a16:creationId xmlns:a16="http://schemas.microsoft.com/office/drawing/2014/main" id="{1C1D3B5B-5FD3-4AD5-882C-0FD7769DB7C6}"/>
              </a:ext>
            </a:extLst>
          </p:cNvPr>
          <p:cNvSpPr>
            <a:spLocks noGrp="1"/>
          </p:cNvSpPr>
          <p:nvPr/>
        </p:nvSpPr>
        <p:spPr>
          <a:xfrm>
            <a:off x="8153400" y="4752975"/>
            <a:ext cx="85725" cy="85725"/>
          </a:xfrm>
          <a:prstGeom prst="ellipse">
            <a:avLst/>
          </a:prstGeom>
          <a:solidFill>
            <a:srgbClr val="0F766E"/>
          </a:solidFill>
          <a:ln w="0">
            <a:solidFill>
              <a:srgbClr val="0F766E"/>
            </a:solidFill>
            <a:prstDash val="solid"/>
          </a:ln>
        </p:spPr>
        <p:txBody>
          <a:bodyPr/>
          <a:lstStyle/>
          <a:p>
            <a:endParaRPr lang="en-US"/>
          </a:p>
        </p:txBody>
      </p:sp>
      <p:sp>
        <p:nvSpPr>
          <p:cNvPr id="32" name="Rectangle 31">
            <a:extLst>
              <a:ext uri="{FF2B5EF4-FFF2-40B4-BE49-F238E27FC236}">
                <a16:creationId xmlns:a16="http://schemas.microsoft.com/office/drawing/2014/main" id="{AA13C11D-55F1-40D7-A7EA-5700AACCE801}"/>
              </a:ext>
            </a:extLst>
          </p:cNvPr>
          <p:cNvSpPr>
            <a:spLocks noGrp="1"/>
          </p:cNvSpPr>
          <p:nvPr/>
        </p:nvSpPr>
        <p:spPr>
          <a:xfrm>
            <a:off x="8324850" y="4676775"/>
            <a:ext cx="26860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Theo dõi chuỗi nhiều hop thay vì từng giao dịch riêng lẻ</a:t>
            </a:r>
          </a:p>
        </p:txBody>
      </p:sp>
      <p:sp>
        <p:nvSpPr>
          <p:cNvPr id="33" name="Oval 32">
            <a:extLst>
              <a:ext uri="{FF2B5EF4-FFF2-40B4-BE49-F238E27FC236}">
                <a16:creationId xmlns:a16="http://schemas.microsoft.com/office/drawing/2014/main" id="{0BFAE65F-0EED-4251-8120-5DB3FC671D0E}"/>
              </a:ext>
            </a:extLst>
          </p:cNvPr>
          <p:cNvSpPr>
            <a:spLocks noGrp="1"/>
          </p:cNvSpPr>
          <p:nvPr/>
        </p:nvSpPr>
        <p:spPr>
          <a:xfrm>
            <a:off x="8153400" y="5381625"/>
            <a:ext cx="85725" cy="85725"/>
          </a:xfrm>
          <a:prstGeom prst="ellipse">
            <a:avLst/>
          </a:prstGeom>
          <a:solidFill>
            <a:srgbClr val="FF9900"/>
          </a:solidFill>
          <a:ln w="0">
            <a:solidFill>
              <a:srgbClr val="FF9900"/>
            </a:solidFill>
            <a:prstDash val="solid"/>
          </a:ln>
        </p:spPr>
        <p:txBody>
          <a:bodyPr/>
          <a:lstStyle/>
          <a:p>
            <a:endParaRPr lang="en-US"/>
          </a:p>
        </p:txBody>
      </p:sp>
      <p:sp>
        <p:nvSpPr>
          <p:cNvPr id="34" name="Rectangle 33">
            <a:extLst>
              <a:ext uri="{FF2B5EF4-FFF2-40B4-BE49-F238E27FC236}">
                <a16:creationId xmlns:a16="http://schemas.microsoft.com/office/drawing/2014/main" id="{28CFF605-EEF6-40B6-8109-8B49127C4E43}"/>
              </a:ext>
            </a:extLst>
          </p:cNvPr>
          <p:cNvSpPr>
            <a:spLocks noGrp="1"/>
          </p:cNvSpPr>
          <p:nvPr/>
        </p:nvSpPr>
        <p:spPr>
          <a:xfrm>
            <a:off x="8324850" y="5305425"/>
            <a:ext cx="26860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Tách participation khỏi distinct transaction</a:t>
            </a:r>
          </a:p>
        </p:txBody>
      </p:sp>
      <p:sp>
        <p:nvSpPr>
          <p:cNvPr id="36" name="Rectangle 35">
            <a:extLst>
              <a:ext uri="{FF2B5EF4-FFF2-40B4-BE49-F238E27FC236}">
                <a16:creationId xmlns:a16="http://schemas.microsoft.com/office/drawing/2014/main" id="{0A09A60F-5C35-4F83-9004-DFBF55C9C8CF}"/>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5/17</a:t>
            </a:r>
          </a:p>
        </p:txBody>
      </p:sp>
    </p:spTree>
    <p:extLst>
      <p:ext uri="{BB962C8B-B14F-4D97-AF65-F5344CB8AC3E}">
        <p14:creationId xmlns:p14="http://schemas.microsoft.com/office/powerpoint/2010/main" val="330357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A79A7CB-173F-4D59-821D-53FC4068E854}"/>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Insight chỉ đúng khi dữ liệu đủ và nhất quán</a:t>
            </a:r>
          </a:p>
        </p:txBody>
      </p:sp>
      <p:sp>
        <p:nvSpPr>
          <p:cNvPr id="2" name="Rectangle 1">
            <a:extLst>
              <a:ext uri="{FF2B5EF4-FFF2-40B4-BE49-F238E27FC236}">
                <a16:creationId xmlns:a16="http://schemas.microsoft.com/office/drawing/2014/main" id="{327DFFB9-AF4D-413D-AC18-EB8858A2C753}"/>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Một biểu đồ giảm mạnh chưa chắc phản ánh hành vi kinh doanh</a:t>
            </a:r>
          </a:p>
        </p:txBody>
      </p:sp>
      <p:sp>
        <p:nvSpPr>
          <p:cNvPr id="3" name="Rectangle 2">
            <a:extLst>
              <a:ext uri="{FF2B5EF4-FFF2-40B4-BE49-F238E27FC236}">
                <a16:creationId xmlns:a16="http://schemas.microsoft.com/office/drawing/2014/main" id="{3CD21CF0-BF6C-4AD5-8C98-8DBD0AAF9123}"/>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pic>
        <p:nvPicPr>
          <p:cNvPr id="25" name="Picture 24"/>
          <p:cNvPicPr>
            <a:picLocks noChangeAspect="1"/>
          </p:cNvPicPr>
          <p:nvPr/>
        </p:nvPicPr>
        <p:blipFill>
          <a:blip r:embed="rId3"/>
          <a:stretch/>
        </p:blipFill>
        <p:spPr>
          <a:xfrm>
            <a:off x="552450" y="1662642"/>
            <a:ext cx="7973426" cy="3366558"/>
          </a:xfrm>
          <a:prstGeom prst="roundRect">
            <a:avLst>
              <a:gd name="adj" fmla="val 3636"/>
            </a:avLst>
          </a:prstGeom>
        </p:spPr>
      </p:pic>
      <p:sp>
        <p:nvSpPr>
          <p:cNvPr id="6" name="Rounded Rectangle 5">
            <a:extLst>
              <a:ext uri="{FF2B5EF4-FFF2-40B4-BE49-F238E27FC236}">
                <a16:creationId xmlns:a16="http://schemas.microsoft.com/office/drawing/2014/main" id="{FB3CE485-8440-4362-9733-4E69A570D887}"/>
              </a:ext>
            </a:extLst>
          </p:cNvPr>
          <p:cNvSpPr>
            <a:spLocks noGrp="1"/>
          </p:cNvSpPr>
          <p:nvPr/>
        </p:nvSpPr>
        <p:spPr>
          <a:xfrm>
            <a:off x="8153400" y="1657350"/>
            <a:ext cx="3238500" cy="3124200"/>
          </a:xfrm>
          <a:prstGeom prst="roundRect">
            <a:avLst>
              <a:gd name="adj" fmla="val 3659"/>
            </a:avLst>
          </a:prstGeom>
          <a:solidFill>
            <a:srgbClr val="FFF3DD"/>
          </a:solidFill>
          <a:ln w="9525">
            <a:solidFill>
              <a:srgbClr val="F3C46B"/>
            </a:solidFill>
            <a:prstDash val="solid"/>
          </a:ln>
        </p:spPr>
        <p:txBody>
          <a:bodyPr/>
          <a:lstStyle/>
          <a:p>
            <a:endParaRPr lang="en-US"/>
          </a:p>
        </p:txBody>
      </p:sp>
      <p:sp>
        <p:nvSpPr>
          <p:cNvPr id="7" name="Rectangle 6">
            <a:extLst>
              <a:ext uri="{FF2B5EF4-FFF2-40B4-BE49-F238E27FC236}">
                <a16:creationId xmlns:a16="http://schemas.microsoft.com/office/drawing/2014/main" id="{86B54242-7D6F-44FC-B2FE-BE10B7ABCC02}"/>
              </a:ext>
            </a:extLst>
          </p:cNvPr>
          <p:cNvSpPr>
            <a:spLocks noGrp="1"/>
          </p:cNvSpPr>
          <p:nvPr/>
        </p:nvSpPr>
        <p:spPr>
          <a:xfrm>
            <a:off x="8439150" y="1971675"/>
            <a:ext cx="2686050" cy="285750"/>
          </a:xfrm>
          <a:prstGeom prst="rect">
            <a:avLst/>
          </a:prstGeom>
          <a:noFill/>
          <a:ln w="0">
            <a:noFill/>
            <a:prstDash val="solid"/>
          </a:ln>
        </p:spPr>
        <p:txBody>
          <a:bodyPr/>
          <a:lstStyle/>
          <a:p>
            <a:pPr algn="l">
              <a:buNone/>
              <a:defRPr sz="1275" b="1">
                <a:solidFill>
                  <a:srgbClr val="D97706"/>
                </a:solidFill>
              </a:defRPr>
            </a:pPr>
            <a:r>
              <a:rPr sz="1600" b="1">
                <a:solidFill>
                  <a:srgbClr val="D97706"/>
                </a:solidFill>
              </a:rPr>
              <a:t>Cảnh báo</a:t>
            </a:r>
          </a:p>
        </p:txBody>
      </p:sp>
      <p:sp>
        <p:nvSpPr>
          <p:cNvPr id="8" name="Rectangle 7">
            <a:extLst>
              <a:ext uri="{FF2B5EF4-FFF2-40B4-BE49-F238E27FC236}">
                <a16:creationId xmlns:a16="http://schemas.microsoft.com/office/drawing/2014/main" id="{32D637EA-D0E7-4EE4-89C9-9D0ABD5FA476}"/>
              </a:ext>
            </a:extLst>
          </p:cNvPr>
          <p:cNvSpPr>
            <a:spLocks noGrp="1"/>
          </p:cNvSpPr>
          <p:nvPr/>
        </p:nvSpPr>
        <p:spPr>
          <a:xfrm>
            <a:off x="8439150" y="2447925"/>
            <a:ext cx="2667000" cy="1333500"/>
          </a:xfrm>
          <a:prstGeom prst="rect">
            <a:avLst/>
          </a:prstGeom>
          <a:noFill/>
          <a:ln w="0">
            <a:noFill/>
            <a:prstDash val="solid"/>
          </a:ln>
        </p:spPr>
        <p:txBody>
          <a:bodyPr/>
          <a:lstStyle/>
          <a:p>
            <a:pPr algn="l">
              <a:buNone/>
              <a:defRPr sz="1425" b="1">
                <a:solidFill>
                  <a:srgbClr val="12315B"/>
                </a:solidFill>
              </a:defRPr>
            </a:pPr>
            <a:r>
              <a:rPr sz="1500" b="1">
                <a:solidFill>
                  <a:srgbClr val="12315B"/>
                </a:solidFill>
              </a:rPr>
              <a:t>Sau 16/09, volume giảm bất thường. Không được nói rủi ro đã giảm trước khi kiểm tra completeness, watermark và lịch nạp</a:t>
            </a:r>
          </a:p>
        </p:txBody>
      </p:sp>
      <p:sp>
        <p:nvSpPr>
          <p:cNvPr id="9" name="Rectangle 8">
            <a:extLst>
              <a:ext uri="{FF2B5EF4-FFF2-40B4-BE49-F238E27FC236}">
                <a16:creationId xmlns:a16="http://schemas.microsoft.com/office/drawing/2014/main" id="{B1A52A02-69CC-426B-89E3-165B6A81777C}"/>
              </a:ext>
            </a:extLst>
          </p:cNvPr>
          <p:cNvSpPr>
            <a:spLocks noGrp="1"/>
          </p:cNvSpPr>
          <p:nvPr/>
        </p:nvSpPr>
        <p:spPr>
          <a:xfrm>
            <a:off x="8439150" y="3876675"/>
            <a:ext cx="2647950" cy="838200"/>
          </a:xfrm>
          <a:prstGeom prst="rect">
            <a:avLst/>
          </a:prstGeom>
          <a:noFill/>
          <a:ln w="0">
            <a:noFill/>
            <a:prstDash val="solid"/>
          </a:ln>
        </p:spPr>
        <p:txBody>
          <a:bodyPr/>
          <a:lstStyle/>
          <a:p>
            <a:pPr algn="l">
              <a:buNone/>
              <a:defRPr sz="1200" b="0">
                <a:solidFill>
                  <a:srgbClr val="5C7291"/>
                </a:solidFill>
              </a:defRPr>
            </a:pPr>
            <a:r>
              <a:rPr sz="1400" b="0">
                <a:solidFill>
                  <a:srgbClr val="5C7291"/>
                </a:solidFill>
              </a:rPr>
              <a:t>→ Gắn cờ kỳ dữ liệu thiếu</a:t>
            </a:r>
          </a:p>
          <a:p>
            <a:pPr algn="l">
              <a:buNone/>
              <a:defRPr sz="1200" b="0">
                <a:solidFill>
                  <a:srgbClr val="5C7291"/>
                </a:solidFill>
              </a:defRPr>
            </a:pPr>
            <a:r>
              <a:rPr sz="1400" b="0">
                <a:solidFill>
                  <a:srgbClr val="5C7291"/>
                </a:solidFill>
              </a:rPr>
              <a:t>→ Đối soát số dòng nguồn</a:t>
            </a:r>
          </a:p>
          <a:p>
            <a:pPr algn="l">
              <a:buNone/>
              <a:defRPr sz="1200" b="0">
                <a:solidFill>
                  <a:srgbClr val="5C7291"/>
                </a:solidFill>
              </a:defRPr>
            </a:pPr>
            <a:r>
              <a:rPr sz="1400" b="0">
                <a:solidFill>
                  <a:srgbClr val="5C7291"/>
                </a:solidFill>
              </a:rPr>
              <a:t>→ Chỉ công bố sau kiểm tra</a:t>
            </a:r>
          </a:p>
        </p:txBody>
      </p:sp>
      <p:sp>
        <p:nvSpPr>
          <p:cNvPr id="10" name="Rectangle 9">
            <a:extLst>
              <a:ext uri="{FF2B5EF4-FFF2-40B4-BE49-F238E27FC236}">
                <a16:creationId xmlns:a16="http://schemas.microsoft.com/office/drawing/2014/main" id="{A7B3FD77-D599-4AEF-A6AE-535F4B87CDE1}"/>
              </a:ext>
            </a:extLst>
          </p:cNvPr>
          <p:cNvSpPr>
            <a:spLocks noGrp="1"/>
          </p:cNvSpPr>
          <p:nvPr/>
        </p:nvSpPr>
        <p:spPr>
          <a:xfrm>
            <a:off x="647700" y="5219700"/>
            <a:ext cx="4762500" cy="285750"/>
          </a:xfrm>
          <a:prstGeom prst="rect">
            <a:avLst/>
          </a:prstGeom>
          <a:noFill/>
          <a:ln w="0">
            <a:noFill/>
            <a:prstDash val="solid"/>
          </a:ln>
        </p:spPr>
        <p:txBody>
          <a:bodyPr/>
          <a:lstStyle/>
          <a:p>
            <a:pPr algn="l">
              <a:buNone/>
              <a:defRPr sz="1275" b="1">
                <a:solidFill>
                  <a:srgbClr val="12315B"/>
                </a:solidFill>
              </a:defRPr>
            </a:pPr>
            <a:r>
              <a:rPr sz="1400" b="1">
                <a:solidFill>
                  <a:srgbClr val="12315B"/>
                </a:solidFill>
              </a:rPr>
              <a:t>Hai nguyên tắc không được vi phạm</a:t>
            </a:r>
          </a:p>
        </p:txBody>
      </p:sp>
      <p:sp>
        <p:nvSpPr>
          <p:cNvPr id="11" name="Rounded Rectangle 10">
            <a:extLst>
              <a:ext uri="{FF2B5EF4-FFF2-40B4-BE49-F238E27FC236}">
                <a16:creationId xmlns:a16="http://schemas.microsoft.com/office/drawing/2014/main" id="{2ECBA78A-D7E8-48CB-92B1-5D76ABB65FC7}"/>
              </a:ext>
            </a:extLst>
          </p:cNvPr>
          <p:cNvSpPr>
            <a:spLocks noGrp="1"/>
          </p:cNvSpPr>
          <p:nvPr/>
        </p:nvSpPr>
        <p:spPr>
          <a:xfrm>
            <a:off x="647700" y="5648325"/>
            <a:ext cx="3238500" cy="323850"/>
          </a:xfrm>
          <a:prstGeom prst="roundRect">
            <a:avLst>
              <a:gd name="adj" fmla="val 35294"/>
            </a:avLst>
          </a:prstGeom>
          <a:solidFill>
            <a:srgbClr val="FBEAEC"/>
          </a:solidFill>
          <a:ln w="9525">
            <a:solidFill>
              <a:srgbClr val="FBEAEC"/>
            </a:solidFill>
            <a:prstDash val="solid"/>
          </a:ln>
        </p:spPr>
        <p:txBody>
          <a:bodyPr/>
          <a:lstStyle/>
          <a:p>
            <a:endParaRPr lang="en-US"/>
          </a:p>
        </p:txBody>
      </p:sp>
      <p:sp>
        <p:nvSpPr>
          <p:cNvPr id="12" name="Rectangle 11">
            <a:extLst>
              <a:ext uri="{FF2B5EF4-FFF2-40B4-BE49-F238E27FC236}">
                <a16:creationId xmlns:a16="http://schemas.microsoft.com/office/drawing/2014/main" id="{3733CD51-AAF6-4900-B5C6-C95CFCBCC108}"/>
              </a:ext>
            </a:extLst>
          </p:cNvPr>
          <p:cNvSpPr>
            <a:spLocks noGrp="1"/>
          </p:cNvSpPr>
          <p:nvPr/>
        </p:nvSpPr>
        <p:spPr>
          <a:xfrm>
            <a:off x="723900" y="5664274"/>
            <a:ext cx="3086100" cy="190500"/>
          </a:xfrm>
          <a:prstGeom prst="rect">
            <a:avLst/>
          </a:prstGeom>
          <a:noFill/>
          <a:ln w="0">
            <a:noFill/>
            <a:prstDash val="solid"/>
          </a:ln>
        </p:spPr>
        <p:txBody>
          <a:bodyPr/>
          <a:lstStyle/>
          <a:p>
            <a:pPr algn="ctr">
              <a:buNone/>
              <a:defRPr sz="1125" b="1">
                <a:solidFill>
                  <a:srgbClr val="C83E4D"/>
                </a:solidFill>
              </a:defRPr>
            </a:pPr>
            <a:r>
              <a:rPr sz="1400" b="1">
                <a:solidFill>
                  <a:srgbClr val="C83E4D"/>
                </a:solidFill>
              </a:rPr>
              <a:t>Không cộng amount khác currency</a:t>
            </a:r>
          </a:p>
        </p:txBody>
      </p:sp>
      <p:sp>
        <p:nvSpPr>
          <p:cNvPr id="13" name="Rounded Rectangle 12">
            <a:extLst>
              <a:ext uri="{FF2B5EF4-FFF2-40B4-BE49-F238E27FC236}">
                <a16:creationId xmlns:a16="http://schemas.microsoft.com/office/drawing/2014/main" id="{1969C269-68B9-4829-8EA5-D0E20F23F302}"/>
              </a:ext>
            </a:extLst>
          </p:cNvPr>
          <p:cNvSpPr>
            <a:spLocks noGrp="1"/>
          </p:cNvSpPr>
          <p:nvPr/>
        </p:nvSpPr>
        <p:spPr>
          <a:xfrm>
            <a:off x="4076700" y="5648325"/>
            <a:ext cx="32385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14" name="Rectangle 13">
            <a:extLst>
              <a:ext uri="{FF2B5EF4-FFF2-40B4-BE49-F238E27FC236}">
                <a16:creationId xmlns:a16="http://schemas.microsoft.com/office/drawing/2014/main" id="{CA203D45-75CE-4FB1-BE22-D4D475D2CB1E}"/>
              </a:ext>
            </a:extLst>
          </p:cNvPr>
          <p:cNvSpPr>
            <a:spLocks noGrp="1"/>
          </p:cNvSpPr>
          <p:nvPr/>
        </p:nvSpPr>
        <p:spPr>
          <a:xfrm>
            <a:off x="4152900" y="5664274"/>
            <a:ext cx="3086100" cy="190500"/>
          </a:xfrm>
          <a:prstGeom prst="rect">
            <a:avLst/>
          </a:prstGeom>
          <a:noFill/>
          <a:ln w="0">
            <a:noFill/>
            <a:prstDash val="solid"/>
          </a:ln>
        </p:spPr>
        <p:txBody>
          <a:bodyPr/>
          <a:lstStyle/>
          <a:p>
            <a:pPr algn="ctr">
              <a:buNone/>
              <a:defRPr sz="1125" b="1">
                <a:solidFill>
                  <a:srgbClr val="2563EB"/>
                </a:solidFill>
              </a:defRPr>
            </a:pPr>
            <a:r>
              <a:rPr sz="1400" b="1">
                <a:solidFill>
                  <a:srgbClr val="2563EB"/>
                </a:solidFill>
              </a:rPr>
              <a:t>Raw bất biến + lineage theo batch</a:t>
            </a:r>
          </a:p>
        </p:txBody>
      </p:sp>
      <p:sp>
        <p:nvSpPr>
          <p:cNvPr id="15" name="Rounded Rectangle 14">
            <a:extLst>
              <a:ext uri="{FF2B5EF4-FFF2-40B4-BE49-F238E27FC236}">
                <a16:creationId xmlns:a16="http://schemas.microsoft.com/office/drawing/2014/main" id="{4579C51B-213D-4B21-AAEC-E3C1D98B9359}"/>
              </a:ext>
            </a:extLst>
          </p:cNvPr>
          <p:cNvSpPr>
            <a:spLocks noGrp="1"/>
          </p:cNvSpPr>
          <p:nvPr/>
        </p:nvSpPr>
        <p:spPr>
          <a:xfrm>
            <a:off x="7505700" y="5648325"/>
            <a:ext cx="3857625"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16" name="Rectangle 15">
            <a:extLst>
              <a:ext uri="{FF2B5EF4-FFF2-40B4-BE49-F238E27FC236}">
                <a16:creationId xmlns:a16="http://schemas.microsoft.com/office/drawing/2014/main" id="{5AD8793D-00D2-4BCD-A5E0-1794B01AD4B4}"/>
              </a:ext>
            </a:extLst>
          </p:cNvPr>
          <p:cNvSpPr>
            <a:spLocks noGrp="1"/>
          </p:cNvSpPr>
          <p:nvPr/>
        </p:nvSpPr>
        <p:spPr>
          <a:xfrm>
            <a:off x="7581900" y="5664274"/>
            <a:ext cx="3705225" cy="190500"/>
          </a:xfrm>
          <a:prstGeom prst="rect">
            <a:avLst/>
          </a:prstGeom>
          <a:noFill/>
          <a:ln w="0">
            <a:noFill/>
            <a:prstDash val="solid"/>
          </a:ln>
        </p:spPr>
        <p:txBody>
          <a:bodyPr/>
          <a:lstStyle/>
          <a:p>
            <a:pPr algn="ctr">
              <a:buNone/>
              <a:defRPr sz="1125" b="1">
                <a:solidFill>
                  <a:srgbClr val="0F766E"/>
                </a:solidFill>
              </a:defRPr>
            </a:pPr>
            <a:r>
              <a:rPr sz="1400" b="1">
                <a:solidFill>
                  <a:srgbClr val="0F766E"/>
                </a:solidFill>
              </a:rPr>
              <a:t>Reject có lý do, không xóa âm thầm</a:t>
            </a:r>
          </a:p>
        </p:txBody>
      </p:sp>
      <p:sp>
        <p:nvSpPr>
          <p:cNvPr id="18" name="Rectangle 17">
            <a:extLst>
              <a:ext uri="{FF2B5EF4-FFF2-40B4-BE49-F238E27FC236}">
                <a16:creationId xmlns:a16="http://schemas.microsoft.com/office/drawing/2014/main" id="{FF92CB7F-2516-4649-BFC5-C44ADDF232A8}"/>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6/17</a:t>
            </a:r>
          </a:p>
        </p:txBody>
      </p:sp>
    </p:spTree>
    <p:extLst>
      <p:ext uri="{BB962C8B-B14F-4D97-AF65-F5344CB8AC3E}">
        <p14:creationId xmlns:p14="http://schemas.microsoft.com/office/powerpoint/2010/main" val="1442825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534D0C0-B96E-4FBB-98A9-16EE15868FF3}"/>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lang="vi-VN" sz="3600" b="1">
                <a:solidFill>
                  <a:srgbClr val="12315B"/>
                </a:solidFill>
              </a:rPr>
              <a:t>P</a:t>
            </a:r>
            <a:r>
              <a:rPr sz="3600" b="1">
                <a:solidFill>
                  <a:srgbClr val="12315B"/>
                </a:solidFill>
              </a:rPr>
              <a:t>ipeline </a:t>
            </a:r>
            <a:r>
              <a:rPr lang="vi-VN" sz="3600" b="1">
                <a:solidFill>
                  <a:srgbClr val="12315B"/>
                </a:solidFill>
              </a:rPr>
              <a:t>DWH </a:t>
            </a:r>
            <a:r>
              <a:rPr sz="3600" b="1">
                <a:solidFill>
                  <a:srgbClr val="12315B"/>
                </a:solidFill>
              </a:rPr>
              <a:t>local đến AWS</a:t>
            </a:r>
          </a:p>
        </p:txBody>
      </p:sp>
      <p:sp>
        <p:nvSpPr>
          <p:cNvPr id="2" name="Rectangle 1">
            <a:extLst>
              <a:ext uri="{FF2B5EF4-FFF2-40B4-BE49-F238E27FC236}">
                <a16:creationId xmlns:a16="http://schemas.microsoft.com/office/drawing/2014/main" id="{3FC12829-2633-463F-8555-1AB7651C3088}"/>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Giữ nguyên logic nghiệp vụ, thay đổi lớp hạ tầng và vận hành</a:t>
            </a:r>
          </a:p>
        </p:txBody>
      </p:sp>
      <p:sp>
        <p:nvSpPr>
          <p:cNvPr id="3" name="Rectangle 2">
            <a:extLst>
              <a:ext uri="{FF2B5EF4-FFF2-40B4-BE49-F238E27FC236}">
                <a16:creationId xmlns:a16="http://schemas.microsoft.com/office/drawing/2014/main" id="{96FBF169-F0B8-4722-A689-366DDCAD19B2}"/>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D03FCEF7-FE93-44CE-81B8-21174800D008}"/>
              </a:ext>
            </a:extLst>
          </p:cNvPr>
          <p:cNvSpPr>
            <a:spLocks noGrp="1"/>
          </p:cNvSpPr>
          <p:nvPr/>
        </p:nvSpPr>
        <p:spPr>
          <a:xfrm>
            <a:off x="609600" y="1714500"/>
            <a:ext cx="4686300" cy="3924300"/>
          </a:xfrm>
          <a:prstGeom prst="roundRect">
            <a:avLst>
              <a:gd name="adj" fmla="val 3883"/>
            </a:avLst>
          </a:prstGeom>
          <a:solidFill>
            <a:srgbClr val="FFFFFF"/>
          </a:solidFill>
          <a:ln w="9525">
            <a:solidFill>
              <a:srgbClr val="D7E0EA"/>
            </a:solidFill>
            <a:prstDash val="solid"/>
          </a:ln>
        </p:spPr>
        <p:txBody>
          <a:bodyPr/>
          <a:lstStyle/>
          <a:p>
            <a:endParaRPr lang="en-US"/>
          </a:p>
        </p:txBody>
      </p:sp>
      <p:sp>
        <p:nvSpPr>
          <p:cNvPr id="6" name="Rectangle 5">
            <a:extLst>
              <a:ext uri="{FF2B5EF4-FFF2-40B4-BE49-F238E27FC236}">
                <a16:creationId xmlns:a16="http://schemas.microsoft.com/office/drawing/2014/main" id="{66E91035-42AC-49BE-AC85-E8972FEF9BCB}"/>
              </a:ext>
            </a:extLst>
          </p:cNvPr>
          <p:cNvSpPr>
            <a:spLocks noGrp="1"/>
          </p:cNvSpPr>
          <p:nvPr/>
        </p:nvSpPr>
        <p:spPr>
          <a:xfrm>
            <a:off x="914399" y="2057400"/>
            <a:ext cx="4210493" cy="323850"/>
          </a:xfrm>
          <a:prstGeom prst="rect">
            <a:avLst/>
          </a:prstGeom>
          <a:noFill/>
          <a:ln w="0">
            <a:noFill/>
            <a:prstDash val="solid"/>
          </a:ln>
        </p:spPr>
        <p:txBody>
          <a:bodyPr/>
          <a:lstStyle/>
          <a:p>
            <a:pPr algn="l">
              <a:buNone/>
              <a:defRPr sz="2025" b="1">
                <a:solidFill>
                  <a:srgbClr val="16803D"/>
                </a:solidFill>
              </a:defRPr>
            </a:pPr>
            <a:r>
              <a:rPr sz="2025" b="1">
                <a:solidFill>
                  <a:srgbClr val="16803D"/>
                </a:solidFill>
              </a:rPr>
              <a:t>Hiện trạng</a:t>
            </a:r>
            <a:r>
              <a:rPr lang="vi-VN" sz="2025" b="1">
                <a:solidFill>
                  <a:srgbClr val="16803D"/>
                </a:solidFill>
              </a:rPr>
              <a:t> Data Warehouse</a:t>
            </a:r>
            <a:r>
              <a:rPr sz="2025" b="1">
                <a:solidFill>
                  <a:srgbClr val="16803D"/>
                </a:solidFill>
              </a:rPr>
              <a:t> đã chạy</a:t>
            </a:r>
          </a:p>
        </p:txBody>
      </p:sp>
      <p:sp>
        <p:nvSpPr>
          <p:cNvPr id="7" name="Rounded Rectangle 6">
            <a:extLst>
              <a:ext uri="{FF2B5EF4-FFF2-40B4-BE49-F238E27FC236}">
                <a16:creationId xmlns:a16="http://schemas.microsoft.com/office/drawing/2014/main" id="{880DD0FE-3874-4441-872C-248A374726B8}"/>
              </a:ext>
            </a:extLst>
          </p:cNvPr>
          <p:cNvSpPr>
            <a:spLocks noGrp="1"/>
          </p:cNvSpPr>
          <p:nvPr/>
        </p:nvSpPr>
        <p:spPr>
          <a:xfrm>
            <a:off x="914400" y="2571750"/>
            <a:ext cx="1714500" cy="323850"/>
          </a:xfrm>
          <a:prstGeom prst="roundRect">
            <a:avLst>
              <a:gd name="adj" fmla="val 35294"/>
            </a:avLst>
          </a:prstGeom>
          <a:solidFill>
            <a:srgbClr val="E7F6EC"/>
          </a:solidFill>
          <a:ln w="9525">
            <a:solidFill>
              <a:srgbClr val="E7F6EC"/>
            </a:solidFill>
            <a:prstDash val="solid"/>
          </a:ln>
        </p:spPr>
        <p:txBody>
          <a:bodyPr/>
          <a:lstStyle/>
          <a:p>
            <a:endParaRPr lang="en-US"/>
          </a:p>
        </p:txBody>
      </p:sp>
      <p:sp>
        <p:nvSpPr>
          <p:cNvPr id="8" name="Rectangle 7">
            <a:extLst>
              <a:ext uri="{FF2B5EF4-FFF2-40B4-BE49-F238E27FC236}">
                <a16:creationId xmlns:a16="http://schemas.microsoft.com/office/drawing/2014/main" id="{B2BE3F20-7C80-4FC1-AB93-CC24D3A4EBAB}"/>
              </a:ext>
            </a:extLst>
          </p:cNvPr>
          <p:cNvSpPr>
            <a:spLocks noGrp="1"/>
          </p:cNvSpPr>
          <p:nvPr/>
        </p:nvSpPr>
        <p:spPr>
          <a:xfrm>
            <a:off x="990600" y="2600325"/>
            <a:ext cx="1562100" cy="190500"/>
          </a:xfrm>
          <a:prstGeom prst="rect">
            <a:avLst/>
          </a:prstGeom>
          <a:noFill/>
          <a:ln w="0">
            <a:noFill/>
            <a:prstDash val="solid"/>
          </a:ln>
        </p:spPr>
        <p:txBody>
          <a:bodyPr/>
          <a:lstStyle/>
          <a:p>
            <a:pPr algn="ctr">
              <a:buNone/>
              <a:defRPr sz="1125" b="1">
                <a:solidFill>
                  <a:srgbClr val="16803D"/>
                </a:solidFill>
              </a:defRPr>
            </a:pPr>
            <a:r>
              <a:rPr sz="1400" b="1">
                <a:solidFill>
                  <a:srgbClr val="16803D"/>
                </a:solidFill>
              </a:rPr>
              <a:t>POSTGRESQL DW</a:t>
            </a:r>
          </a:p>
        </p:txBody>
      </p:sp>
      <p:sp>
        <p:nvSpPr>
          <p:cNvPr id="9" name="Rectangle 8">
            <a:extLst>
              <a:ext uri="{FF2B5EF4-FFF2-40B4-BE49-F238E27FC236}">
                <a16:creationId xmlns:a16="http://schemas.microsoft.com/office/drawing/2014/main" id="{709B7881-8894-45E9-8220-16B697888C6D}"/>
              </a:ext>
            </a:extLst>
          </p:cNvPr>
          <p:cNvSpPr>
            <a:spLocks noGrp="1"/>
          </p:cNvSpPr>
          <p:nvPr/>
        </p:nvSpPr>
        <p:spPr>
          <a:xfrm>
            <a:off x="914400" y="3067050"/>
            <a:ext cx="3810000" cy="285750"/>
          </a:xfrm>
          <a:prstGeom prst="rect">
            <a:avLst/>
          </a:prstGeom>
          <a:noFill/>
          <a:ln w="0">
            <a:noFill/>
            <a:prstDash val="solid"/>
          </a:ln>
        </p:spPr>
        <p:txBody>
          <a:bodyPr/>
          <a:lstStyle/>
          <a:p>
            <a:pPr algn="l">
              <a:buNone/>
              <a:defRPr sz="1275" b="1">
                <a:solidFill>
                  <a:srgbClr val="12315B"/>
                </a:solidFill>
              </a:defRPr>
            </a:pPr>
            <a:r>
              <a:rPr sz="1600" b="1">
                <a:solidFill>
                  <a:srgbClr val="12315B"/>
                </a:solidFill>
              </a:rPr>
              <a:t>raw → stg → dw → mart → pbi</a:t>
            </a:r>
          </a:p>
        </p:txBody>
      </p:sp>
      <p:sp>
        <p:nvSpPr>
          <p:cNvPr id="10" name="Oval 9">
            <a:extLst>
              <a:ext uri="{FF2B5EF4-FFF2-40B4-BE49-F238E27FC236}">
                <a16:creationId xmlns:a16="http://schemas.microsoft.com/office/drawing/2014/main" id="{C078469F-4F2B-44A9-A078-F37434DA704C}"/>
              </a:ext>
            </a:extLst>
          </p:cNvPr>
          <p:cNvSpPr>
            <a:spLocks noGrp="1"/>
          </p:cNvSpPr>
          <p:nvPr/>
        </p:nvSpPr>
        <p:spPr>
          <a:xfrm>
            <a:off x="914400" y="3676650"/>
            <a:ext cx="85725" cy="85725"/>
          </a:xfrm>
          <a:prstGeom prst="ellipse">
            <a:avLst/>
          </a:prstGeom>
          <a:solidFill>
            <a:srgbClr val="16803D"/>
          </a:solidFill>
          <a:ln w="0">
            <a:solidFill>
              <a:srgbClr val="16803D"/>
            </a:solidFill>
            <a:prstDash val="solid"/>
          </a:ln>
        </p:spPr>
        <p:txBody>
          <a:bodyPr/>
          <a:lstStyle/>
          <a:p>
            <a:endParaRPr lang="en-US"/>
          </a:p>
        </p:txBody>
      </p:sp>
      <p:sp>
        <p:nvSpPr>
          <p:cNvPr id="11" name="Rectangle 10">
            <a:extLst>
              <a:ext uri="{FF2B5EF4-FFF2-40B4-BE49-F238E27FC236}">
                <a16:creationId xmlns:a16="http://schemas.microsoft.com/office/drawing/2014/main" id="{B278CD63-A600-4A40-BC51-67D478BB3D43}"/>
              </a:ext>
            </a:extLst>
          </p:cNvPr>
          <p:cNvSpPr>
            <a:spLocks noGrp="1"/>
          </p:cNvSpPr>
          <p:nvPr/>
        </p:nvSpPr>
        <p:spPr>
          <a:xfrm>
            <a:off x="1085850" y="3600450"/>
            <a:ext cx="36385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Fact/Dimension và SCD Type 2</a:t>
            </a:r>
          </a:p>
        </p:txBody>
      </p:sp>
      <p:sp>
        <p:nvSpPr>
          <p:cNvPr id="12" name="Oval 11">
            <a:extLst>
              <a:ext uri="{FF2B5EF4-FFF2-40B4-BE49-F238E27FC236}">
                <a16:creationId xmlns:a16="http://schemas.microsoft.com/office/drawing/2014/main" id="{9FBF5985-B8DB-44BA-B384-A6C78DA2AC74}"/>
              </a:ext>
            </a:extLst>
          </p:cNvPr>
          <p:cNvSpPr>
            <a:spLocks noGrp="1"/>
          </p:cNvSpPr>
          <p:nvPr/>
        </p:nvSpPr>
        <p:spPr>
          <a:xfrm>
            <a:off x="914400" y="4171950"/>
            <a:ext cx="85725" cy="85725"/>
          </a:xfrm>
          <a:prstGeom prst="ellipse">
            <a:avLst/>
          </a:prstGeom>
          <a:solidFill>
            <a:srgbClr val="16803D"/>
          </a:solidFill>
          <a:ln w="0">
            <a:solidFill>
              <a:srgbClr val="16803D"/>
            </a:solidFill>
            <a:prstDash val="solid"/>
          </a:ln>
        </p:spPr>
        <p:txBody>
          <a:bodyPr/>
          <a:lstStyle/>
          <a:p>
            <a:endParaRPr lang="en-US"/>
          </a:p>
        </p:txBody>
      </p:sp>
      <p:sp>
        <p:nvSpPr>
          <p:cNvPr id="13" name="Rectangle 12">
            <a:extLst>
              <a:ext uri="{FF2B5EF4-FFF2-40B4-BE49-F238E27FC236}">
                <a16:creationId xmlns:a16="http://schemas.microsoft.com/office/drawing/2014/main" id="{F91C9E9F-1FA2-4B04-A6F0-56C14BCA58EE}"/>
              </a:ext>
            </a:extLst>
          </p:cNvPr>
          <p:cNvSpPr>
            <a:spLocks noGrp="1"/>
          </p:cNvSpPr>
          <p:nvPr/>
        </p:nvSpPr>
        <p:spPr>
          <a:xfrm>
            <a:off x="1085850" y="4095750"/>
            <a:ext cx="36385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Full + incremental ETL, reconciliation</a:t>
            </a:r>
          </a:p>
        </p:txBody>
      </p:sp>
      <p:sp>
        <p:nvSpPr>
          <p:cNvPr id="14" name="Oval 13">
            <a:extLst>
              <a:ext uri="{FF2B5EF4-FFF2-40B4-BE49-F238E27FC236}">
                <a16:creationId xmlns:a16="http://schemas.microsoft.com/office/drawing/2014/main" id="{F773C18B-F830-4D2D-9745-2FC8C503E54E}"/>
              </a:ext>
            </a:extLst>
          </p:cNvPr>
          <p:cNvSpPr>
            <a:spLocks noGrp="1"/>
          </p:cNvSpPr>
          <p:nvPr/>
        </p:nvSpPr>
        <p:spPr>
          <a:xfrm>
            <a:off x="914400" y="4667250"/>
            <a:ext cx="85725" cy="85725"/>
          </a:xfrm>
          <a:prstGeom prst="ellipse">
            <a:avLst/>
          </a:prstGeom>
          <a:solidFill>
            <a:srgbClr val="16803D"/>
          </a:solidFill>
          <a:ln w="0">
            <a:solidFill>
              <a:srgbClr val="16803D"/>
            </a:solidFill>
            <a:prstDash val="solid"/>
          </a:ln>
        </p:spPr>
        <p:txBody>
          <a:bodyPr/>
          <a:lstStyle/>
          <a:p>
            <a:endParaRPr lang="en-US"/>
          </a:p>
        </p:txBody>
      </p:sp>
      <p:sp>
        <p:nvSpPr>
          <p:cNvPr id="15" name="Rectangle 14">
            <a:extLst>
              <a:ext uri="{FF2B5EF4-FFF2-40B4-BE49-F238E27FC236}">
                <a16:creationId xmlns:a16="http://schemas.microsoft.com/office/drawing/2014/main" id="{AD7274F5-D36A-4826-83A9-C5CEEA267CBD}"/>
              </a:ext>
            </a:extLst>
          </p:cNvPr>
          <p:cNvSpPr>
            <a:spLocks noGrp="1"/>
          </p:cNvSpPr>
          <p:nvPr/>
        </p:nvSpPr>
        <p:spPr>
          <a:xfrm>
            <a:off x="1085850" y="4591050"/>
            <a:ext cx="36385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Power BI Service và dashboard 4K</a:t>
            </a:r>
          </a:p>
        </p:txBody>
      </p:sp>
      <p:sp>
        <p:nvSpPr>
          <p:cNvPr id="16" name="Rectangle 15">
            <a:extLst>
              <a:ext uri="{FF2B5EF4-FFF2-40B4-BE49-F238E27FC236}">
                <a16:creationId xmlns:a16="http://schemas.microsoft.com/office/drawing/2014/main" id="{8B1C8F54-EE01-4743-8A34-97860DFA07B8}"/>
              </a:ext>
            </a:extLst>
          </p:cNvPr>
          <p:cNvSpPr>
            <a:spLocks noGrp="1"/>
          </p:cNvSpPr>
          <p:nvPr/>
        </p:nvSpPr>
        <p:spPr>
          <a:xfrm>
            <a:off x="914400" y="5181600"/>
            <a:ext cx="3924300" cy="323850"/>
          </a:xfrm>
          <a:prstGeom prst="rect">
            <a:avLst/>
          </a:prstGeom>
          <a:noFill/>
          <a:ln w="0">
            <a:noFill/>
            <a:prstDash val="solid"/>
          </a:ln>
        </p:spPr>
        <p:txBody>
          <a:bodyPr/>
          <a:lstStyle/>
          <a:p>
            <a:pPr algn="l">
              <a:buNone/>
              <a:defRPr sz="1275" b="0">
                <a:solidFill>
                  <a:srgbClr val="5C7291"/>
                </a:solidFill>
              </a:defRPr>
            </a:pPr>
            <a:r>
              <a:rPr lang="vi-VN" sz="1275" b="0">
                <a:solidFill>
                  <a:srgbClr val="5C7291"/>
                </a:solidFill>
              </a:rPr>
              <a:t>Kết quả: </a:t>
            </a:r>
            <a:r>
              <a:rPr sz="1275" b="0">
                <a:solidFill>
                  <a:srgbClr val="5C7291"/>
                </a:solidFill>
              </a:rPr>
              <a:t>SQL, report, data profile và dashboard</a:t>
            </a:r>
          </a:p>
        </p:txBody>
      </p:sp>
      <p:sp>
        <p:nvSpPr>
          <p:cNvPr id="17" name="Right Arrow 16">
            <a:extLst>
              <a:ext uri="{FF2B5EF4-FFF2-40B4-BE49-F238E27FC236}">
                <a16:creationId xmlns:a16="http://schemas.microsoft.com/office/drawing/2014/main" id="{122CC1A8-D103-49DC-9CAB-F59C578D2A74}"/>
              </a:ext>
            </a:extLst>
          </p:cNvPr>
          <p:cNvSpPr>
            <a:spLocks noGrp="1"/>
          </p:cNvSpPr>
          <p:nvPr/>
        </p:nvSpPr>
        <p:spPr>
          <a:xfrm>
            <a:off x="5514975" y="3143250"/>
            <a:ext cx="990600" cy="704850"/>
          </a:xfrm>
          <a:prstGeom prst="rightArrow">
            <a:avLst/>
          </a:prstGeom>
          <a:solidFill>
            <a:srgbClr val="FF9900"/>
          </a:solidFill>
          <a:ln w="0">
            <a:solidFill>
              <a:srgbClr val="FF9900"/>
            </a:solidFill>
            <a:prstDash val="solid"/>
          </a:ln>
        </p:spPr>
        <p:txBody>
          <a:bodyPr/>
          <a:lstStyle/>
          <a:p>
            <a:endParaRPr lang="en-US"/>
          </a:p>
        </p:txBody>
      </p:sp>
      <p:sp>
        <p:nvSpPr>
          <p:cNvPr id="18" name="Rounded Rectangle 17">
            <a:extLst>
              <a:ext uri="{FF2B5EF4-FFF2-40B4-BE49-F238E27FC236}">
                <a16:creationId xmlns:a16="http://schemas.microsoft.com/office/drawing/2014/main" id="{3FF0BDEF-A610-44EE-9FD4-CA85D7F3DD63}"/>
              </a:ext>
            </a:extLst>
          </p:cNvPr>
          <p:cNvSpPr>
            <a:spLocks noGrp="1"/>
          </p:cNvSpPr>
          <p:nvPr/>
        </p:nvSpPr>
        <p:spPr>
          <a:xfrm>
            <a:off x="6743700" y="1714500"/>
            <a:ext cx="4838700" cy="3924300"/>
          </a:xfrm>
          <a:prstGeom prst="roundRect">
            <a:avLst>
              <a:gd name="adj" fmla="val 3883"/>
            </a:avLst>
          </a:prstGeom>
          <a:solidFill>
            <a:srgbClr val="EAF4FF"/>
          </a:solidFill>
          <a:ln w="14288">
            <a:solidFill>
              <a:srgbClr val="BFD2E8"/>
            </a:solidFill>
            <a:prstDash val="solid"/>
          </a:ln>
        </p:spPr>
        <p:txBody>
          <a:bodyPr/>
          <a:lstStyle/>
          <a:p>
            <a:endParaRPr lang="en-US"/>
          </a:p>
        </p:txBody>
      </p:sp>
      <p:sp>
        <p:nvSpPr>
          <p:cNvPr id="19" name="Rectangle 18">
            <a:extLst>
              <a:ext uri="{FF2B5EF4-FFF2-40B4-BE49-F238E27FC236}">
                <a16:creationId xmlns:a16="http://schemas.microsoft.com/office/drawing/2014/main" id="{EB6B70C2-29EE-43C5-AC5B-6FE7901DAD4A}"/>
              </a:ext>
            </a:extLst>
          </p:cNvPr>
          <p:cNvSpPr>
            <a:spLocks noGrp="1"/>
          </p:cNvSpPr>
          <p:nvPr/>
        </p:nvSpPr>
        <p:spPr>
          <a:xfrm>
            <a:off x="7067550" y="2057400"/>
            <a:ext cx="4095750" cy="323850"/>
          </a:xfrm>
          <a:prstGeom prst="rect">
            <a:avLst/>
          </a:prstGeom>
          <a:noFill/>
          <a:ln w="0">
            <a:noFill/>
            <a:prstDash val="solid"/>
          </a:ln>
        </p:spPr>
        <p:txBody>
          <a:bodyPr/>
          <a:lstStyle/>
          <a:p>
            <a:pPr algn="l">
              <a:buNone/>
              <a:defRPr sz="2025" b="1">
                <a:solidFill>
                  <a:srgbClr val="FF9900"/>
                </a:solidFill>
              </a:defRPr>
            </a:pPr>
            <a:r>
              <a:rPr sz="2025" b="1">
                <a:solidFill>
                  <a:srgbClr val="FF9900"/>
                </a:solidFill>
              </a:rPr>
              <a:t>Kiến trúc AWS</a:t>
            </a:r>
          </a:p>
        </p:txBody>
      </p:sp>
      <p:sp>
        <p:nvSpPr>
          <p:cNvPr id="20" name="Rounded Rectangle 19">
            <a:extLst>
              <a:ext uri="{FF2B5EF4-FFF2-40B4-BE49-F238E27FC236}">
                <a16:creationId xmlns:a16="http://schemas.microsoft.com/office/drawing/2014/main" id="{9C4D685A-479D-446D-A420-5913260266F7}"/>
              </a:ext>
            </a:extLst>
          </p:cNvPr>
          <p:cNvSpPr>
            <a:spLocks noGrp="1"/>
          </p:cNvSpPr>
          <p:nvPr/>
        </p:nvSpPr>
        <p:spPr>
          <a:xfrm>
            <a:off x="7067550" y="2571750"/>
            <a:ext cx="2152650" cy="323850"/>
          </a:xfrm>
          <a:prstGeom prst="roundRect">
            <a:avLst>
              <a:gd name="adj" fmla="val 35294"/>
            </a:avLst>
          </a:prstGeom>
          <a:solidFill>
            <a:srgbClr val="FFF3DD"/>
          </a:solidFill>
          <a:ln w="9525">
            <a:solidFill>
              <a:srgbClr val="FFF3DD"/>
            </a:solidFill>
            <a:prstDash val="solid"/>
          </a:ln>
        </p:spPr>
        <p:txBody>
          <a:bodyPr/>
          <a:lstStyle/>
          <a:p>
            <a:endParaRPr lang="en-US"/>
          </a:p>
        </p:txBody>
      </p:sp>
      <p:sp>
        <p:nvSpPr>
          <p:cNvPr id="21" name="Rectangle 20">
            <a:extLst>
              <a:ext uri="{FF2B5EF4-FFF2-40B4-BE49-F238E27FC236}">
                <a16:creationId xmlns:a16="http://schemas.microsoft.com/office/drawing/2014/main" id="{0F3D5915-F12E-49CF-8359-694C3BAADF66}"/>
              </a:ext>
            </a:extLst>
          </p:cNvPr>
          <p:cNvSpPr>
            <a:spLocks noGrp="1"/>
          </p:cNvSpPr>
          <p:nvPr/>
        </p:nvSpPr>
        <p:spPr>
          <a:xfrm>
            <a:off x="7143750" y="2609850"/>
            <a:ext cx="2000250" cy="190500"/>
          </a:xfrm>
          <a:prstGeom prst="rect">
            <a:avLst/>
          </a:prstGeom>
          <a:noFill/>
          <a:ln w="0">
            <a:noFill/>
            <a:prstDash val="solid"/>
          </a:ln>
        </p:spPr>
        <p:txBody>
          <a:bodyPr/>
          <a:lstStyle/>
          <a:p>
            <a:pPr algn="ctr">
              <a:buNone/>
              <a:defRPr sz="1125" b="1">
                <a:solidFill>
                  <a:srgbClr val="D97706"/>
                </a:solidFill>
              </a:defRPr>
            </a:pPr>
            <a:r>
              <a:rPr sz="1400" b="1">
                <a:solidFill>
                  <a:srgbClr val="D97706"/>
                </a:solidFill>
              </a:rPr>
              <a:t>SERVERLESS DATA LAKE</a:t>
            </a:r>
          </a:p>
        </p:txBody>
      </p:sp>
      <p:sp>
        <p:nvSpPr>
          <p:cNvPr id="22" name="Rectangle 21">
            <a:extLst>
              <a:ext uri="{FF2B5EF4-FFF2-40B4-BE49-F238E27FC236}">
                <a16:creationId xmlns:a16="http://schemas.microsoft.com/office/drawing/2014/main" id="{6E1B03C5-E22B-40F3-B642-DBB99DF39EE2}"/>
              </a:ext>
            </a:extLst>
          </p:cNvPr>
          <p:cNvSpPr>
            <a:spLocks noGrp="1"/>
          </p:cNvSpPr>
          <p:nvPr/>
        </p:nvSpPr>
        <p:spPr>
          <a:xfrm>
            <a:off x="7067550" y="3067050"/>
            <a:ext cx="4095750" cy="285750"/>
          </a:xfrm>
          <a:prstGeom prst="rect">
            <a:avLst/>
          </a:prstGeom>
          <a:noFill/>
          <a:ln w="0">
            <a:noFill/>
            <a:prstDash val="solid"/>
          </a:ln>
        </p:spPr>
        <p:txBody>
          <a:bodyPr/>
          <a:lstStyle/>
          <a:p>
            <a:pPr algn="l">
              <a:buNone/>
              <a:defRPr sz="1275" b="1">
                <a:solidFill>
                  <a:srgbClr val="12315B"/>
                </a:solidFill>
              </a:defRPr>
            </a:pPr>
            <a:r>
              <a:rPr sz="1600" b="1">
                <a:solidFill>
                  <a:srgbClr val="12315B"/>
                </a:solidFill>
              </a:rPr>
              <a:t>S3 → Glue → Parquet → Athena → BI</a:t>
            </a:r>
          </a:p>
        </p:txBody>
      </p:sp>
      <p:sp>
        <p:nvSpPr>
          <p:cNvPr id="23" name="Oval 22">
            <a:extLst>
              <a:ext uri="{FF2B5EF4-FFF2-40B4-BE49-F238E27FC236}">
                <a16:creationId xmlns:a16="http://schemas.microsoft.com/office/drawing/2014/main" id="{9A7002CA-F182-443F-83A5-8AE9C3FE0110}"/>
              </a:ext>
            </a:extLst>
          </p:cNvPr>
          <p:cNvSpPr>
            <a:spLocks noGrp="1"/>
          </p:cNvSpPr>
          <p:nvPr/>
        </p:nvSpPr>
        <p:spPr>
          <a:xfrm>
            <a:off x="7067550" y="3676650"/>
            <a:ext cx="85725" cy="85725"/>
          </a:xfrm>
          <a:prstGeom prst="ellipse">
            <a:avLst/>
          </a:prstGeom>
          <a:solidFill>
            <a:srgbClr val="FF9900"/>
          </a:solidFill>
          <a:ln w="0">
            <a:solidFill>
              <a:srgbClr val="FF9900"/>
            </a:solidFill>
            <a:prstDash val="solid"/>
          </a:ln>
        </p:spPr>
        <p:txBody>
          <a:bodyPr/>
          <a:lstStyle/>
          <a:p>
            <a:endParaRPr lang="en-US"/>
          </a:p>
        </p:txBody>
      </p:sp>
      <p:sp>
        <p:nvSpPr>
          <p:cNvPr id="24" name="Rectangle 23">
            <a:extLst>
              <a:ext uri="{FF2B5EF4-FFF2-40B4-BE49-F238E27FC236}">
                <a16:creationId xmlns:a16="http://schemas.microsoft.com/office/drawing/2014/main" id="{0C8C5BC3-4033-457B-BD96-F0943B44A7F1}"/>
              </a:ext>
            </a:extLst>
          </p:cNvPr>
          <p:cNvSpPr>
            <a:spLocks noGrp="1"/>
          </p:cNvSpPr>
          <p:nvPr/>
        </p:nvSpPr>
        <p:spPr>
          <a:xfrm>
            <a:off x="7239000" y="3600450"/>
            <a:ext cx="38290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Tách storage khỏi compute</a:t>
            </a:r>
          </a:p>
        </p:txBody>
      </p:sp>
      <p:sp>
        <p:nvSpPr>
          <p:cNvPr id="25" name="Oval 24">
            <a:extLst>
              <a:ext uri="{FF2B5EF4-FFF2-40B4-BE49-F238E27FC236}">
                <a16:creationId xmlns:a16="http://schemas.microsoft.com/office/drawing/2014/main" id="{C035BF43-8B7A-432B-BFC1-5FB504685373}"/>
              </a:ext>
            </a:extLst>
          </p:cNvPr>
          <p:cNvSpPr>
            <a:spLocks noGrp="1"/>
          </p:cNvSpPr>
          <p:nvPr/>
        </p:nvSpPr>
        <p:spPr>
          <a:xfrm>
            <a:off x="7067550" y="4171950"/>
            <a:ext cx="85725" cy="85725"/>
          </a:xfrm>
          <a:prstGeom prst="ellipse">
            <a:avLst/>
          </a:prstGeom>
          <a:solidFill>
            <a:srgbClr val="14B8A6"/>
          </a:solidFill>
          <a:ln w="0">
            <a:solidFill>
              <a:srgbClr val="14B8A6"/>
            </a:solidFill>
            <a:prstDash val="solid"/>
          </a:ln>
        </p:spPr>
        <p:txBody>
          <a:bodyPr/>
          <a:lstStyle/>
          <a:p>
            <a:endParaRPr lang="en-US"/>
          </a:p>
        </p:txBody>
      </p:sp>
      <p:sp>
        <p:nvSpPr>
          <p:cNvPr id="26" name="Rectangle 25">
            <a:extLst>
              <a:ext uri="{FF2B5EF4-FFF2-40B4-BE49-F238E27FC236}">
                <a16:creationId xmlns:a16="http://schemas.microsoft.com/office/drawing/2014/main" id="{970012B5-4AF2-4934-A5B2-0A672932ABA6}"/>
              </a:ext>
            </a:extLst>
          </p:cNvPr>
          <p:cNvSpPr>
            <a:spLocks noGrp="1"/>
          </p:cNvSpPr>
          <p:nvPr/>
        </p:nvSpPr>
        <p:spPr>
          <a:xfrm>
            <a:off x="7239000" y="4095750"/>
            <a:ext cx="38290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Catalog tập trung và Visual ETL</a:t>
            </a:r>
          </a:p>
        </p:txBody>
      </p:sp>
      <p:sp>
        <p:nvSpPr>
          <p:cNvPr id="27" name="Oval 26">
            <a:extLst>
              <a:ext uri="{FF2B5EF4-FFF2-40B4-BE49-F238E27FC236}">
                <a16:creationId xmlns:a16="http://schemas.microsoft.com/office/drawing/2014/main" id="{6D0F35BA-2EF1-4939-9ABC-FB5F64B44793}"/>
              </a:ext>
            </a:extLst>
          </p:cNvPr>
          <p:cNvSpPr>
            <a:spLocks noGrp="1"/>
          </p:cNvSpPr>
          <p:nvPr/>
        </p:nvSpPr>
        <p:spPr>
          <a:xfrm>
            <a:off x="7067550" y="4667250"/>
            <a:ext cx="85725" cy="85725"/>
          </a:xfrm>
          <a:prstGeom prst="ellipse">
            <a:avLst/>
          </a:prstGeom>
          <a:solidFill>
            <a:srgbClr val="2563EB"/>
          </a:solidFill>
          <a:ln w="0">
            <a:solidFill>
              <a:srgbClr val="2563EB"/>
            </a:solidFill>
            <a:prstDash val="solid"/>
          </a:ln>
        </p:spPr>
        <p:txBody>
          <a:bodyPr/>
          <a:lstStyle/>
          <a:p>
            <a:endParaRPr lang="en-US"/>
          </a:p>
        </p:txBody>
      </p:sp>
      <p:sp>
        <p:nvSpPr>
          <p:cNvPr id="28" name="Rectangle 27">
            <a:extLst>
              <a:ext uri="{FF2B5EF4-FFF2-40B4-BE49-F238E27FC236}">
                <a16:creationId xmlns:a16="http://schemas.microsoft.com/office/drawing/2014/main" id="{98B8342B-FAEC-430F-9F19-08EDE5641C35}"/>
              </a:ext>
            </a:extLst>
          </p:cNvPr>
          <p:cNvSpPr>
            <a:spLocks noGrp="1"/>
          </p:cNvSpPr>
          <p:nvPr/>
        </p:nvSpPr>
        <p:spPr>
          <a:xfrm>
            <a:off x="7239000" y="4591050"/>
            <a:ext cx="38290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Query on demand, không duy trì server</a:t>
            </a:r>
          </a:p>
        </p:txBody>
      </p:sp>
      <p:sp>
        <p:nvSpPr>
          <p:cNvPr id="31" name="Rectangle 30">
            <a:extLst>
              <a:ext uri="{FF2B5EF4-FFF2-40B4-BE49-F238E27FC236}">
                <a16:creationId xmlns:a16="http://schemas.microsoft.com/office/drawing/2014/main" id="{DF07A59D-02D2-4EA9-8038-81F8A96FA997}"/>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7/17</a:t>
            </a:r>
          </a:p>
        </p:txBody>
      </p:sp>
    </p:spTree>
    <p:extLst>
      <p:ext uri="{BB962C8B-B14F-4D97-AF65-F5344CB8AC3E}">
        <p14:creationId xmlns:p14="http://schemas.microsoft.com/office/powerpoint/2010/main" val="1795070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A78467E5-159C-46CD-A0F4-C2009FC0A00E}"/>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AWS basic: S3 → Glue → Athena → BI</a:t>
            </a:r>
          </a:p>
        </p:txBody>
      </p:sp>
      <p:sp>
        <p:nvSpPr>
          <p:cNvPr id="3" name="Rectangle 2">
            <a:extLst>
              <a:ext uri="{FF2B5EF4-FFF2-40B4-BE49-F238E27FC236}">
                <a16:creationId xmlns:a16="http://schemas.microsoft.com/office/drawing/2014/main" id="{D8BB344B-3D9B-404D-9467-8430C5E0B2F2}"/>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ight Arrow 4">
            <a:extLst>
              <a:ext uri="{FF2B5EF4-FFF2-40B4-BE49-F238E27FC236}">
                <a16:creationId xmlns:a16="http://schemas.microsoft.com/office/drawing/2014/main" id="{D814D877-F4CD-41C0-8D61-F6EB12E135F1}"/>
              </a:ext>
            </a:extLst>
          </p:cNvPr>
          <p:cNvSpPr>
            <a:spLocks noGrp="1"/>
          </p:cNvSpPr>
          <p:nvPr/>
        </p:nvSpPr>
        <p:spPr>
          <a:xfrm>
            <a:off x="1971675" y="2943225"/>
            <a:ext cx="628650" cy="457200"/>
          </a:xfrm>
          <a:prstGeom prst="rightArrow">
            <a:avLst/>
          </a:prstGeom>
          <a:solidFill>
            <a:srgbClr val="B9C8DA"/>
          </a:solidFill>
          <a:ln w="0">
            <a:solidFill>
              <a:srgbClr val="B9C8DA"/>
            </a:solidFill>
            <a:prstDash val="solid"/>
          </a:ln>
        </p:spPr>
        <p:txBody>
          <a:bodyPr/>
          <a:lstStyle/>
          <a:p>
            <a:endParaRPr lang="en-US"/>
          </a:p>
        </p:txBody>
      </p:sp>
      <p:sp>
        <p:nvSpPr>
          <p:cNvPr id="6" name="Right Arrow 5">
            <a:extLst>
              <a:ext uri="{FF2B5EF4-FFF2-40B4-BE49-F238E27FC236}">
                <a16:creationId xmlns:a16="http://schemas.microsoft.com/office/drawing/2014/main" id="{7B28C43E-EFDD-4C22-89B2-7149F69FF3EB}"/>
              </a:ext>
            </a:extLst>
          </p:cNvPr>
          <p:cNvSpPr>
            <a:spLocks noGrp="1"/>
          </p:cNvSpPr>
          <p:nvPr/>
        </p:nvSpPr>
        <p:spPr>
          <a:xfrm>
            <a:off x="3819525" y="2943225"/>
            <a:ext cx="628650" cy="457200"/>
          </a:xfrm>
          <a:prstGeom prst="rightArrow">
            <a:avLst/>
          </a:prstGeom>
          <a:solidFill>
            <a:srgbClr val="B9C8DA"/>
          </a:solidFill>
          <a:ln w="0">
            <a:solidFill>
              <a:srgbClr val="B9C8DA"/>
            </a:solidFill>
            <a:prstDash val="solid"/>
          </a:ln>
        </p:spPr>
        <p:txBody>
          <a:bodyPr/>
          <a:lstStyle/>
          <a:p>
            <a:endParaRPr lang="en-US"/>
          </a:p>
        </p:txBody>
      </p:sp>
      <p:sp>
        <p:nvSpPr>
          <p:cNvPr id="7" name="Right Arrow 6">
            <a:extLst>
              <a:ext uri="{FF2B5EF4-FFF2-40B4-BE49-F238E27FC236}">
                <a16:creationId xmlns:a16="http://schemas.microsoft.com/office/drawing/2014/main" id="{C3AA1B8D-958B-4285-A295-BF72FC6C7A85}"/>
              </a:ext>
            </a:extLst>
          </p:cNvPr>
          <p:cNvSpPr>
            <a:spLocks noGrp="1"/>
          </p:cNvSpPr>
          <p:nvPr/>
        </p:nvSpPr>
        <p:spPr>
          <a:xfrm>
            <a:off x="5667375" y="2943225"/>
            <a:ext cx="628650" cy="457200"/>
          </a:xfrm>
          <a:prstGeom prst="rightArrow">
            <a:avLst/>
          </a:prstGeom>
          <a:solidFill>
            <a:srgbClr val="B9C8DA"/>
          </a:solidFill>
          <a:ln w="0">
            <a:solidFill>
              <a:srgbClr val="B9C8DA"/>
            </a:solidFill>
            <a:prstDash val="solid"/>
          </a:ln>
        </p:spPr>
        <p:txBody>
          <a:bodyPr/>
          <a:lstStyle/>
          <a:p>
            <a:endParaRPr lang="en-US"/>
          </a:p>
        </p:txBody>
      </p:sp>
      <p:sp>
        <p:nvSpPr>
          <p:cNvPr id="8" name="Right Arrow 7">
            <a:extLst>
              <a:ext uri="{FF2B5EF4-FFF2-40B4-BE49-F238E27FC236}">
                <a16:creationId xmlns:a16="http://schemas.microsoft.com/office/drawing/2014/main" id="{6599B183-A380-4092-BC01-20D5B6BFD9BC}"/>
              </a:ext>
            </a:extLst>
          </p:cNvPr>
          <p:cNvSpPr>
            <a:spLocks noGrp="1"/>
          </p:cNvSpPr>
          <p:nvPr/>
        </p:nvSpPr>
        <p:spPr>
          <a:xfrm>
            <a:off x="7515225" y="2943225"/>
            <a:ext cx="628650" cy="457200"/>
          </a:xfrm>
          <a:prstGeom prst="rightArrow">
            <a:avLst/>
          </a:prstGeom>
          <a:solidFill>
            <a:srgbClr val="B9C8DA"/>
          </a:solidFill>
          <a:ln w="0">
            <a:solidFill>
              <a:srgbClr val="B9C8DA"/>
            </a:solidFill>
            <a:prstDash val="solid"/>
          </a:ln>
        </p:spPr>
        <p:txBody>
          <a:bodyPr/>
          <a:lstStyle/>
          <a:p>
            <a:endParaRPr lang="en-US"/>
          </a:p>
        </p:txBody>
      </p:sp>
      <p:sp>
        <p:nvSpPr>
          <p:cNvPr id="9" name="Right Arrow 8">
            <a:extLst>
              <a:ext uri="{FF2B5EF4-FFF2-40B4-BE49-F238E27FC236}">
                <a16:creationId xmlns:a16="http://schemas.microsoft.com/office/drawing/2014/main" id="{E4258DD8-1305-4176-8D0D-EEE972277645}"/>
              </a:ext>
            </a:extLst>
          </p:cNvPr>
          <p:cNvSpPr>
            <a:spLocks noGrp="1"/>
          </p:cNvSpPr>
          <p:nvPr/>
        </p:nvSpPr>
        <p:spPr>
          <a:xfrm>
            <a:off x="9363075" y="2943225"/>
            <a:ext cx="628650" cy="457200"/>
          </a:xfrm>
          <a:prstGeom prst="rightArrow">
            <a:avLst/>
          </a:prstGeom>
          <a:solidFill>
            <a:srgbClr val="B9C8DA"/>
          </a:solidFill>
          <a:ln w="0">
            <a:solidFill>
              <a:srgbClr val="B9C8DA"/>
            </a:solidFill>
            <a:prstDash val="solid"/>
          </a:ln>
        </p:spPr>
        <p:txBody>
          <a:bodyPr/>
          <a:lstStyle/>
          <a:p>
            <a:endParaRPr lang="en-US"/>
          </a:p>
        </p:txBody>
      </p:sp>
      <p:sp>
        <p:nvSpPr>
          <p:cNvPr id="10" name="Rounded Rectangle 9">
            <a:extLst>
              <a:ext uri="{FF2B5EF4-FFF2-40B4-BE49-F238E27FC236}">
                <a16:creationId xmlns:a16="http://schemas.microsoft.com/office/drawing/2014/main" id="{26EA02A1-1EFF-4786-B5DC-28140DA4F720}"/>
              </a:ext>
            </a:extLst>
          </p:cNvPr>
          <p:cNvSpPr>
            <a:spLocks noGrp="1"/>
          </p:cNvSpPr>
          <p:nvPr/>
        </p:nvSpPr>
        <p:spPr>
          <a:xfrm>
            <a:off x="495300" y="2190750"/>
            <a:ext cx="1619250" cy="1952625"/>
          </a:xfrm>
          <a:prstGeom prst="roundRect">
            <a:avLst>
              <a:gd name="adj" fmla="val 7059"/>
            </a:avLst>
          </a:prstGeom>
          <a:solidFill>
            <a:srgbClr val="FFFFFF"/>
          </a:solidFill>
          <a:ln w="9525">
            <a:solidFill>
              <a:srgbClr val="2563EB"/>
            </a:solidFill>
            <a:prstDash val="solid"/>
          </a:ln>
        </p:spPr>
        <p:txBody>
          <a:bodyPr/>
          <a:lstStyle/>
          <a:p>
            <a:endParaRPr lang="en-US"/>
          </a:p>
        </p:txBody>
      </p:sp>
      <p:sp>
        <p:nvSpPr>
          <p:cNvPr id="11" name="Rectangle 10">
            <a:extLst>
              <a:ext uri="{FF2B5EF4-FFF2-40B4-BE49-F238E27FC236}">
                <a16:creationId xmlns:a16="http://schemas.microsoft.com/office/drawing/2014/main" id="{8FCF31D7-DE90-463B-9879-0079B2D546EF}"/>
              </a:ext>
            </a:extLst>
          </p:cNvPr>
          <p:cNvSpPr>
            <a:spLocks noGrp="1"/>
          </p:cNvSpPr>
          <p:nvPr/>
        </p:nvSpPr>
        <p:spPr>
          <a:xfrm>
            <a:off x="628650" y="2362200"/>
            <a:ext cx="135255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CSV</a:t>
            </a:r>
          </a:p>
        </p:txBody>
      </p:sp>
      <p:sp>
        <p:nvSpPr>
          <p:cNvPr id="12" name="Rectangle 11">
            <a:extLst>
              <a:ext uri="{FF2B5EF4-FFF2-40B4-BE49-F238E27FC236}">
                <a16:creationId xmlns:a16="http://schemas.microsoft.com/office/drawing/2014/main" id="{547C23A4-D083-4E9C-B52B-F135A9A17A4F}"/>
              </a:ext>
            </a:extLst>
          </p:cNvPr>
          <p:cNvSpPr>
            <a:spLocks noGrp="1"/>
          </p:cNvSpPr>
          <p:nvPr/>
        </p:nvSpPr>
        <p:spPr>
          <a:xfrm>
            <a:off x="628650" y="2790825"/>
            <a:ext cx="1352550" cy="1323975"/>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Transactions</a:t>
            </a:r>
          </a:p>
          <a:p>
            <a:pPr algn="ctr">
              <a:buNone/>
              <a:defRPr sz="1125" b="0">
                <a:solidFill>
                  <a:srgbClr val="5C7291"/>
                </a:solidFill>
              </a:defRPr>
            </a:pPr>
            <a:r>
              <a:rPr sz="1400" b="0">
                <a:solidFill>
                  <a:srgbClr val="5C7291"/>
                </a:solidFill>
              </a:rPr>
              <a:t>Accounts</a:t>
            </a:r>
          </a:p>
          <a:p>
            <a:pPr algn="ctr">
              <a:buNone/>
              <a:defRPr sz="1125" b="0">
                <a:solidFill>
                  <a:srgbClr val="5C7291"/>
                </a:solidFill>
              </a:defRPr>
            </a:pPr>
            <a:r>
              <a:rPr sz="1400" b="0">
                <a:solidFill>
                  <a:srgbClr val="5C7291"/>
                </a:solidFill>
              </a:rPr>
              <a:t>Patterns</a:t>
            </a:r>
          </a:p>
        </p:txBody>
      </p:sp>
      <p:sp>
        <p:nvSpPr>
          <p:cNvPr id="13" name="Rounded Rectangle 12">
            <a:extLst>
              <a:ext uri="{FF2B5EF4-FFF2-40B4-BE49-F238E27FC236}">
                <a16:creationId xmlns:a16="http://schemas.microsoft.com/office/drawing/2014/main" id="{B8782872-671B-4B2C-8C0B-D287DAB984E1}"/>
              </a:ext>
            </a:extLst>
          </p:cNvPr>
          <p:cNvSpPr>
            <a:spLocks noGrp="1"/>
          </p:cNvSpPr>
          <p:nvPr/>
        </p:nvSpPr>
        <p:spPr>
          <a:xfrm>
            <a:off x="2343150" y="2190750"/>
            <a:ext cx="1619250" cy="1952625"/>
          </a:xfrm>
          <a:prstGeom prst="roundRect">
            <a:avLst>
              <a:gd name="adj" fmla="val 7059"/>
            </a:avLst>
          </a:prstGeom>
          <a:solidFill>
            <a:srgbClr val="FFF3DD"/>
          </a:solidFill>
          <a:ln w="9525">
            <a:solidFill>
              <a:srgbClr val="FF9900"/>
            </a:solidFill>
            <a:prstDash val="solid"/>
          </a:ln>
        </p:spPr>
        <p:txBody>
          <a:bodyPr/>
          <a:lstStyle/>
          <a:p>
            <a:endParaRPr lang="en-US"/>
          </a:p>
        </p:txBody>
      </p:sp>
      <p:sp>
        <p:nvSpPr>
          <p:cNvPr id="14" name="Rectangle 13">
            <a:extLst>
              <a:ext uri="{FF2B5EF4-FFF2-40B4-BE49-F238E27FC236}">
                <a16:creationId xmlns:a16="http://schemas.microsoft.com/office/drawing/2014/main" id="{09E8C65A-D2D0-4BDE-B9C5-09EE78E6189C}"/>
              </a:ext>
            </a:extLst>
          </p:cNvPr>
          <p:cNvSpPr>
            <a:spLocks noGrp="1"/>
          </p:cNvSpPr>
          <p:nvPr/>
        </p:nvSpPr>
        <p:spPr>
          <a:xfrm>
            <a:off x="2476500" y="2362200"/>
            <a:ext cx="135255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S3 Raw</a:t>
            </a:r>
          </a:p>
        </p:txBody>
      </p:sp>
      <p:sp>
        <p:nvSpPr>
          <p:cNvPr id="15" name="Rectangle 14">
            <a:extLst>
              <a:ext uri="{FF2B5EF4-FFF2-40B4-BE49-F238E27FC236}">
                <a16:creationId xmlns:a16="http://schemas.microsoft.com/office/drawing/2014/main" id="{30E96B34-FE43-4A61-BE85-BC91378DD793}"/>
              </a:ext>
            </a:extLst>
          </p:cNvPr>
          <p:cNvSpPr>
            <a:spLocks noGrp="1"/>
          </p:cNvSpPr>
          <p:nvPr/>
        </p:nvSpPr>
        <p:spPr>
          <a:xfrm>
            <a:off x="2476500" y="2790825"/>
            <a:ext cx="1352550" cy="1323975"/>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Immutable files</a:t>
            </a:r>
          </a:p>
          <a:p>
            <a:pPr algn="ctr">
              <a:buNone/>
              <a:defRPr sz="1125" b="0">
                <a:solidFill>
                  <a:srgbClr val="5C7291"/>
                </a:solidFill>
              </a:defRPr>
            </a:pPr>
            <a:r>
              <a:rPr sz="1400" b="0">
                <a:solidFill>
                  <a:srgbClr val="5C7291"/>
                </a:solidFill>
              </a:rPr>
              <a:t>load_date</a:t>
            </a:r>
          </a:p>
          <a:p>
            <a:pPr algn="ctr">
              <a:buNone/>
              <a:defRPr sz="1125" b="0">
                <a:solidFill>
                  <a:srgbClr val="5C7291"/>
                </a:solidFill>
              </a:defRPr>
            </a:pPr>
            <a:r>
              <a:rPr sz="1400" b="0">
                <a:solidFill>
                  <a:srgbClr val="5C7291"/>
                </a:solidFill>
              </a:rPr>
              <a:t>checksum</a:t>
            </a:r>
          </a:p>
        </p:txBody>
      </p:sp>
      <p:sp>
        <p:nvSpPr>
          <p:cNvPr id="16" name="Rounded Rectangle 15">
            <a:extLst>
              <a:ext uri="{FF2B5EF4-FFF2-40B4-BE49-F238E27FC236}">
                <a16:creationId xmlns:a16="http://schemas.microsoft.com/office/drawing/2014/main" id="{3358974D-074C-4466-8279-24B7FBE6BB7B}"/>
              </a:ext>
            </a:extLst>
          </p:cNvPr>
          <p:cNvSpPr>
            <a:spLocks noGrp="1"/>
          </p:cNvSpPr>
          <p:nvPr/>
        </p:nvSpPr>
        <p:spPr>
          <a:xfrm>
            <a:off x="4191000" y="2190750"/>
            <a:ext cx="1619250" cy="1952625"/>
          </a:xfrm>
          <a:prstGeom prst="roundRect">
            <a:avLst>
              <a:gd name="adj" fmla="val 7059"/>
            </a:avLst>
          </a:prstGeom>
          <a:solidFill>
            <a:srgbClr val="EAF2FB"/>
          </a:solidFill>
          <a:ln w="9525">
            <a:solidFill>
              <a:srgbClr val="2563EB"/>
            </a:solidFill>
            <a:prstDash val="solid"/>
          </a:ln>
        </p:spPr>
        <p:txBody>
          <a:bodyPr/>
          <a:lstStyle/>
          <a:p>
            <a:endParaRPr lang="en-US"/>
          </a:p>
        </p:txBody>
      </p:sp>
      <p:sp>
        <p:nvSpPr>
          <p:cNvPr id="17" name="Rectangle 16">
            <a:extLst>
              <a:ext uri="{FF2B5EF4-FFF2-40B4-BE49-F238E27FC236}">
                <a16:creationId xmlns:a16="http://schemas.microsoft.com/office/drawing/2014/main" id="{6FA4FE47-3E8C-4950-B6ED-FFEE03347015}"/>
              </a:ext>
            </a:extLst>
          </p:cNvPr>
          <p:cNvSpPr>
            <a:spLocks noGrp="1"/>
          </p:cNvSpPr>
          <p:nvPr/>
        </p:nvSpPr>
        <p:spPr>
          <a:xfrm>
            <a:off x="4324350" y="2362200"/>
            <a:ext cx="135255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Catalog</a:t>
            </a:r>
          </a:p>
        </p:txBody>
      </p:sp>
      <p:sp>
        <p:nvSpPr>
          <p:cNvPr id="18" name="Rectangle 17">
            <a:extLst>
              <a:ext uri="{FF2B5EF4-FFF2-40B4-BE49-F238E27FC236}">
                <a16:creationId xmlns:a16="http://schemas.microsoft.com/office/drawing/2014/main" id="{5F61A8DD-1CAF-4EAA-9D3D-8A0FA078058D}"/>
              </a:ext>
            </a:extLst>
          </p:cNvPr>
          <p:cNvSpPr>
            <a:spLocks noGrp="1"/>
          </p:cNvSpPr>
          <p:nvPr/>
        </p:nvSpPr>
        <p:spPr>
          <a:xfrm>
            <a:off x="4324350" y="2790825"/>
            <a:ext cx="1352550" cy="1323975"/>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Glue Crawler</a:t>
            </a:r>
          </a:p>
          <a:p>
            <a:pPr algn="ctr">
              <a:buNone/>
              <a:defRPr sz="1125" b="0">
                <a:solidFill>
                  <a:srgbClr val="5C7291"/>
                </a:solidFill>
              </a:defRPr>
            </a:pPr>
            <a:r>
              <a:rPr sz="1400" b="0">
                <a:solidFill>
                  <a:srgbClr val="5C7291"/>
                </a:solidFill>
              </a:rPr>
              <a:t>Schema</a:t>
            </a:r>
          </a:p>
          <a:p>
            <a:pPr algn="ctr">
              <a:buNone/>
              <a:defRPr sz="1125" b="0">
                <a:solidFill>
                  <a:srgbClr val="5C7291"/>
                </a:solidFill>
              </a:defRPr>
            </a:pPr>
            <a:r>
              <a:rPr sz="1400" b="0">
                <a:solidFill>
                  <a:srgbClr val="5C7291"/>
                </a:solidFill>
              </a:rPr>
              <a:t>Metadata</a:t>
            </a:r>
          </a:p>
        </p:txBody>
      </p:sp>
      <p:sp>
        <p:nvSpPr>
          <p:cNvPr id="19" name="Rounded Rectangle 18">
            <a:extLst>
              <a:ext uri="{FF2B5EF4-FFF2-40B4-BE49-F238E27FC236}">
                <a16:creationId xmlns:a16="http://schemas.microsoft.com/office/drawing/2014/main" id="{B6C5D9D8-DA68-42E1-9A9D-DDAC21D759BC}"/>
              </a:ext>
            </a:extLst>
          </p:cNvPr>
          <p:cNvSpPr>
            <a:spLocks noGrp="1"/>
          </p:cNvSpPr>
          <p:nvPr/>
        </p:nvSpPr>
        <p:spPr>
          <a:xfrm>
            <a:off x="6038850" y="2190750"/>
            <a:ext cx="1619250" cy="1952625"/>
          </a:xfrm>
          <a:prstGeom prst="roundRect">
            <a:avLst>
              <a:gd name="adj" fmla="val 7059"/>
            </a:avLst>
          </a:prstGeom>
          <a:solidFill>
            <a:srgbClr val="E5F7F4"/>
          </a:solidFill>
          <a:ln w="9525">
            <a:solidFill>
              <a:srgbClr val="0F766E"/>
            </a:solidFill>
            <a:prstDash val="solid"/>
          </a:ln>
        </p:spPr>
        <p:txBody>
          <a:bodyPr/>
          <a:lstStyle/>
          <a:p>
            <a:endParaRPr lang="en-US"/>
          </a:p>
        </p:txBody>
      </p:sp>
      <p:sp>
        <p:nvSpPr>
          <p:cNvPr id="20" name="Rectangle 19">
            <a:extLst>
              <a:ext uri="{FF2B5EF4-FFF2-40B4-BE49-F238E27FC236}">
                <a16:creationId xmlns:a16="http://schemas.microsoft.com/office/drawing/2014/main" id="{B0084E19-2768-4C42-8F15-BEA83BA6EE69}"/>
              </a:ext>
            </a:extLst>
          </p:cNvPr>
          <p:cNvSpPr>
            <a:spLocks noGrp="1"/>
          </p:cNvSpPr>
          <p:nvPr/>
        </p:nvSpPr>
        <p:spPr>
          <a:xfrm>
            <a:off x="6172200" y="2362200"/>
            <a:ext cx="135255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Visual ETL</a:t>
            </a:r>
          </a:p>
        </p:txBody>
      </p:sp>
      <p:sp>
        <p:nvSpPr>
          <p:cNvPr id="21" name="Rectangle 20">
            <a:extLst>
              <a:ext uri="{FF2B5EF4-FFF2-40B4-BE49-F238E27FC236}">
                <a16:creationId xmlns:a16="http://schemas.microsoft.com/office/drawing/2014/main" id="{F8689273-3A79-4F25-9AD7-D3C04802F527}"/>
              </a:ext>
            </a:extLst>
          </p:cNvPr>
          <p:cNvSpPr>
            <a:spLocks noGrp="1"/>
          </p:cNvSpPr>
          <p:nvPr/>
        </p:nvSpPr>
        <p:spPr>
          <a:xfrm>
            <a:off x="6172200" y="2790825"/>
            <a:ext cx="1352550" cy="1323975"/>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Clean</a:t>
            </a:r>
          </a:p>
          <a:p>
            <a:pPr algn="ctr">
              <a:buNone/>
              <a:defRPr sz="1125" b="0">
                <a:solidFill>
                  <a:srgbClr val="5C7291"/>
                </a:solidFill>
              </a:defRPr>
            </a:pPr>
            <a:r>
              <a:rPr sz="1400" b="0">
                <a:solidFill>
                  <a:srgbClr val="5C7291"/>
                </a:solidFill>
              </a:rPr>
              <a:t>Map</a:t>
            </a:r>
          </a:p>
          <a:p>
            <a:pPr algn="ctr">
              <a:buNone/>
              <a:defRPr sz="1125" b="0">
                <a:solidFill>
                  <a:srgbClr val="5C7291"/>
                </a:solidFill>
              </a:defRPr>
            </a:pPr>
            <a:r>
              <a:rPr sz="1400" b="0">
                <a:solidFill>
                  <a:srgbClr val="5C7291"/>
                </a:solidFill>
              </a:rPr>
              <a:t>Validate</a:t>
            </a:r>
          </a:p>
        </p:txBody>
      </p:sp>
      <p:sp>
        <p:nvSpPr>
          <p:cNvPr id="22" name="Rounded Rectangle 21">
            <a:extLst>
              <a:ext uri="{FF2B5EF4-FFF2-40B4-BE49-F238E27FC236}">
                <a16:creationId xmlns:a16="http://schemas.microsoft.com/office/drawing/2014/main" id="{5413B13E-AEEE-4725-8D53-5C329FA10416}"/>
              </a:ext>
            </a:extLst>
          </p:cNvPr>
          <p:cNvSpPr>
            <a:spLocks noGrp="1"/>
          </p:cNvSpPr>
          <p:nvPr/>
        </p:nvSpPr>
        <p:spPr>
          <a:xfrm>
            <a:off x="7886700" y="2190750"/>
            <a:ext cx="1619250" cy="1952625"/>
          </a:xfrm>
          <a:prstGeom prst="roundRect">
            <a:avLst>
              <a:gd name="adj" fmla="val 7059"/>
            </a:avLst>
          </a:prstGeom>
          <a:solidFill>
            <a:srgbClr val="F2ECFF"/>
          </a:solidFill>
          <a:ln w="9525">
            <a:solidFill>
              <a:srgbClr val="7C3AED"/>
            </a:solidFill>
            <a:prstDash val="solid"/>
          </a:ln>
        </p:spPr>
        <p:txBody>
          <a:bodyPr/>
          <a:lstStyle/>
          <a:p>
            <a:endParaRPr lang="en-US"/>
          </a:p>
        </p:txBody>
      </p:sp>
      <p:sp>
        <p:nvSpPr>
          <p:cNvPr id="23" name="Rectangle 22">
            <a:extLst>
              <a:ext uri="{FF2B5EF4-FFF2-40B4-BE49-F238E27FC236}">
                <a16:creationId xmlns:a16="http://schemas.microsoft.com/office/drawing/2014/main" id="{78D26D8F-F4F7-4772-991D-BE17EBB03622}"/>
              </a:ext>
            </a:extLst>
          </p:cNvPr>
          <p:cNvSpPr>
            <a:spLocks noGrp="1"/>
          </p:cNvSpPr>
          <p:nvPr/>
        </p:nvSpPr>
        <p:spPr>
          <a:xfrm>
            <a:off x="8020050" y="2362200"/>
            <a:ext cx="135255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S3 Curated</a:t>
            </a:r>
          </a:p>
        </p:txBody>
      </p:sp>
      <p:sp>
        <p:nvSpPr>
          <p:cNvPr id="24" name="Rectangle 23">
            <a:extLst>
              <a:ext uri="{FF2B5EF4-FFF2-40B4-BE49-F238E27FC236}">
                <a16:creationId xmlns:a16="http://schemas.microsoft.com/office/drawing/2014/main" id="{BE93C05F-D6E2-41F2-B39B-D0D90B0CF08D}"/>
              </a:ext>
            </a:extLst>
          </p:cNvPr>
          <p:cNvSpPr>
            <a:spLocks noGrp="1"/>
          </p:cNvSpPr>
          <p:nvPr/>
        </p:nvSpPr>
        <p:spPr>
          <a:xfrm>
            <a:off x="8020050" y="2790825"/>
            <a:ext cx="1352550" cy="1323975"/>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Parquet</a:t>
            </a:r>
          </a:p>
          <a:p>
            <a:pPr algn="ctr">
              <a:buNone/>
              <a:defRPr sz="1125" b="0">
                <a:solidFill>
                  <a:srgbClr val="5C7291"/>
                </a:solidFill>
              </a:defRPr>
            </a:pPr>
            <a:r>
              <a:rPr sz="1400" b="0">
                <a:solidFill>
                  <a:srgbClr val="5C7291"/>
                </a:solidFill>
              </a:rPr>
              <a:t>Snappy</a:t>
            </a:r>
          </a:p>
          <a:p>
            <a:pPr algn="ctr">
              <a:buNone/>
              <a:defRPr sz="1125" b="0">
                <a:solidFill>
                  <a:srgbClr val="5C7291"/>
                </a:solidFill>
              </a:defRPr>
            </a:pPr>
            <a:r>
              <a:rPr sz="1400" b="0">
                <a:solidFill>
                  <a:srgbClr val="5C7291"/>
                </a:solidFill>
              </a:rPr>
              <a:t>Partition</a:t>
            </a:r>
          </a:p>
        </p:txBody>
      </p:sp>
      <p:sp>
        <p:nvSpPr>
          <p:cNvPr id="25" name="Rounded Rectangle 24">
            <a:extLst>
              <a:ext uri="{FF2B5EF4-FFF2-40B4-BE49-F238E27FC236}">
                <a16:creationId xmlns:a16="http://schemas.microsoft.com/office/drawing/2014/main" id="{F0A121C9-ECBA-41D5-AAE8-E0D7BF2E09C7}"/>
              </a:ext>
            </a:extLst>
          </p:cNvPr>
          <p:cNvSpPr>
            <a:spLocks noGrp="1"/>
          </p:cNvSpPr>
          <p:nvPr/>
        </p:nvSpPr>
        <p:spPr>
          <a:xfrm>
            <a:off x="9734550" y="2190750"/>
            <a:ext cx="1619250" cy="1952625"/>
          </a:xfrm>
          <a:prstGeom prst="roundRect">
            <a:avLst>
              <a:gd name="adj" fmla="val 7059"/>
            </a:avLst>
          </a:prstGeom>
          <a:solidFill>
            <a:srgbClr val="FBEAEC"/>
          </a:solidFill>
          <a:ln w="9525">
            <a:solidFill>
              <a:srgbClr val="C83E4D"/>
            </a:solidFill>
            <a:prstDash val="solid"/>
          </a:ln>
        </p:spPr>
        <p:txBody>
          <a:bodyPr/>
          <a:lstStyle/>
          <a:p>
            <a:endParaRPr lang="en-US"/>
          </a:p>
        </p:txBody>
      </p:sp>
      <p:sp>
        <p:nvSpPr>
          <p:cNvPr id="26" name="Rectangle 25">
            <a:extLst>
              <a:ext uri="{FF2B5EF4-FFF2-40B4-BE49-F238E27FC236}">
                <a16:creationId xmlns:a16="http://schemas.microsoft.com/office/drawing/2014/main" id="{A8FADD60-7C1D-44EC-BF51-952874A06017}"/>
              </a:ext>
            </a:extLst>
          </p:cNvPr>
          <p:cNvSpPr>
            <a:spLocks noGrp="1"/>
          </p:cNvSpPr>
          <p:nvPr/>
        </p:nvSpPr>
        <p:spPr>
          <a:xfrm>
            <a:off x="9801225" y="2362200"/>
            <a:ext cx="1485900" cy="285750"/>
          </a:xfrm>
          <a:prstGeom prst="rect">
            <a:avLst/>
          </a:prstGeom>
          <a:noFill/>
          <a:ln w="0">
            <a:noFill/>
            <a:prstDash val="solid"/>
          </a:ln>
        </p:spPr>
        <p:txBody>
          <a:bodyPr/>
          <a:lstStyle/>
          <a:p>
            <a:pPr algn="ctr">
              <a:buNone/>
              <a:defRPr sz="1275" b="1">
                <a:solidFill>
                  <a:srgbClr val="12315B"/>
                </a:solidFill>
              </a:defRPr>
            </a:pPr>
            <a:r>
              <a:rPr sz="2000" b="1">
                <a:solidFill>
                  <a:srgbClr val="12315B"/>
                </a:solidFill>
              </a:rPr>
              <a:t>Athena + BI</a:t>
            </a:r>
          </a:p>
        </p:txBody>
      </p:sp>
      <p:sp>
        <p:nvSpPr>
          <p:cNvPr id="27" name="Rectangle 26">
            <a:extLst>
              <a:ext uri="{FF2B5EF4-FFF2-40B4-BE49-F238E27FC236}">
                <a16:creationId xmlns:a16="http://schemas.microsoft.com/office/drawing/2014/main" id="{362DAD1A-0B2B-4FE1-B7E4-6350D7A5A303}"/>
              </a:ext>
            </a:extLst>
          </p:cNvPr>
          <p:cNvSpPr>
            <a:spLocks noGrp="1"/>
          </p:cNvSpPr>
          <p:nvPr/>
        </p:nvSpPr>
        <p:spPr>
          <a:xfrm>
            <a:off x="9867900" y="2790825"/>
            <a:ext cx="1352550" cy="1323975"/>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SQL views</a:t>
            </a:r>
          </a:p>
          <a:p>
            <a:pPr algn="ctr">
              <a:buNone/>
              <a:defRPr sz="1125" b="0">
                <a:solidFill>
                  <a:srgbClr val="5C7291"/>
                </a:solidFill>
              </a:defRPr>
            </a:pPr>
            <a:r>
              <a:rPr sz="1400" b="0">
                <a:solidFill>
                  <a:srgbClr val="5C7291"/>
                </a:solidFill>
              </a:rPr>
              <a:t>Power BI</a:t>
            </a:r>
          </a:p>
          <a:p>
            <a:pPr algn="ctr">
              <a:buNone/>
              <a:defRPr sz="1125" b="0">
                <a:solidFill>
                  <a:srgbClr val="5C7291"/>
                </a:solidFill>
              </a:defRPr>
            </a:pPr>
            <a:r>
              <a:rPr sz="1400" b="0">
                <a:solidFill>
                  <a:srgbClr val="5C7291"/>
                </a:solidFill>
              </a:rPr>
              <a:t>QuickSight</a:t>
            </a:r>
          </a:p>
        </p:txBody>
      </p:sp>
      <p:sp>
        <p:nvSpPr>
          <p:cNvPr id="28" name="Rounded Rectangle 27">
            <a:extLst>
              <a:ext uri="{FF2B5EF4-FFF2-40B4-BE49-F238E27FC236}">
                <a16:creationId xmlns:a16="http://schemas.microsoft.com/office/drawing/2014/main" id="{6B258DA5-F840-462A-AC31-F53289886EB2}"/>
              </a:ext>
            </a:extLst>
          </p:cNvPr>
          <p:cNvSpPr>
            <a:spLocks noGrp="1"/>
          </p:cNvSpPr>
          <p:nvPr/>
        </p:nvSpPr>
        <p:spPr>
          <a:xfrm>
            <a:off x="1676400" y="4591050"/>
            <a:ext cx="8858250" cy="723900"/>
          </a:xfrm>
          <a:prstGeom prst="roundRect">
            <a:avLst>
              <a:gd name="adj" fmla="val 15789"/>
            </a:avLst>
          </a:prstGeom>
          <a:solidFill>
            <a:srgbClr val="EAF4FF"/>
          </a:solidFill>
          <a:ln w="14288">
            <a:solidFill>
              <a:srgbClr val="BFD2E8"/>
            </a:solidFill>
            <a:prstDash val="solid"/>
          </a:ln>
        </p:spPr>
        <p:txBody>
          <a:bodyPr/>
          <a:lstStyle/>
          <a:p>
            <a:endParaRPr lang="en-US"/>
          </a:p>
        </p:txBody>
      </p:sp>
      <p:sp>
        <p:nvSpPr>
          <p:cNvPr id="29" name="Rectangle 28">
            <a:extLst>
              <a:ext uri="{FF2B5EF4-FFF2-40B4-BE49-F238E27FC236}">
                <a16:creationId xmlns:a16="http://schemas.microsoft.com/office/drawing/2014/main" id="{76F9BE9C-B437-4D14-8F7D-A8786C0FA1E4}"/>
              </a:ext>
            </a:extLst>
          </p:cNvPr>
          <p:cNvSpPr>
            <a:spLocks noGrp="1"/>
          </p:cNvSpPr>
          <p:nvPr/>
        </p:nvSpPr>
        <p:spPr>
          <a:xfrm>
            <a:off x="1924050" y="4810125"/>
            <a:ext cx="2095500" cy="266700"/>
          </a:xfrm>
          <a:prstGeom prst="rect">
            <a:avLst/>
          </a:prstGeom>
          <a:noFill/>
          <a:ln w="0">
            <a:noFill/>
            <a:prstDash val="solid"/>
          </a:ln>
        </p:spPr>
        <p:txBody>
          <a:bodyPr/>
          <a:lstStyle/>
          <a:p>
            <a:pPr algn="ctr">
              <a:buNone/>
              <a:defRPr sz="1275" b="1">
                <a:solidFill>
                  <a:srgbClr val="12315B"/>
                </a:solidFill>
              </a:defRPr>
            </a:pPr>
            <a:r>
              <a:rPr sz="1400" b="1">
                <a:solidFill>
                  <a:srgbClr val="12315B"/>
                </a:solidFill>
              </a:rPr>
              <a:t>IAM least privilege</a:t>
            </a:r>
          </a:p>
        </p:txBody>
      </p:sp>
      <p:sp>
        <p:nvSpPr>
          <p:cNvPr id="30" name="Rectangle 29">
            <a:extLst>
              <a:ext uri="{FF2B5EF4-FFF2-40B4-BE49-F238E27FC236}">
                <a16:creationId xmlns:a16="http://schemas.microsoft.com/office/drawing/2014/main" id="{00FD5A13-F8E4-4818-8F4F-00F90611CE14}"/>
              </a:ext>
            </a:extLst>
          </p:cNvPr>
          <p:cNvSpPr>
            <a:spLocks noGrp="1"/>
          </p:cNvSpPr>
          <p:nvPr/>
        </p:nvSpPr>
        <p:spPr>
          <a:xfrm>
            <a:off x="4133850" y="4810125"/>
            <a:ext cx="2381250" cy="266700"/>
          </a:xfrm>
          <a:prstGeom prst="rect">
            <a:avLst/>
          </a:prstGeom>
          <a:noFill/>
          <a:ln w="0">
            <a:noFill/>
            <a:prstDash val="solid"/>
          </a:ln>
        </p:spPr>
        <p:txBody>
          <a:bodyPr/>
          <a:lstStyle/>
          <a:p>
            <a:pPr algn="ctr">
              <a:buNone/>
              <a:defRPr sz="1275" b="1">
                <a:solidFill>
                  <a:srgbClr val="12315B"/>
                </a:solidFill>
              </a:defRPr>
            </a:pPr>
            <a:r>
              <a:rPr sz="1400" b="1">
                <a:solidFill>
                  <a:srgbClr val="12315B"/>
                </a:solidFill>
              </a:rPr>
              <a:t>Glue Workflow / Trigger</a:t>
            </a:r>
          </a:p>
        </p:txBody>
      </p:sp>
      <p:sp>
        <p:nvSpPr>
          <p:cNvPr id="31" name="Rectangle 30">
            <a:extLst>
              <a:ext uri="{FF2B5EF4-FFF2-40B4-BE49-F238E27FC236}">
                <a16:creationId xmlns:a16="http://schemas.microsoft.com/office/drawing/2014/main" id="{4CEE7893-8A51-4FD5-AA88-3722EC494CB4}"/>
              </a:ext>
            </a:extLst>
          </p:cNvPr>
          <p:cNvSpPr>
            <a:spLocks noGrp="1"/>
          </p:cNvSpPr>
          <p:nvPr/>
        </p:nvSpPr>
        <p:spPr>
          <a:xfrm>
            <a:off x="6657975" y="4810125"/>
            <a:ext cx="1905000" cy="266700"/>
          </a:xfrm>
          <a:prstGeom prst="rect">
            <a:avLst/>
          </a:prstGeom>
          <a:noFill/>
          <a:ln w="0">
            <a:noFill/>
            <a:prstDash val="solid"/>
          </a:ln>
        </p:spPr>
        <p:txBody>
          <a:bodyPr/>
          <a:lstStyle/>
          <a:p>
            <a:pPr algn="ctr">
              <a:buNone/>
              <a:defRPr sz="1275" b="1">
                <a:solidFill>
                  <a:srgbClr val="12315B"/>
                </a:solidFill>
              </a:defRPr>
            </a:pPr>
            <a:r>
              <a:rPr sz="1400" b="1">
                <a:solidFill>
                  <a:srgbClr val="12315B"/>
                </a:solidFill>
              </a:rPr>
              <a:t>CloudWatch logs</a:t>
            </a:r>
          </a:p>
        </p:txBody>
      </p:sp>
      <p:sp>
        <p:nvSpPr>
          <p:cNvPr id="32" name="Rectangle 31">
            <a:extLst>
              <a:ext uri="{FF2B5EF4-FFF2-40B4-BE49-F238E27FC236}">
                <a16:creationId xmlns:a16="http://schemas.microsoft.com/office/drawing/2014/main" id="{A1BBED7B-9AA7-4A16-9047-C7083B6072A3}"/>
              </a:ext>
            </a:extLst>
          </p:cNvPr>
          <p:cNvSpPr>
            <a:spLocks noGrp="1"/>
          </p:cNvSpPr>
          <p:nvPr/>
        </p:nvSpPr>
        <p:spPr>
          <a:xfrm>
            <a:off x="8467725" y="4729162"/>
            <a:ext cx="1809750" cy="400050"/>
          </a:xfrm>
          <a:prstGeom prst="rect">
            <a:avLst/>
          </a:prstGeom>
          <a:noFill/>
          <a:ln w="0">
            <a:noFill/>
            <a:prstDash val="solid"/>
          </a:ln>
        </p:spPr>
        <p:txBody>
          <a:bodyPr/>
          <a:lstStyle/>
          <a:p>
            <a:pPr algn="ctr">
              <a:buNone/>
              <a:defRPr sz="1200" b="1">
                <a:solidFill>
                  <a:srgbClr val="12315B"/>
                </a:solidFill>
              </a:defRPr>
            </a:pPr>
            <a:r>
              <a:rPr sz="1400" b="1">
                <a:solidFill>
                  <a:srgbClr val="12315B"/>
                </a:solidFill>
              </a:rPr>
              <a:t>S3 encryption + Block Public Access</a:t>
            </a:r>
          </a:p>
        </p:txBody>
      </p:sp>
      <p:sp>
        <p:nvSpPr>
          <p:cNvPr id="33" name="Rounded Rectangle 32">
            <a:extLst>
              <a:ext uri="{FF2B5EF4-FFF2-40B4-BE49-F238E27FC236}">
                <a16:creationId xmlns:a16="http://schemas.microsoft.com/office/drawing/2014/main" id="{44746FAB-B33E-4471-8AC4-95BBCC915896}"/>
              </a:ext>
            </a:extLst>
          </p:cNvPr>
          <p:cNvSpPr>
            <a:spLocks noGrp="1"/>
          </p:cNvSpPr>
          <p:nvPr/>
        </p:nvSpPr>
        <p:spPr>
          <a:xfrm>
            <a:off x="4181475" y="5648325"/>
            <a:ext cx="381000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34" name="Rectangle 33">
            <a:extLst>
              <a:ext uri="{FF2B5EF4-FFF2-40B4-BE49-F238E27FC236}">
                <a16:creationId xmlns:a16="http://schemas.microsoft.com/office/drawing/2014/main" id="{4962337F-0948-419F-9B67-2A489AAB5C97}"/>
              </a:ext>
            </a:extLst>
          </p:cNvPr>
          <p:cNvSpPr>
            <a:spLocks noGrp="1"/>
          </p:cNvSpPr>
          <p:nvPr/>
        </p:nvSpPr>
        <p:spPr>
          <a:xfrm>
            <a:off x="4267200" y="5690634"/>
            <a:ext cx="3657600" cy="190500"/>
          </a:xfrm>
          <a:prstGeom prst="rect">
            <a:avLst/>
          </a:prstGeom>
          <a:noFill/>
          <a:ln w="0">
            <a:noFill/>
            <a:prstDash val="solid"/>
          </a:ln>
        </p:spPr>
        <p:txBody>
          <a:bodyPr/>
          <a:lstStyle/>
          <a:p>
            <a:pPr algn="ctr">
              <a:buNone/>
              <a:defRPr sz="1125" b="1">
                <a:solidFill>
                  <a:srgbClr val="0F766E"/>
                </a:solidFill>
              </a:defRPr>
            </a:pPr>
            <a:r>
              <a:rPr sz="1200" b="1">
                <a:solidFill>
                  <a:srgbClr val="0F766E"/>
                </a:solidFill>
              </a:rPr>
              <a:t>Không cần server chạy liên tục</a:t>
            </a:r>
          </a:p>
        </p:txBody>
      </p:sp>
      <p:sp>
        <p:nvSpPr>
          <p:cNvPr id="36" name="Rectangle 35">
            <a:extLst>
              <a:ext uri="{FF2B5EF4-FFF2-40B4-BE49-F238E27FC236}">
                <a16:creationId xmlns:a16="http://schemas.microsoft.com/office/drawing/2014/main" id="{CAEE6996-149F-4B6C-9895-7F84BEAAD646}"/>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8/17</a:t>
            </a:r>
          </a:p>
        </p:txBody>
      </p:sp>
    </p:spTree>
    <p:extLst>
      <p:ext uri="{BB962C8B-B14F-4D97-AF65-F5344CB8AC3E}">
        <p14:creationId xmlns:p14="http://schemas.microsoft.com/office/powerpoint/2010/main" val="446791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D9A49E7-FE6E-4283-8DC7-D558ABEC0278}"/>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S3 tách vùng để audit và chạy lại</a:t>
            </a:r>
          </a:p>
        </p:txBody>
      </p:sp>
      <p:sp>
        <p:nvSpPr>
          <p:cNvPr id="2" name="Rectangle 1">
            <a:extLst>
              <a:ext uri="{FF2B5EF4-FFF2-40B4-BE49-F238E27FC236}">
                <a16:creationId xmlns:a16="http://schemas.microsoft.com/office/drawing/2014/main" id="{51C1577F-F89B-410C-903E-41877F67FC73}"/>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Bucket hiện có: ibm-aml-basic-huydungle-20260819 </a:t>
            </a:r>
            <a:r>
              <a:rPr lang="vi-VN" sz="1650" b="0">
                <a:solidFill>
                  <a:srgbClr val="5C7291"/>
                </a:solidFill>
              </a:rPr>
              <a:t>-</a:t>
            </a:r>
            <a:r>
              <a:rPr sz="1650" b="0">
                <a:solidFill>
                  <a:srgbClr val="5C7291"/>
                </a:solidFill>
              </a:rPr>
              <a:t> Singapore</a:t>
            </a:r>
          </a:p>
        </p:txBody>
      </p:sp>
      <p:sp>
        <p:nvSpPr>
          <p:cNvPr id="3" name="Rectangle 2">
            <a:extLst>
              <a:ext uri="{FF2B5EF4-FFF2-40B4-BE49-F238E27FC236}">
                <a16:creationId xmlns:a16="http://schemas.microsoft.com/office/drawing/2014/main" id="{C9EFADC8-DB49-4C7F-9663-40C30813EBFF}"/>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478671D9-3C64-4039-A709-FE3AE49EBA46}"/>
              </a:ext>
            </a:extLst>
          </p:cNvPr>
          <p:cNvSpPr>
            <a:spLocks noGrp="1"/>
          </p:cNvSpPr>
          <p:nvPr/>
        </p:nvSpPr>
        <p:spPr>
          <a:xfrm>
            <a:off x="628650" y="1685925"/>
            <a:ext cx="5124450" cy="4095750"/>
          </a:xfrm>
          <a:prstGeom prst="roundRect">
            <a:avLst>
              <a:gd name="adj" fmla="val 3721"/>
            </a:avLst>
          </a:prstGeom>
          <a:solidFill>
            <a:srgbClr val="FFFFFF"/>
          </a:solidFill>
          <a:ln w="14288">
            <a:solidFill>
              <a:srgbClr val="BFD2E8"/>
            </a:solidFill>
            <a:prstDash val="solid"/>
          </a:ln>
        </p:spPr>
        <p:txBody>
          <a:bodyPr/>
          <a:lstStyle/>
          <a:p>
            <a:endParaRPr lang="en-US"/>
          </a:p>
        </p:txBody>
      </p:sp>
      <p:sp>
        <p:nvSpPr>
          <p:cNvPr id="6" name="Rectangle 5">
            <a:extLst>
              <a:ext uri="{FF2B5EF4-FFF2-40B4-BE49-F238E27FC236}">
                <a16:creationId xmlns:a16="http://schemas.microsoft.com/office/drawing/2014/main" id="{FDFE2661-1F36-4D17-BF6D-536A59BA3D1D}"/>
              </a:ext>
            </a:extLst>
          </p:cNvPr>
          <p:cNvSpPr>
            <a:spLocks noGrp="1"/>
          </p:cNvSpPr>
          <p:nvPr/>
        </p:nvSpPr>
        <p:spPr>
          <a:xfrm>
            <a:off x="933450" y="2000250"/>
            <a:ext cx="4000500" cy="285750"/>
          </a:xfrm>
          <a:prstGeom prst="rect">
            <a:avLst/>
          </a:prstGeom>
          <a:noFill/>
          <a:ln w="0">
            <a:noFill/>
            <a:prstDash val="solid"/>
          </a:ln>
        </p:spPr>
        <p:txBody>
          <a:bodyPr/>
          <a:lstStyle/>
          <a:p>
            <a:pPr algn="l">
              <a:buNone/>
              <a:defRPr sz="1275" b="1">
                <a:solidFill>
                  <a:srgbClr val="FF9900"/>
                </a:solidFill>
              </a:defRPr>
            </a:pPr>
            <a:r>
              <a:rPr sz="1600" b="1">
                <a:solidFill>
                  <a:srgbClr val="FF9900"/>
                </a:solidFill>
              </a:rPr>
              <a:t>S3 prefix design</a:t>
            </a:r>
          </a:p>
        </p:txBody>
      </p:sp>
      <p:sp>
        <p:nvSpPr>
          <p:cNvPr id="7" name="Rectangle 6">
            <a:extLst>
              <a:ext uri="{FF2B5EF4-FFF2-40B4-BE49-F238E27FC236}">
                <a16:creationId xmlns:a16="http://schemas.microsoft.com/office/drawing/2014/main" id="{AD40177D-59EE-48F6-96BF-9A978BB08A68}"/>
              </a:ext>
            </a:extLst>
          </p:cNvPr>
          <p:cNvSpPr>
            <a:spLocks noGrp="1"/>
          </p:cNvSpPr>
          <p:nvPr/>
        </p:nvSpPr>
        <p:spPr>
          <a:xfrm>
            <a:off x="952500" y="2514600"/>
            <a:ext cx="4324350" cy="2905125"/>
          </a:xfrm>
          <a:prstGeom prst="rect">
            <a:avLst/>
          </a:prstGeom>
          <a:noFill/>
          <a:ln w="0">
            <a:noFill/>
            <a:prstDash val="solid"/>
          </a:ln>
        </p:spPr>
        <p:txBody>
          <a:bodyPr/>
          <a:lstStyle/>
          <a:p>
            <a:pPr algn="l">
              <a:buNone/>
              <a:defRPr sz="1425" b="0">
                <a:solidFill>
                  <a:srgbClr val="12315B"/>
                </a:solidFill>
              </a:defRPr>
            </a:pPr>
            <a:r>
              <a:rPr sz="1500" b="0">
                <a:solidFill>
                  <a:srgbClr val="12315B"/>
                </a:solidFill>
              </a:rPr>
              <a:t>ibm-aml-basic-huydungle-20260819/</a:t>
            </a:r>
          </a:p>
          <a:p>
            <a:pPr algn="l">
              <a:buNone/>
              <a:defRPr sz="1425" b="0">
                <a:solidFill>
                  <a:srgbClr val="12315B"/>
                </a:solidFill>
              </a:defRPr>
            </a:pPr>
            <a:r>
              <a:rPr sz="1500" b="0">
                <a:solidFill>
                  <a:srgbClr val="12315B"/>
                </a:solidFill>
              </a:rPr>
              <a:t>├─ raw/</a:t>
            </a:r>
          </a:p>
          <a:p>
            <a:pPr algn="l">
              <a:buNone/>
              <a:defRPr sz="1425" b="0">
                <a:solidFill>
                  <a:srgbClr val="12315B"/>
                </a:solidFill>
              </a:defRPr>
            </a:pPr>
            <a:r>
              <a:rPr sz="1500" b="0">
                <a:solidFill>
                  <a:srgbClr val="12315B"/>
                </a:solidFill>
              </a:rPr>
              <a:t>│  ├─ transactions/</a:t>
            </a:r>
          </a:p>
          <a:p>
            <a:pPr algn="l">
              <a:buNone/>
              <a:defRPr sz="1425" b="0">
                <a:solidFill>
                  <a:srgbClr val="12315B"/>
                </a:solidFill>
              </a:defRPr>
            </a:pPr>
            <a:r>
              <a:rPr sz="1500" b="0">
                <a:solidFill>
                  <a:srgbClr val="12315B"/>
                </a:solidFill>
              </a:rPr>
              <a:t>│  ├─ accounts/</a:t>
            </a:r>
          </a:p>
          <a:p>
            <a:pPr algn="l">
              <a:buNone/>
              <a:defRPr sz="1425" b="0">
                <a:solidFill>
                  <a:srgbClr val="12315B"/>
                </a:solidFill>
              </a:defRPr>
            </a:pPr>
            <a:r>
              <a:rPr sz="1500" b="0">
                <a:solidFill>
                  <a:srgbClr val="12315B"/>
                </a:solidFill>
              </a:rPr>
              <a:t>│  └─ patterns/</a:t>
            </a:r>
          </a:p>
          <a:p>
            <a:pPr algn="l">
              <a:buNone/>
              <a:defRPr sz="1425" b="0">
                <a:solidFill>
                  <a:srgbClr val="12315B"/>
                </a:solidFill>
              </a:defRPr>
            </a:pPr>
            <a:r>
              <a:rPr sz="1500" b="0">
                <a:solidFill>
                  <a:srgbClr val="12315B"/>
                </a:solidFill>
              </a:rPr>
              <a:t>├─ curated/</a:t>
            </a:r>
          </a:p>
          <a:p>
            <a:pPr algn="l">
              <a:buNone/>
              <a:defRPr sz="1425" b="0">
                <a:solidFill>
                  <a:srgbClr val="12315B"/>
                </a:solidFill>
              </a:defRPr>
            </a:pPr>
            <a:r>
              <a:rPr sz="1500" b="0">
                <a:solidFill>
                  <a:srgbClr val="12315B"/>
                </a:solidFill>
              </a:rPr>
              <a:t>│  ├─ fact_transaction/</a:t>
            </a:r>
          </a:p>
          <a:p>
            <a:pPr algn="l">
              <a:buNone/>
              <a:defRPr sz="1425" b="0">
                <a:solidFill>
                  <a:srgbClr val="12315B"/>
                </a:solidFill>
              </a:defRPr>
            </a:pPr>
            <a:r>
              <a:rPr sz="1500" b="0">
                <a:solidFill>
                  <a:srgbClr val="12315B"/>
                </a:solidFill>
              </a:rPr>
              <a:t>│  ├─ dim_account/</a:t>
            </a:r>
          </a:p>
          <a:p>
            <a:pPr algn="l">
              <a:buNone/>
              <a:defRPr sz="1425" b="0">
                <a:solidFill>
                  <a:srgbClr val="12315B"/>
                </a:solidFill>
              </a:defRPr>
            </a:pPr>
            <a:r>
              <a:rPr sz="1500" b="0">
                <a:solidFill>
                  <a:srgbClr val="12315B"/>
                </a:solidFill>
              </a:rPr>
              <a:t>│  └─ fact_pattern_transaction/</a:t>
            </a:r>
          </a:p>
          <a:p>
            <a:pPr algn="l">
              <a:buNone/>
              <a:defRPr sz="1425" b="0">
                <a:solidFill>
                  <a:srgbClr val="12315B"/>
                </a:solidFill>
              </a:defRPr>
            </a:pPr>
            <a:r>
              <a:rPr sz="1500" b="0">
                <a:solidFill>
                  <a:srgbClr val="12315B"/>
                </a:solidFill>
              </a:rPr>
              <a:t>├─ temporary/</a:t>
            </a:r>
          </a:p>
          <a:p>
            <a:pPr algn="l">
              <a:buNone/>
              <a:defRPr sz="1425" b="0">
                <a:solidFill>
                  <a:srgbClr val="12315B"/>
                </a:solidFill>
              </a:defRPr>
            </a:pPr>
            <a:r>
              <a:rPr sz="1500" b="0">
                <a:solidFill>
                  <a:srgbClr val="12315B"/>
                </a:solidFill>
              </a:rPr>
              <a:t>└─ athena-results/</a:t>
            </a:r>
          </a:p>
        </p:txBody>
      </p:sp>
      <p:sp>
        <p:nvSpPr>
          <p:cNvPr id="8" name="Rectangle 7">
            <a:extLst>
              <a:ext uri="{FF2B5EF4-FFF2-40B4-BE49-F238E27FC236}">
                <a16:creationId xmlns:a16="http://schemas.microsoft.com/office/drawing/2014/main" id="{80FF5094-6BDB-48AB-9D10-A5B76A0856A4}"/>
              </a:ext>
            </a:extLst>
          </p:cNvPr>
          <p:cNvSpPr>
            <a:spLocks noGrp="1"/>
          </p:cNvSpPr>
          <p:nvPr/>
        </p:nvSpPr>
        <p:spPr>
          <a:xfrm>
            <a:off x="6305550" y="1790700"/>
            <a:ext cx="4095750" cy="323850"/>
          </a:xfrm>
          <a:prstGeom prst="rect">
            <a:avLst/>
          </a:prstGeom>
          <a:noFill/>
          <a:ln w="0">
            <a:noFill/>
            <a:prstDash val="solid"/>
          </a:ln>
        </p:spPr>
        <p:txBody>
          <a:bodyPr/>
          <a:lstStyle/>
          <a:p>
            <a:pPr algn="l">
              <a:buNone/>
              <a:defRPr sz="2025" b="1">
                <a:solidFill>
                  <a:srgbClr val="12315B"/>
                </a:solidFill>
              </a:defRPr>
            </a:pPr>
            <a:r>
              <a:rPr sz="2025" b="1">
                <a:solidFill>
                  <a:srgbClr val="12315B"/>
                </a:solidFill>
              </a:rPr>
              <a:t>Ba nguyên tắc thiết kế</a:t>
            </a:r>
          </a:p>
        </p:txBody>
      </p:sp>
      <p:sp>
        <p:nvSpPr>
          <p:cNvPr id="9" name="Rounded Rectangle 8">
            <a:extLst>
              <a:ext uri="{FF2B5EF4-FFF2-40B4-BE49-F238E27FC236}">
                <a16:creationId xmlns:a16="http://schemas.microsoft.com/office/drawing/2014/main" id="{B267B557-4EE0-4810-BC77-2CCC8B4BCA65}"/>
              </a:ext>
            </a:extLst>
          </p:cNvPr>
          <p:cNvSpPr>
            <a:spLocks noGrp="1"/>
          </p:cNvSpPr>
          <p:nvPr/>
        </p:nvSpPr>
        <p:spPr>
          <a:xfrm>
            <a:off x="6324600" y="2371725"/>
            <a:ext cx="1790700" cy="323850"/>
          </a:xfrm>
          <a:prstGeom prst="roundRect">
            <a:avLst>
              <a:gd name="adj" fmla="val 35294"/>
            </a:avLst>
          </a:prstGeom>
          <a:solidFill>
            <a:srgbClr val="FFF3DD"/>
          </a:solidFill>
          <a:ln w="9525">
            <a:solidFill>
              <a:srgbClr val="FFF3DD"/>
            </a:solidFill>
            <a:prstDash val="solid"/>
          </a:ln>
        </p:spPr>
        <p:txBody>
          <a:bodyPr/>
          <a:lstStyle/>
          <a:p>
            <a:endParaRPr lang="en-US"/>
          </a:p>
        </p:txBody>
      </p:sp>
      <p:sp>
        <p:nvSpPr>
          <p:cNvPr id="10" name="Rectangle 9">
            <a:extLst>
              <a:ext uri="{FF2B5EF4-FFF2-40B4-BE49-F238E27FC236}">
                <a16:creationId xmlns:a16="http://schemas.microsoft.com/office/drawing/2014/main" id="{79BABC86-DDB8-4DCC-904C-4F2C4025C138}"/>
              </a:ext>
            </a:extLst>
          </p:cNvPr>
          <p:cNvSpPr>
            <a:spLocks noGrp="1"/>
          </p:cNvSpPr>
          <p:nvPr/>
        </p:nvSpPr>
        <p:spPr>
          <a:xfrm>
            <a:off x="6438902" y="2419350"/>
            <a:ext cx="1638300" cy="190500"/>
          </a:xfrm>
          <a:prstGeom prst="rect">
            <a:avLst/>
          </a:prstGeom>
          <a:noFill/>
          <a:ln w="0">
            <a:noFill/>
            <a:prstDash val="solid"/>
          </a:ln>
        </p:spPr>
        <p:txBody>
          <a:bodyPr/>
          <a:lstStyle/>
          <a:p>
            <a:pPr algn="ctr">
              <a:buNone/>
              <a:defRPr sz="1125" b="1">
                <a:solidFill>
                  <a:srgbClr val="FF9900"/>
                </a:solidFill>
              </a:defRPr>
            </a:pPr>
            <a:r>
              <a:rPr sz="1200" b="1">
                <a:solidFill>
                  <a:srgbClr val="FF9900"/>
                </a:solidFill>
              </a:rPr>
              <a:t>RAW BẤT BIẾN</a:t>
            </a:r>
          </a:p>
        </p:txBody>
      </p:sp>
      <p:sp>
        <p:nvSpPr>
          <p:cNvPr id="11" name="Rectangle 10">
            <a:extLst>
              <a:ext uri="{FF2B5EF4-FFF2-40B4-BE49-F238E27FC236}">
                <a16:creationId xmlns:a16="http://schemas.microsoft.com/office/drawing/2014/main" id="{440CD2D4-7DA6-417B-BA28-27FC36702DB5}"/>
              </a:ext>
            </a:extLst>
          </p:cNvPr>
          <p:cNvSpPr>
            <a:spLocks noGrp="1"/>
          </p:cNvSpPr>
          <p:nvPr/>
        </p:nvSpPr>
        <p:spPr>
          <a:xfrm>
            <a:off x="8315325" y="2390775"/>
            <a:ext cx="3067050" cy="619125"/>
          </a:xfrm>
          <a:prstGeom prst="rect">
            <a:avLst/>
          </a:prstGeom>
          <a:noFill/>
          <a:ln w="0">
            <a:noFill/>
            <a:prstDash val="solid"/>
          </a:ln>
        </p:spPr>
        <p:txBody>
          <a:bodyPr/>
          <a:lstStyle/>
          <a:p>
            <a:pPr algn="l">
              <a:buNone/>
              <a:defRPr sz="1500" b="1">
                <a:solidFill>
                  <a:srgbClr val="12315B"/>
                </a:solidFill>
              </a:defRPr>
            </a:pPr>
            <a:r>
              <a:rPr sz="1500" b="1">
                <a:solidFill>
                  <a:srgbClr val="12315B"/>
                </a:solidFill>
              </a:rPr>
              <a:t>Không sửa file sau upload</a:t>
            </a:r>
            <a:endParaRPr lang="vi-VN" sz="1500" b="1">
              <a:solidFill>
                <a:srgbClr val="12315B"/>
              </a:solidFill>
            </a:endParaRPr>
          </a:p>
          <a:p>
            <a:pPr algn="l">
              <a:buNone/>
              <a:defRPr sz="1500" b="1">
                <a:solidFill>
                  <a:srgbClr val="12315B"/>
                </a:solidFill>
              </a:defRPr>
            </a:pPr>
            <a:r>
              <a:rPr lang="en-US" sz="1500" b="1">
                <a:solidFill>
                  <a:srgbClr val="12315B"/>
                </a:solidFill>
              </a:rPr>
              <a:t>G</a:t>
            </a:r>
            <a:r>
              <a:rPr sz="1500" b="1">
                <a:solidFill>
                  <a:srgbClr val="12315B"/>
                </a:solidFill>
              </a:rPr>
              <a:t>iữ checksum và load batch</a:t>
            </a:r>
          </a:p>
        </p:txBody>
      </p:sp>
      <p:sp>
        <p:nvSpPr>
          <p:cNvPr id="12" name="Rounded Rectangle 11">
            <a:extLst>
              <a:ext uri="{FF2B5EF4-FFF2-40B4-BE49-F238E27FC236}">
                <a16:creationId xmlns:a16="http://schemas.microsoft.com/office/drawing/2014/main" id="{0B90A782-5BCF-4BB4-B82C-A095B2BA5204}"/>
              </a:ext>
            </a:extLst>
          </p:cNvPr>
          <p:cNvSpPr>
            <a:spLocks noGrp="1"/>
          </p:cNvSpPr>
          <p:nvPr/>
        </p:nvSpPr>
        <p:spPr>
          <a:xfrm>
            <a:off x="6324600" y="3438525"/>
            <a:ext cx="17907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13" name="Rectangle 12">
            <a:extLst>
              <a:ext uri="{FF2B5EF4-FFF2-40B4-BE49-F238E27FC236}">
                <a16:creationId xmlns:a16="http://schemas.microsoft.com/office/drawing/2014/main" id="{1B114339-C8A9-4955-911A-CBA731DA7FE7}"/>
              </a:ext>
            </a:extLst>
          </p:cNvPr>
          <p:cNvSpPr>
            <a:spLocks noGrp="1"/>
          </p:cNvSpPr>
          <p:nvPr/>
        </p:nvSpPr>
        <p:spPr>
          <a:xfrm>
            <a:off x="6438902" y="3486150"/>
            <a:ext cx="1638300" cy="190500"/>
          </a:xfrm>
          <a:prstGeom prst="rect">
            <a:avLst/>
          </a:prstGeom>
          <a:noFill/>
          <a:ln w="0">
            <a:noFill/>
            <a:prstDash val="solid"/>
          </a:ln>
        </p:spPr>
        <p:txBody>
          <a:bodyPr/>
          <a:lstStyle/>
          <a:p>
            <a:pPr algn="ctr">
              <a:buNone/>
              <a:defRPr sz="1125" b="1">
                <a:solidFill>
                  <a:srgbClr val="2563EB"/>
                </a:solidFill>
              </a:defRPr>
            </a:pPr>
            <a:r>
              <a:rPr sz="1200" b="1">
                <a:solidFill>
                  <a:srgbClr val="2563EB"/>
                </a:solidFill>
              </a:rPr>
              <a:t>SCHEMA TÁCH RIÊNG</a:t>
            </a:r>
          </a:p>
        </p:txBody>
      </p:sp>
      <p:sp>
        <p:nvSpPr>
          <p:cNvPr id="14" name="Rectangle 13">
            <a:extLst>
              <a:ext uri="{FF2B5EF4-FFF2-40B4-BE49-F238E27FC236}">
                <a16:creationId xmlns:a16="http://schemas.microsoft.com/office/drawing/2014/main" id="{011D052E-EB3E-43EF-ABAC-6BE13268305C}"/>
              </a:ext>
            </a:extLst>
          </p:cNvPr>
          <p:cNvSpPr>
            <a:spLocks noGrp="1"/>
          </p:cNvSpPr>
          <p:nvPr/>
        </p:nvSpPr>
        <p:spPr>
          <a:xfrm>
            <a:off x="8315325" y="3457575"/>
            <a:ext cx="3067050" cy="619125"/>
          </a:xfrm>
          <a:prstGeom prst="rect">
            <a:avLst/>
          </a:prstGeom>
          <a:noFill/>
          <a:ln w="0">
            <a:noFill/>
            <a:prstDash val="solid"/>
          </a:ln>
        </p:spPr>
        <p:txBody>
          <a:bodyPr/>
          <a:lstStyle/>
          <a:p>
            <a:pPr algn="l">
              <a:buNone/>
              <a:defRPr sz="1500" b="1">
                <a:solidFill>
                  <a:srgbClr val="12315B"/>
                </a:solidFill>
              </a:defRPr>
            </a:pPr>
            <a:r>
              <a:rPr sz="1500" b="1">
                <a:solidFill>
                  <a:srgbClr val="12315B"/>
                </a:solidFill>
              </a:rPr>
              <a:t>Mỗi loại dữ liệu có prefix riêng</a:t>
            </a:r>
            <a:endParaRPr lang="vi-VN" sz="1500" b="1">
              <a:solidFill>
                <a:srgbClr val="12315B"/>
              </a:solidFill>
            </a:endParaRPr>
          </a:p>
          <a:p>
            <a:pPr algn="l">
              <a:buNone/>
              <a:defRPr sz="1500" b="1">
                <a:solidFill>
                  <a:srgbClr val="12315B"/>
                </a:solidFill>
              </a:defRPr>
            </a:pPr>
            <a:r>
              <a:rPr sz="1500" b="1">
                <a:solidFill>
                  <a:srgbClr val="12315B"/>
                </a:solidFill>
              </a:rPr>
              <a:t>để crawler không gộp sai bảng</a:t>
            </a:r>
          </a:p>
        </p:txBody>
      </p:sp>
      <p:sp>
        <p:nvSpPr>
          <p:cNvPr id="15" name="Rounded Rectangle 14">
            <a:extLst>
              <a:ext uri="{FF2B5EF4-FFF2-40B4-BE49-F238E27FC236}">
                <a16:creationId xmlns:a16="http://schemas.microsoft.com/office/drawing/2014/main" id="{28FA7B6F-8194-4E51-B632-726D35F18413}"/>
              </a:ext>
            </a:extLst>
          </p:cNvPr>
          <p:cNvSpPr>
            <a:spLocks noGrp="1"/>
          </p:cNvSpPr>
          <p:nvPr/>
        </p:nvSpPr>
        <p:spPr>
          <a:xfrm>
            <a:off x="6324600" y="4505325"/>
            <a:ext cx="179070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16" name="Rectangle 15">
            <a:extLst>
              <a:ext uri="{FF2B5EF4-FFF2-40B4-BE49-F238E27FC236}">
                <a16:creationId xmlns:a16="http://schemas.microsoft.com/office/drawing/2014/main" id="{5CF01A5A-E096-48D3-94D8-7F42FFFBBDCB}"/>
              </a:ext>
            </a:extLst>
          </p:cNvPr>
          <p:cNvSpPr>
            <a:spLocks noGrp="1"/>
          </p:cNvSpPr>
          <p:nvPr/>
        </p:nvSpPr>
        <p:spPr>
          <a:xfrm>
            <a:off x="6438902" y="4552950"/>
            <a:ext cx="1638300" cy="190500"/>
          </a:xfrm>
          <a:prstGeom prst="rect">
            <a:avLst/>
          </a:prstGeom>
          <a:noFill/>
          <a:ln w="0">
            <a:noFill/>
            <a:prstDash val="solid"/>
          </a:ln>
        </p:spPr>
        <p:txBody>
          <a:bodyPr/>
          <a:lstStyle/>
          <a:p>
            <a:pPr algn="ctr">
              <a:buNone/>
              <a:defRPr sz="1125" b="1">
                <a:solidFill>
                  <a:srgbClr val="0F766E"/>
                </a:solidFill>
              </a:defRPr>
            </a:pPr>
            <a:r>
              <a:rPr sz="1200" b="1">
                <a:solidFill>
                  <a:srgbClr val="0F766E"/>
                </a:solidFill>
              </a:rPr>
              <a:t>CURATED TỐI ƯU</a:t>
            </a:r>
          </a:p>
        </p:txBody>
      </p:sp>
      <p:sp>
        <p:nvSpPr>
          <p:cNvPr id="17" name="Rectangle 16">
            <a:extLst>
              <a:ext uri="{FF2B5EF4-FFF2-40B4-BE49-F238E27FC236}">
                <a16:creationId xmlns:a16="http://schemas.microsoft.com/office/drawing/2014/main" id="{2F72D1DE-C6AF-485F-A67D-0DA79BFEC74A}"/>
              </a:ext>
            </a:extLst>
          </p:cNvPr>
          <p:cNvSpPr>
            <a:spLocks noGrp="1"/>
          </p:cNvSpPr>
          <p:nvPr/>
        </p:nvSpPr>
        <p:spPr>
          <a:xfrm>
            <a:off x="8315325" y="4524375"/>
            <a:ext cx="3067050" cy="619125"/>
          </a:xfrm>
          <a:prstGeom prst="rect">
            <a:avLst/>
          </a:prstGeom>
          <a:noFill/>
          <a:ln w="0">
            <a:noFill/>
            <a:prstDash val="solid"/>
          </a:ln>
        </p:spPr>
        <p:txBody>
          <a:bodyPr/>
          <a:lstStyle/>
          <a:p>
            <a:pPr algn="l">
              <a:buNone/>
              <a:defRPr sz="1500" b="1">
                <a:solidFill>
                  <a:srgbClr val="12315B"/>
                </a:solidFill>
              </a:defRPr>
            </a:pPr>
            <a:r>
              <a:rPr sz="1500" b="1">
                <a:solidFill>
                  <a:srgbClr val="12315B"/>
                </a:solidFill>
              </a:rPr>
              <a:t>Parquet + Snappy + partition</a:t>
            </a:r>
            <a:endParaRPr lang="vi-VN" sz="1500" b="1">
              <a:solidFill>
                <a:srgbClr val="12315B"/>
              </a:solidFill>
            </a:endParaRPr>
          </a:p>
          <a:p>
            <a:pPr algn="l">
              <a:buNone/>
              <a:defRPr sz="1500" b="1">
                <a:solidFill>
                  <a:srgbClr val="12315B"/>
                </a:solidFill>
              </a:defRPr>
            </a:pPr>
            <a:r>
              <a:rPr sz="1500" b="1">
                <a:solidFill>
                  <a:srgbClr val="12315B"/>
                </a:solidFill>
              </a:rPr>
              <a:t>theo transaction_date</a:t>
            </a:r>
          </a:p>
        </p:txBody>
      </p:sp>
      <p:sp>
        <p:nvSpPr>
          <p:cNvPr id="18" name="Rounded Rectangle 17">
            <a:extLst>
              <a:ext uri="{FF2B5EF4-FFF2-40B4-BE49-F238E27FC236}">
                <a16:creationId xmlns:a16="http://schemas.microsoft.com/office/drawing/2014/main" id="{20A4858F-1B81-4707-8407-9906EF2B4C64}"/>
              </a:ext>
            </a:extLst>
          </p:cNvPr>
          <p:cNvSpPr>
            <a:spLocks noGrp="1"/>
          </p:cNvSpPr>
          <p:nvPr/>
        </p:nvSpPr>
        <p:spPr>
          <a:xfrm>
            <a:off x="6305550" y="5524500"/>
            <a:ext cx="5086350" cy="466725"/>
          </a:xfrm>
          <a:prstGeom prst="roundRect">
            <a:avLst>
              <a:gd name="adj" fmla="val 24490"/>
            </a:avLst>
          </a:prstGeom>
          <a:solidFill>
            <a:srgbClr val="FBEAEC"/>
          </a:solidFill>
          <a:ln w="9525">
            <a:solidFill>
              <a:srgbClr val="EAB3BA"/>
            </a:solidFill>
            <a:prstDash val="solid"/>
          </a:ln>
        </p:spPr>
        <p:txBody>
          <a:bodyPr/>
          <a:lstStyle/>
          <a:p>
            <a:endParaRPr lang="en-US"/>
          </a:p>
        </p:txBody>
      </p:sp>
      <p:sp>
        <p:nvSpPr>
          <p:cNvPr id="19" name="Rectangle 18">
            <a:extLst>
              <a:ext uri="{FF2B5EF4-FFF2-40B4-BE49-F238E27FC236}">
                <a16:creationId xmlns:a16="http://schemas.microsoft.com/office/drawing/2014/main" id="{56EB18D2-CFC5-43ED-AEAF-C4E07EA0C6F2}"/>
              </a:ext>
            </a:extLst>
          </p:cNvPr>
          <p:cNvSpPr>
            <a:spLocks noGrp="1"/>
          </p:cNvSpPr>
          <p:nvPr/>
        </p:nvSpPr>
        <p:spPr>
          <a:xfrm>
            <a:off x="6971656" y="5591175"/>
            <a:ext cx="3754137" cy="228600"/>
          </a:xfrm>
          <a:prstGeom prst="rect">
            <a:avLst/>
          </a:prstGeom>
          <a:noFill/>
          <a:ln w="0">
            <a:noFill/>
            <a:prstDash val="solid"/>
          </a:ln>
        </p:spPr>
        <p:txBody>
          <a:bodyPr/>
          <a:lstStyle/>
          <a:p>
            <a:pPr algn="l">
              <a:buNone/>
              <a:defRPr sz="1275" b="1">
                <a:solidFill>
                  <a:srgbClr val="C83E4D"/>
                </a:solidFill>
              </a:defRPr>
            </a:pPr>
            <a:r>
              <a:rPr sz="1400" b="1">
                <a:solidFill>
                  <a:srgbClr val="C83E4D"/>
                </a:solidFill>
              </a:rPr>
              <a:t>Không public bucket</a:t>
            </a:r>
            <a:r>
              <a:rPr lang="vi-VN" sz="1400" b="1">
                <a:solidFill>
                  <a:srgbClr val="C83E4D"/>
                </a:solidFill>
              </a:rPr>
              <a:t>, </a:t>
            </a:r>
            <a:r>
              <a:rPr sz="1400" b="1">
                <a:solidFill>
                  <a:srgbClr val="C83E4D"/>
                </a:solidFill>
              </a:rPr>
              <a:t>giữ Block Public Access bật</a:t>
            </a:r>
          </a:p>
        </p:txBody>
      </p:sp>
      <p:sp>
        <p:nvSpPr>
          <p:cNvPr id="21" name="Rectangle 20">
            <a:extLst>
              <a:ext uri="{FF2B5EF4-FFF2-40B4-BE49-F238E27FC236}">
                <a16:creationId xmlns:a16="http://schemas.microsoft.com/office/drawing/2014/main" id="{F23DA52D-219C-4E6B-9E46-225EC733C991}"/>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9/17</a:t>
            </a:r>
          </a:p>
        </p:txBody>
      </p:sp>
    </p:spTree>
    <p:extLst>
      <p:ext uri="{BB962C8B-B14F-4D97-AF65-F5344CB8AC3E}">
        <p14:creationId xmlns:p14="http://schemas.microsoft.com/office/powerpoint/2010/main" val="287999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9A78211C-D6C5-49AC-A60C-9075845A9D5F}"/>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Glue Catalog chuẩn hóa schema trên S3</a:t>
            </a:r>
          </a:p>
        </p:txBody>
      </p:sp>
      <p:sp>
        <p:nvSpPr>
          <p:cNvPr id="2" name="Rectangle 1">
            <a:extLst>
              <a:ext uri="{FF2B5EF4-FFF2-40B4-BE49-F238E27FC236}">
                <a16:creationId xmlns:a16="http://schemas.microsoft.com/office/drawing/2014/main" id="{485D844B-E8ED-48DA-AEE6-51BBA2092238}"/>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Crawler khám phá cấu trúc</a:t>
            </a:r>
            <a:r>
              <a:rPr lang="vi-VN" sz="1650" b="0">
                <a:solidFill>
                  <a:srgbClr val="5C7291"/>
                </a:solidFill>
              </a:rPr>
              <a:t>,</a:t>
            </a:r>
            <a:r>
              <a:rPr sz="1650" b="0">
                <a:solidFill>
                  <a:srgbClr val="5C7291"/>
                </a:solidFill>
              </a:rPr>
              <a:t> Catalog phục vụ ETL và Athena</a:t>
            </a:r>
          </a:p>
        </p:txBody>
      </p:sp>
      <p:sp>
        <p:nvSpPr>
          <p:cNvPr id="3" name="Rectangle 2">
            <a:extLst>
              <a:ext uri="{FF2B5EF4-FFF2-40B4-BE49-F238E27FC236}">
                <a16:creationId xmlns:a16="http://schemas.microsoft.com/office/drawing/2014/main" id="{7E2E0C49-D517-48EA-8590-027F26CE710C}"/>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283A9005-4C50-474B-AC14-0F9528284572}"/>
              </a:ext>
            </a:extLst>
          </p:cNvPr>
          <p:cNvSpPr>
            <a:spLocks noGrp="1"/>
          </p:cNvSpPr>
          <p:nvPr/>
        </p:nvSpPr>
        <p:spPr>
          <a:xfrm>
            <a:off x="628650" y="1752600"/>
            <a:ext cx="3429000" cy="3657600"/>
          </a:xfrm>
          <a:prstGeom prst="roundRect">
            <a:avLst>
              <a:gd name="adj" fmla="val 4444"/>
            </a:avLst>
          </a:prstGeom>
          <a:solidFill>
            <a:srgbClr val="FFFFFF"/>
          </a:solidFill>
          <a:ln w="9525">
            <a:solidFill>
              <a:srgbClr val="D7E0EA"/>
            </a:solidFill>
            <a:prstDash val="solid"/>
          </a:ln>
        </p:spPr>
        <p:txBody>
          <a:bodyPr/>
          <a:lstStyle/>
          <a:p>
            <a:endParaRPr lang="en-US"/>
          </a:p>
        </p:txBody>
      </p:sp>
      <p:sp>
        <p:nvSpPr>
          <p:cNvPr id="6" name="Rectangle 5">
            <a:extLst>
              <a:ext uri="{FF2B5EF4-FFF2-40B4-BE49-F238E27FC236}">
                <a16:creationId xmlns:a16="http://schemas.microsoft.com/office/drawing/2014/main" id="{FFA18787-011C-4A18-AB08-A4B94C88B0F7}"/>
              </a:ext>
            </a:extLst>
          </p:cNvPr>
          <p:cNvSpPr>
            <a:spLocks noGrp="1"/>
          </p:cNvSpPr>
          <p:nvPr/>
        </p:nvSpPr>
        <p:spPr>
          <a:xfrm>
            <a:off x="933450" y="2076450"/>
            <a:ext cx="2781300" cy="266700"/>
          </a:xfrm>
          <a:prstGeom prst="rect">
            <a:avLst/>
          </a:prstGeom>
          <a:noFill/>
          <a:ln w="0">
            <a:noFill/>
            <a:prstDash val="solid"/>
          </a:ln>
        </p:spPr>
        <p:txBody>
          <a:bodyPr/>
          <a:lstStyle/>
          <a:p>
            <a:pPr algn="l">
              <a:buNone/>
              <a:defRPr sz="1275" b="1">
                <a:solidFill>
                  <a:srgbClr val="2563EB"/>
                </a:solidFill>
              </a:defRPr>
            </a:pPr>
            <a:r>
              <a:rPr sz="1600" b="1">
                <a:solidFill>
                  <a:srgbClr val="2563EB"/>
                </a:solidFill>
              </a:rPr>
              <a:t>3 include paths</a:t>
            </a:r>
          </a:p>
        </p:txBody>
      </p:sp>
      <p:sp>
        <p:nvSpPr>
          <p:cNvPr id="7" name="Rounded Rectangle 6">
            <a:extLst>
              <a:ext uri="{FF2B5EF4-FFF2-40B4-BE49-F238E27FC236}">
                <a16:creationId xmlns:a16="http://schemas.microsoft.com/office/drawing/2014/main" id="{F1722928-1A11-46C5-B6BD-12695CAE375A}"/>
              </a:ext>
            </a:extLst>
          </p:cNvPr>
          <p:cNvSpPr>
            <a:spLocks noGrp="1"/>
          </p:cNvSpPr>
          <p:nvPr/>
        </p:nvSpPr>
        <p:spPr>
          <a:xfrm>
            <a:off x="933450" y="2590800"/>
            <a:ext cx="27813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8" name="Rectangle 7">
            <a:extLst>
              <a:ext uri="{FF2B5EF4-FFF2-40B4-BE49-F238E27FC236}">
                <a16:creationId xmlns:a16="http://schemas.microsoft.com/office/drawing/2014/main" id="{52B3CB3E-92C1-4FFD-BB63-A0DF97B05CB5}"/>
              </a:ext>
            </a:extLst>
          </p:cNvPr>
          <p:cNvSpPr>
            <a:spLocks noGrp="1"/>
          </p:cNvSpPr>
          <p:nvPr/>
        </p:nvSpPr>
        <p:spPr>
          <a:xfrm>
            <a:off x="1009650" y="2657475"/>
            <a:ext cx="2628900" cy="190500"/>
          </a:xfrm>
          <a:prstGeom prst="rect">
            <a:avLst/>
          </a:prstGeom>
          <a:noFill/>
          <a:ln w="0">
            <a:noFill/>
            <a:prstDash val="solid"/>
          </a:ln>
        </p:spPr>
        <p:txBody>
          <a:bodyPr/>
          <a:lstStyle/>
          <a:p>
            <a:pPr algn="ctr">
              <a:buNone/>
              <a:defRPr sz="1125" b="1">
                <a:solidFill>
                  <a:srgbClr val="2563EB"/>
                </a:solidFill>
              </a:defRPr>
            </a:pPr>
            <a:r>
              <a:rPr sz="1400" b="1">
                <a:solidFill>
                  <a:srgbClr val="2563EB"/>
                </a:solidFill>
              </a:rPr>
              <a:t>raw/accounts/</a:t>
            </a:r>
          </a:p>
        </p:txBody>
      </p:sp>
      <p:sp>
        <p:nvSpPr>
          <p:cNvPr id="9" name="Rounded Rectangle 8">
            <a:extLst>
              <a:ext uri="{FF2B5EF4-FFF2-40B4-BE49-F238E27FC236}">
                <a16:creationId xmlns:a16="http://schemas.microsoft.com/office/drawing/2014/main" id="{6422B6AA-A135-4E99-B6FB-A16F3AD834F0}"/>
              </a:ext>
            </a:extLst>
          </p:cNvPr>
          <p:cNvSpPr>
            <a:spLocks noGrp="1"/>
          </p:cNvSpPr>
          <p:nvPr/>
        </p:nvSpPr>
        <p:spPr>
          <a:xfrm>
            <a:off x="933450" y="3190875"/>
            <a:ext cx="27813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10" name="Rectangle 9">
            <a:extLst>
              <a:ext uri="{FF2B5EF4-FFF2-40B4-BE49-F238E27FC236}">
                <a16:creationId xmlns:a16="http://schemas.microsoft.com/office/drawing/2014/main" id="{FC748A57-4F2A-4440-B172-476973834FC5}"/>
              </a:ext>
            </a:extLst>
          </p:cNvPr>
          <p:cNvSpPr>
            <a:spLocks noGrp="1"/>
          </p:cNvSpPr>
          <p:nvPr/>
        </p:nvSpPr>
        <p:spPr>
          <a:xfrm>
            <a:off x="1009650" y="3257550"/>
            <a:ext cx="2628900" cy="190500"/>
          </a:xfrm>
          <a:prstGeom prst="rect">
            <a:avLst/>
          </a:prstGeom>
          <a:noFill/>
          <a:ln w="0">
            <a:noFill/>
            <a:prstDash val="solid"/>
          </a:ln>
        </p:spPr>
        <p:txBody>
          <a:bodyPr/>
          <a:lstStyle/>
          <a:p>
            <a:pPr algn="ctr">
              <a:buNone/>
              <a:defRPr sz="1125" b="1">
                <a:solidFill>
                  <a:srgbClr val="2563EB"/>
                </a:solidFill>
              </a:defRPr>
            </a:pPr>
            <a:r>
              <a:rPr sz="1400" b="1">
                <a:solidFill>
                  <a:srgbClr val="2563EB"/>
                </a:solidFill>
              </a:rPr>
              <a:t>raw/patterns/</a:t>
            </a:r>
          </a:p>
        </p:txBody>
      </p:sp>
      <p:sp>
        <p:nvSpPr>
          <p:cNvPr id="11" name="Rounded Rectangle 10">
            <a:extLst>
              <a:ext uri="{FF2B5EF4-FFF2-40B4-BE49-F238E27FC236}">
                <a16:creationId xmlns:a16="http://schemas.microsoft.com/office/drawing/2014/main" id="{5ABBAA73-D7F2-410B-BEE4-77A458C0FAC7}"/>
              </a:ext>
            </a:extLst>
          </p:cNvPr>
          <p:cNvSpPr>
            <a:spLocks noGrp="1"/>
          </p:cNvSpPr>
          <p:nvPr/>
        </p:nvSpPr>
        <p:spPr>
          <a:xfrm>
            <a:off x="933450" y="3790950"/>
            <a:ext cx="27813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12" name="Rectangle 11">
            <a:extLst>
              <a:ext uri="{FF2B5EF4-FFF2-40B4-BE49-F238E27FC236}">
                <a16:creationId xmlns:a16="http://schemas.microsoft.com/office/drawing/2014/main" id="{8B07EF42-603B-413C-9834-CA9124DB31A1}"/>
              </a:ext>
            </a:extLst>
          </p:cNvPr>
          <p:cNvSpPr>
            <a:spLocks noGrp="1"/>
          </p:cNvSpPr>
          <p:nvPr/>
        </p:nvSpPr>
        <p:spPr>
          <a:xfrm>
            <a:off x="1009650" y="3857625"/>
            <a:ext cx="2628900" cy="190500"/>
          </a:xfrm>
          <a:prstGeom prst="rect">
            <a:avLst/>
          </a:prstGeom>
          <a:noFill/>
          <a:ln w="0">
            <a:noFill/>
            <a:prstDash val="solid"/>
          </a:ln>
        </p:spPr>
        <p:txBody>
          <a:bodyPr/>
          <a:lstStyle/>
          <a:p>
            <a:pPr algn="ctr">
              <a:buNone/>
              <a:defRPr sz="1125" b="1">
                <a:solidFill>
                  <a:srgbClr val="2563EB"/>
                </a:solidFill>
              </a:defRPr>
            </a:pPr>
            <a:r>
              <a:rPr sz="1400" b="1">
                <a:solidFill>
                  <a:srgbClr val="2563EB"/>
                </a:solidFill>
              </a:rPr>
              <a:t>raw/transactions/</a:t>
            </a:r>
          </a:p>
        </p:txBody>
      </p:sp>
      <p:sp>
        <p:nvSpPr>
          <p:cNvPr id="13" name="Rectangle 12">
            <a:extLst>
              <a:ext uri="{FF2B5EF4-FFF2-40B4-BE49-F238E27FC236}">
                <a16:creationId xmlns:a16="http://schemas.microsoft.com/office/drawing/2014/main" id="{BEF37BC0-33E8-48AA-B0B1-F51D1DB7FA48}"/>
              </a:ext>
            </a:extLst>
          </p:cNvPr>
          <p:cNvSpPr>
            <a:spLocks noGrp="1"/>
          </p:cNvSpPr>
          <p:nvPr/>
        </p:nvSpPr>
        <p:spPr>
          <a:xfrm>
            <a:off x="933450" y="4514850"/>
            <a:ext cx="2941864" cy="685800"/>
          </a:xfrm>
          <a:prstGeom prst="rect">
            <a:avLst/>
          </a:prstGeom>
          <a:noFill/>
          <a:ln w="0">
            <a:noFill/>
            <a:prstDash val="solid"/>
          </a:ln>
        </p:spPr>
        <p:txBody>
          <a:bodyPr/>
          <a:lstStyle/>
          <a:p>
            <a:pPr algn="l">
              <a:buNone/>
              <a:defRPr sz="1500" b="0">
                <a:solidFill>
                  <a:srgbClr val="5C7291"/>
                </a:solidFill>
              </a:defRPr>
            </a:pPr>
            <a:r>
              <a:rPr b="0">
                <a:solidFill>
                  <a:srgbClr val="5C7291"/>
                </a:solidFill>
              </a:rPr>
              <a:t>Crawler đọc header, format và kiểu dữ liệu</a:t>
            </a:r>
            <a:r>
              <a:rPr lang="vi-VN" b="0">
                <a:solidFill>
                  <a:srgbClr val="5C7291"/>
                </a:solidFill>
              </a:rPr>
              <a:t>,</a:t>
            </a:r>
            <a:r>
              <a:rPr b="0">
                <a:solidFill>
                  <a:srgbClr val="5C7291"/>
                </a:solidFill>
              </a:rPr>
              <a:t> không copy dữ liệu khỏi S3</a:t>
            </a:r>
          </a:p>
        </p:txBody>
      </p:sp>
      <p:sp>
        <p:nvSpPr>
          <p:cNvPr id="14" name="Right Arrow 13">
            <a:extLst>
              <a:ext uri="{FF2B5EF4-FFF2-40B4-BE49-F238E27FC236}">
                <a16:creationId xmlns:a16="http://schemas.microsoft.com/office/drawing/2014/main" id="{A4CA6B0B-555E-43F8-9766-176345A40F48}"/>
              </a:ext>
            </a:extLst>
          </p:cNvPr>
          <p:cNvSpPr>
            <a:spLocks noGrp="1"/>
          </p:cNvSpPr>
          <p:nvPr/>
        </p:nvSpPr>
        <p:spPr>
          <a:xfrm>
            <a:off x="4305300" y="3105150"/>
            <a:ext cx="952500" cy="628650"/>
          </a:xfrm>
          <a:prstGeom prst="rightArrow">
            <a:avLst/>
          </a:prstGeom>
          <a:solidFill>
            <a:srgbClr val="FF9900"/>
          </a:solidFill>
          <a:ln w="0">
            <a:solidFill>
              <a:srgbClr val="FF9900"/>
            </a:solidFill>
            <a:prstDash val="solid"/>
          </a:ln>
        </p:spPr>
        <p:txBody>
          <a:bodyPr/>
          <a:lstStyle/>
          <a:p>
            <a:endParaRPr lang="en-US"/>
          </a:p>
        </p:txBody>
      </p:sp>
      <p:sp>
        <p:nvSpPr>
          <p:cNvPr id="15" name="Rounded Rectangle 14">
            <a:extLst>
              <a:ext uri="{FF2B5EF4-FFF2-40B4-BE49-F238E27FC236}">
                <a16:creationId xmlns:a16="http://schemas.microsoft.com/office/drawing/2014/main" id="{0789B8CB-A033-48C6-AAFA-D394AB6AF2BF}"/>
              </a:ext>
            </a:extLst>
          </p:cNvPr>
          <p:cNvSpPr>
            <a:spLocks noGrp="1"/>
          </p:cNvSpPr>
          <p:nvPr/>
        </p:nvSpPr>
        <p:spPr>
          <a:xfrm>
            <a:off x="5553075" y="1752600"/>
            <a:ext cx="5810250" cy="3657600"/>
          </a:xfrm>
          <a:prstGeom prst="roundRect">
            <a:avLst>
              <a:gd name="adj" fmla="val 4167"/>
            </a:avLst>
          </a:prstGeom>
          <a:solidFill>
            <a:srgbClr val="EAF4FF"/>
          </a:solidFill>
          <a:ln w="14288">
            <a:solidFill>
              <a:srgbClr val="BFD2E8"/>
            </a:solidFill>
            <a:prstDash val="solid"/>
          </a:ln>
        </p:spPr>
        <p:txBody>
          <a:bodyPr/>
          <a:lstStyle/>
          <a:p>
            <a:endParaRPr lang="en-US"/>
          </a:p>
        </p:txBody>
      </p:sp>
      <p:sp>
        <p:nvSpPr>
          <p:cNvPr id="16" name="Rectangle 15">
            <a:extLst>
              <a:ext uri="{FF2B5EF4-FFF2-40B4-BE49-F238E27FC236}">
                <a16:creationId xmlns:a16="http://schemas.microsoft.com/office/drawing/2014/main" id="{9D2455DA-F937-41A1-BC38-CDA6F2BA13A3}"/>
              </a:ext>
            </a:extLst>
          </p:cNvPr>
          <p:cNvSpPr>
            <a:spLocks noGrp="1"/>
          </p:cNvSpPr>
          <p:nvPr/>
        </p:nvSpPr>
        <p:spPr>
          <a:xfrm>
            <a:off x="5905500" y="2095500"/>
            <a:ext cx="4857750" cy="323850"/>
          </a:xfrm>
          <a:prstGeom prst="rect">
            <a:avLst/>
          </a:prstGeom>
          <a:noFill/>
          <a:ln w="0">
            <a:noFill/>
            <a:prstDash val="solid"/>
          </a:ln>
        </p:spPr>
        <p:txBody>
          <a:bodyPr/>
          <a:lstStyle/>
          <a:p>
            <a:pPr algn="l">
              <a:buNone/>
              <a:defRPr sz="2025" b="1">
                <a:solidFill>
                  <a:srgbClr val="FF9900"/>
                </a:solidFill>
              </a:defRPr>
            </a:pPr>
            <a:r>
              <a:rPr sz="2400" b="1">
                <a:solidFill>
                  <a:srgbClr val="FF9900"/>
                </a:solidFill>
              </a:rPr>
              <a:t>Glue Data Catalog</a:t>
            </a:r>
          </a:p>
        </p:txBody>
      </p:sp>
      <p:sp>
        <p:nvSpPr>
          <p:cNvPr id="17" name="Rectangle 16">
            <a:extLst>
              <a:ext uri="{FF2B5EF4-FFF2-40B4-BE49-F238E27FC236}">
                <a16:creationId xmlns:a16="http://schemas.microsoft.com/office/drawing/2014/main" id="{8F1FA91E-E4EB-4E13-88EB-65C2846FE36B}"/>
              </a:ext>
            </a:extLst>
          </p:cNvPr>
          <p:cNvSpPr>
            <a:spLocks noGrp="1"/>
          </p:cNvSpPr>
          <p:nvPr/>
        </p:nvSpPr>
        <p:spPr>
          <a:xfrm>
            <a:off x="5905500" y="2609850"/>
            <a:ext cx="4762500" cy="285750"/>
          </a:xfrm>
          <a:prstGeom prst="rect">
            <a:avLst/>
          </a:prstGeom>
          <a:noFill/>
          <a:ln w="0">
            <a:noFill/>
            <a:prstDash val="solid"/>
          </a:ln>
        </p:spPr>
        <p:txBody>
          <a:bodyPr/>
          <a:lstStyle/>
          <a:p>
            <a:pPr algn="l">
              <a:buNone/>
              <a:defRPr sz="1275" b="1">
                <a:solidFill>
                  <a:srgbClr val="12315B"/>
                </a:solidFill>
              </a:defRPr>
            </a:pPr>
            <a:r>
              <a:rPr sz="1400" b="1">
                <a:solidFill>
                  <a:srgbClr val="12315B"/>
                </a:solidFill>
              </a:rPr>
              <a:t>Database: ibm_aml_raw</a:t>
            </a:r>
          </a:p>
        </p:txBody>
      </p:sp>
      <p:sp>
        <p:nvSpPr>
          <p:cNvPr id="18" name="Rectangle 17">
            <a:extLst>
              <a:ext uri="{FF2B5EF4-FFF2-40B4-BE49-F238E27FC236}">
                <a16:creationId xmlns:a16="http://schemas.microsoft.com/office/drawing/2014/main" id="{5784D1D2-6D87-407F-B139-7C1898D6A41A}"/>
              </a:ext>
            </a:extLst>
          </p:cNvPr>
          <p:cNvSpPr>
            <a:spLocks noGrp="1"/>
          </p:cNvSpPr>
          <p:nvPr/>
        </p:nvSpPr>
        <p:spPr>
          <a:xfrm>
            <a:off x="5924550" y="3152775"/>
            <a:ext cx="1371600" cy="257175"/>
          </a:xfrm>
          <a:prstGeom prst="rect">
            <a:avLst/>
          </a:prstGeom>
          <a:noFill/>
          <a:ln w="0">
            <a:noFill/>
            <a:prstDash val="solid"/>
          </a:ln>
        </p:spPr>
        <p:txBody>
          <a:bodyPr/>
          <a:lstStyle/>
          <a:p>
            <a:pPr algn="l">
              <a:buNone/>
              <a:defRPr sz="1500" b="1">
                <a:solidFill>
                  <a:srgbClr val="14B8A6"/>
                </a:solidFill>
              </a:defRPr>
            </a:pPr>
            <a:r>
              <a:rPr sz="1500" b="1">
                <a:solidFill>
                  <a:srgbClr val="14B8A6"/>
                </a:solidFill>
              </a:rPr>
              <a:t>accounts</a:t>
            </a:r>
          </a:p>
        </p:txBody>
      </p:sp>
      <p:sp>
        <p:nvSpPr>
          <p:cNvPr id="19" name="Rectangle 18">
            <a:extLst>
              <a:ext uri="{FF2B5EF4-FFF2-40B4-BE49-F238E27FC236}">
                <a16:creationId xmlns:a16="http://schemas.microsoft.com/office/drawing/2014/main" id="{64335206-D09C-4E72-9CF5-747A7B7D35CC}"/>
              </a:ext>
            </a:extLst>
          </p:cNvPr>
          <p:cNvSpPr>
            <a:spLocks noGrp="1"/>
          </p:cNvSpPr>
          <p:nvPr/>
        </p:nvSpPr>
        <p:spPr>
          <a:xfrm>
            <a:off x="7458075" y="3152775"/>
            <a:ext cx="3457575" cy="40005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bank_id </a:t>
            </a:r>
            <a:r>
              <a:rPr lang="vi-VN" sz="1500" b="0">
                <a:solidFill>
                  <a:srgbClr val="12315B"/>
                </a:solidFill>
              </a:rPr>
              <a:t>-</a:t>
            </a:r>
            <a:r>
              <a:rPr sz="1500" b="0">
                <a:solidFill>
                  <a:srgbClr val="12315B"/>
                </a:solidFill>
              </a:rPr>
              <a:t> account_id </a:t>
            </a:r>
            <a:r>
              <a:rPr lang="vi-VN" sz="1500" b="0">
                <a:solidFill>
                  <a:srgbClr val="12315B"/>
                </a:solidFill>
              </a:rPr>
              <a:t>-</a:t>
            </a:r>
            <a:r>
              <a:rPr sz="1500" b="0">
                <a:solidFill>
                  <a:srgbClr val="12315B"/>
                </a:solidFill>
              </a:rPr>
              <a:t> entity</a:t>
            </a:r>
          </a:p>
        </p:txBody>
      </p:sp>
      <p:sp>
        <p:nvSpPr>
          <p:cNvPr id="20" name="Rectangle 19">
            <a:extLst>
              <a:ext uri="{FF2B5EF4-FFF2-40B4-BE49-F238E27FC236}">
                <a16:creationId xmlns:a16="http://schemas.microsoft.com/office/drawing/2014/main" id="{001B2206-A868-4A6A-8AFE-5971824104D8}"/>
              </a:ext>
            </a:extLst>
          </p:cNvPr>
          <p:cNvSpPr>
            <a:spLocks noGrp="1"/>
          </p:cNvSpPr>
          <p:nvPr/>
        </p:nvSpPr>
        <p:spPr>
          <a:xfrm>
            <a:off x="5924550" y="3771900"/>
            <a:ext cx="1371600" cy="257175"/>
          </a:xfrm>
          <a:prstGeom prst="rect">
            <a:avLst/>
          </a:prstGeom>
          <a:noFill/>
          <a:ln w="0">
            <a:noFill/>
            <a:prstDash val="solid"/>
          </a:ln>
        </p:spPr>
        <p:txBody>
          <a:bodyPr/>
          <a:lstStyle/>
          <a:p>
            <a:pPr algn="l">
              <a:buNone/>
              <a:defRPr sz="1500" b="1">
                <a:solidFill>
                  <a:srgbClr val="14B8A6"/>
                </a:solidFill>
              </a:defRPr>
            </a:pPr>
            <a:r>
              <a:rPr sz="1500" b="1">
                <a:solidFill>
                  <a:srgbClr val="14B8A6"/>
                </a:solidFill>
              </a:rPr>
              <a:t>patterns</a:t>
            </a:r>
          </a:p>
        </p:txBody>
      </p:sp>
      <p:sp>
        <p:nvSpPr>
          <p:cNvPr id="21" name="Rectangle 20">
            <a:extLst>
              <a:ext uri="{FF2B5EF4-FFF2-40B4-BE49-F238E27FC236}">
                <a16:creationId xmlns:a16="http://schemas.microsoft.com/office/drawing/2014/main" id="{2B0B1522-98DB-4E39-A1FD-8992A24CBC0D}"/>
              </a:ext>
            </a:extLst>
          </p:cNvPr>
          <p:cNvSpPr>
            <a:spLocks noGrp="1"/>
          </p:cNvSpPr>
          <p:nvPr/>
        </p:nvSpPr>
        <p:spPr>
          <a:xfrm>
            <a:off x="7458075" y="3771900"/>
            <a:ext cx="3457575" cy="40005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attempt_id </a:t>
            </a:r>
            <a:r>
              <a:rPr lang="vi-VN" sz="1500" b="0">
                <a:solidFill>
                  <a:srgbClr val="12315B"/>
                </a:solidFill>
              </a:rPr>
              <a:t>-</a:t>
            </a:r>
            <a:r>
              <a:rPr sz="1500" b="0">
                <a:solidFill>
                  <a:srgbClr val="12315B"/>
                </a:solidFill>
              </a:rPr>
              <a:t> type </a:t>
            </a:r>
            <a:r>
              <a:rPr lang="vi-VN" sz="1500" b="0">
                <a:solidFill>
                  <a:srgbClr val="12315B"/>
                </a:solidFill>
              </a:rPr>
              <a:t>-</a:t>
            </a:r>
            <a:r>
              <a:rPr sz="1500" b="0">
                <a:solidFill>
                  <a:srgbClr val="12315B"/>
                </a:solidFill>
              </a:rPr>
              <a:t> sequence</a:t>
            </a:r>
          </a:p>
        </p:txBody>
      </p:sp>
      <p:sp>
        <p:nvSpPr>
          <p:cNvPr id="22" name="Rectangle 21">
            <a:extLst>
              <a:ext uri="{FF2B5EF4-FFF2-40B4-BE49-F238E27FC236}">
                <a16:creationId xmlns:a16="http://schemas.microsoft.com/office/drawing/2014/main" id="{0DDEF9B7-BF3B-4662-85D7-C523B6759604}"/>
              </a:ext>
            </a:extLst>
          </p:cNvPr>
          <p:cNvSpPr>
            <a:spLocks noGrp="1"/>
          </p:cNvSpPr>
          <p:nvPr/>
        </p:nvSpPr>
        <p:spPr>
          <a:xfrm>
            <a:off x="5924550" y="4391025"/>
            <a:ext cx="1371600" cy="257175"/>
          </a:xfrm>
          <a:prstGeom prst="rect">
            <a:avLst/>
          </a:prstGeom>
          <a:noFill/>
          <a:ln w="0">
            <a:noFill/>
            <a:prstDash val="solid"/>
          </a:ln>
        </p:spPr>
        <p:txBody>
          <a:bodyPr/>
          <a:lstStyle/>
          <a:p>
            <a:pPr algn="l">
              <a:buNone/>
              <a:defRPr sz="1275" b="1">
                <a:solidFill>
                  <a:srgbClr val="14B8A6"/>
                </a:solidFill>
              </a:defRPr>
            </a:pPr>
            <a:r>
              <a:rPr sz="1275" b="1">
                <a:solidFill>
                  <a:srgbClr val="14B8A6"/>
                </a:solidFill>
              </a:rPr>
              <a:t>transactions</a:t>
            </a:r>
          </a:p>
        </p:txBody>
      </p:sp>
      <p:sp>
        <p:nvSpPr>
          <p:cNvPr id="23" name="Rectangle 22">
            <a:extLst>
              <a:ext uri="{FF2B5EF4-FFF2-40B4-BE49-F238E27FC236}">
                <a16:creationId xmlns:a16="http://schemas.microsoft.com/office/drawing/2014/main" id="{D740C568-3B00-45CC-8D20-C78E4C588704}"/>
              </a:ext>
            </a:extLst>
          </p:cNvPr>
          <p:cNvSpPr>
            <a:spLocks noGrp="1"/>
          </p:cNvSpPr>
          <p:nvPr/>
        </p:nvSpPr>
        <p:spPr>
          <a:xfrm>
            <a:off x="7458075" y="4391025"/>
            <a:ext cx="3905250" cy="40005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timestamp </a:t>
            </a:r>
            <a:r>
              <a:rPr lang="vi-VN" sz="1500" b="0">
                <a:solidFill>
                  <a:srgbClr val="12315B"/>
                </a:solidFill>
              </a:rPr>
              <a:t>-</a:t>
            </a:r>
            <a:r>
              <a:rPr sz="1500" b="0">
                <a:solidFill>
                  <a:srgbClr val="12315B"/>
                </a:solidFill>
              </a:rPr>
              <a:t> sender </a:t>
            </a:r>
            <a:r>
              <a:rPr lang="vi-VN" sz="1500" b="0">
                <a:solidFill>
                  <a:srgbClr val="12315B"/>
                </a:solidFill>
              </a:rPr>
              <a:t>-</a:t>
            </a:r>
            <a:r>
              <a:rPr sz="1500" b="0">
                <a:solidFill>
                  <a:srgbClr val="12315B"/>
                </a:solidFill>
              </a:rPr>
              <a:t> receiver </a:t>
            </a:r>
            <a:r>
              <a:rPr lang="vi-VN" sz="1500" b="0">
                <a:solidFill>
                  <a:srgbClr val="12315B"/>
                </a:solidFill>
              </a:rPr>
              <a:t>-</a:t>
            </a:r>
            <a:r>
              <a:rPr sz="1500" b="0">
                <a:solidFill>
                  <a:srgbClr val="12315B"/>
                </a:solidFill>
              </a:rPr>
              <a:t> amount </a:t>
            </a:r>
            <a:r>
              <a:rPr lang="vi-VN" sz="1500" b="0">
                <a:solidFill>
                  <a:srgbClr val="12315B"/>
                </a:solidFill>
              </a:rPr>
              <a:t>-</a:t>
            </a:r>
            <a:r>
              <a:rPr sz="1500" b="0">
                <a:solidFill>
                  <a:srgbClr val="12315B"/>
                </a:solidFill>
              </a:rPr>
              <a:t> AML</a:t>
            </a:r>
          </a:p>
        </p:txBody>
      </p:sp>
      <p:sp>
        <p:nvSpPr>
          <p:cNvPr id="24" name="Rectangle 23">
            <a:extLst>
              <a:ext uri="{FF2B5EF4-FFF2-40B4-BE49-F238E27FC236}">
                <a16:creationId xmlns:a16="http://schemas.microsoft.com/office/drawing/2014/main" id="{647A0337-63A1-4BB7-B163-B6504786A8AF}"/>
              </a:ext>
            </a:extLst>
          </p:cNvPr>
          <p:cNvSpPr>
            <a:spLocks noGrp="1"/>
          </p:cNvSpPr>
          <p:nvPr/>
        </p:nvSpPr>
        <p:spPr>
          <a:xfrm>
            <a:off x="5905500" y="4810125"/>
            <a:ext cx="5095875" cy="476250"/>
          </a:xfrm>
          <a:prstGeom prst="rect">
            <a:avLst/>
          </a:prstGeom>
          <a:noFill/>
          <a:ln w="0">
            <a:noFill/>
            <a:prstDash val="solid"/>
          </a:ln>
        </p:spPr>
        <p:txBody>
          <a:bodyPr/>
          <a:lstStyle/>
          <a:p>
            <a:pPr algn="ctr">
              <a:buNone/>
              <a:defRPr sz="1125" b="1">
                <a:solidFill>
                  <a:srgbClr val="12315B"/>
                </a:solidFill>
              </a:defRPr>
            </a:pPr>
            <a:r>
              <a:rPr sz="1400" b="1">
                <a:solidFill>
                  <a:srgbClr val="12315B"/>
                </a:solidFill>
              </a:rPr>
              <a:t>Điểm kiểm tra: </a:t>
            </a:r>
            <a:r>
              <a:rPr lang="vi-VN" sz="1400" b="1">
                <a:solidFill>
                  <a:srgbClr val="12315B"/>
                </a:solidFill>
              </a:rPr>
              <a:t>2</a:t>
            </a:r>
            <a:r>
              <a:rPr sz="1400" b="1">
                <a:solidFill>
                  <a:srgbClr val="12315B"/>
                </a:solidFill>
              </a:rPr>
              <a:t> cột Account trùng tên phải được đổi thành from_account_id và to_account_id</a:t>
            </a:r>
          </a:p>
        </p:txBody>
      </p:sp>
      <p:sp>
        <p:nvSpPr>
          <p:cNvPr id="25" name="Rounded Rectangle 24">
            <a:extLst>
              <a:ext uri="{FF2B5EF4-FFF2-40B4-BE49-F238E27FC236}">
                <a16:creationId xmlns:a16="http://schemas.microsoft.com/office/drawing/2014/main" id="{3E681889-E1D7-4850-B10A-199FD4B66095}"/>
              </a:ext>
            </a:extLst>
          </p:cNvPr>
          <p:cNvSpPr>
            <a:spLocks noGrp="1"/>
          </p:cNvSpPr>
          <p:nvPr/>
        </p:nvSpPr>
        <p:spPr>
          <a:xfrm>
            <a:off x="3248025" y="5724525"/>
            <a:ext cx="5734050" cy="323850"/>
          </a:xfrm>
          <a:prstGeom prst="roundRect">
            <a:avLst>
              <a:gd name="adj" fmla="val 35294"/>
            </a:avLst>
          </a:prstGeom>
          <a:solidFill>
            <a:srgbClr val="FFF3DD"/>
          </a:solidFill>
          <a:ln w="9525">
            <a:solidFill>
              <a:srgbClr val="FFF3DD"/>
            </a:solidFill>
            <a:prstDash val="solid"/>
          </a:ln>
        </p:spPr>
        <p:txBody>
          <a:bodyPr/>
          <a:lstStyle/>
          <a:p>
            <a:endParaRPr lang="en-US"/>
          </a:p>
        </p:txBody>
      </p:sp>
      <p:sp>
        <p:nvSpPr>
          <p:cNvPr id="26" name="Rectangle 25">
            <a:extLst>
              <a:ext uri="{FF2B5EF4-FFF2-40B4-BE49-F238E27FC236}">
                <a16:creationId xmlns:a16="http://schemas.microsoft.com/office/drawing/2014/main" id="{83184B6E-20ED-444A-9742-082850A6BF10}"/>
              </a:ext>
            </a:extLst>
          </p:cNvPr>
          <p:cNvSpPr>
            <a:spLocks noGrp="1"/>
          </p:cNvSpPr>
          <p:nvPr/>
        </p:nvSpPr>
        <p:spPr>
          <a:xfrm>
            <a:off x="3305175" y="5754461"/>
            <a:ext cx="5581650" cy="190500"/>
          </a:xfrm>
          <a:prstGeom prst="rect">
            <a:avLst/>
          </a:prstGeom>
          <a:noFill/>
          <a:ln w="0">
            <a:noFill/>
            <a:prstDash val="solid"/>
          </a:ln>
        </p:spPr>
        <p:txBody>
          <a:bodyPr/>
          <a:lstStyle/>
          <a:p>
            <a:pPr algn="ctr">
              <a:buNone/>
              <a:defRPr sz="1125" b="1">
                <a:solidFill>
                  <a:srgbClr val="D97706"/>
                </a:solidFill>
              </a:defRPr>
            </a:pPr>
            <a:r>
              <a:rPr sz="1400" b="1">
                <a:solidFill>
                  <a:srgbClr val="D97706"/>
                </a:solidFill>
              </a:rPr>
              <a:t>Output của bước này: metadata, chưa phải dữ liệu sạch</a:t>
            </a:r>
          </a:p>
        </p:txBody>
      </p:sp>
      <p:sp>
        <p:nvSpPr>
          <p:cNvPr id="28" name="Rectangle 27">
            <a:extLst>
              <a:ext uri="{FF2B5EF4-FFF2-40B4-BE49-F238E27FC236}">
                <a16:creationId xmlns:a16="http://schemas.microsoft.com/office/drawing/2014/main" id="{BAD50E0D-B614-4642-B2FA-B8B391661C2D}"/>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10/17</a:t>
            </a:r>
          </a:p>
        </p:txBody>
      </p:sp>
    </p:spTree>
    <p:extLst>
      <p:ext uri="{BB962C8B-B14F-4D97-AF65-F5344CB8AC3E}">
        <p14:creationId xmlns:p14="http://schemas.microsoft.com/office/powerpoint/2010/main" val="31242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155264AA-FF02-42D9-A51C-1E2FE96D4C18}"/>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Visual ETL chuẩn hóa dữ liệu bằng kéo–thả</a:t>
            </a:r>
          </a:p>
        </p:txBody>
      </p:sp>
      <p:sp>
        <p:nvSpPr>
          <p:cNvPr id="2" name="Rectangle 1">
            <a:extLst>
              <a:ext uri="{FF2B5EF4-FFF2-40B4-BE49-F238E27FC236}">
                <a16:creationId xmlns:a16="http://schemas.microsoft.com/office/drawing/2014/main" id="{9F82854E-BF09-41BE-87F4-6974EB616E45}"/>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Glue Studio tạo và chạy luồng ETL bằng giao diện kéo–thả</a:t>
            </a:r>
          </a:p>
        </p:txBody>
      </p:sp>
      <p:sp>
        <p:nvSpPr>
          <p:cNvPr id="3" name="Rectangle 2">
            <a:extLst>
              <a:ext uri="{FF2B5EF4-FFF2-40B4-BE49-F238E27FC236}">
                <a16:creationId xmlns:a16="http://schemas.microsoft.com/office/drawing/2014/main" id="{7D0AF932-F1CC-4BF4-AEDD-16976155C38B}"/>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ight Arrow 4">
            <a:extLst>
              <a:ext uri="{FF2B5EF4-FFF2-40B4-BE49-F238E27FC236}">
                <a16:creationId xmlns:a16="http://schemas.microsoft.com/office/drawing/2014/main" id="{1B68FC9B-94BE-4DDA-9BC4-94F19CDAB2AE}"/>
              </a:ext>
            </a:extLst>
          </p:cNvPr>
          <p:cNvSpPr>
            <a:spLocks noGrp="1"/>
          </p:cNvSpPr>
          <p:nvPr/>
        </p:nvSpPr>
        <p:spPr>
          <a:xfrm>
            <a:off x="1962150" y="2609850"/>
            <a:ext cx="666750" cy="457200"/>
          </a:xfrm>
          <a:prstGeom prst="rightArrow">
            <a:avLst/>
          </a:prstGeom>
          <a:solidFill>
            <a:srgbClr val="B9C8DA"/>
          </a:solidFill>
          <a:ln w="0">
            <a:solidFill>
              <a:srgbClr val="B9C8DA"/>
            </a:solidFill>
            <a:prstDash val="solid"/>
          </a:ln>
        </p:spPr>
        <p:txBody>
          <a:bodyPr/>
          <a:lstStyle/>
          <a:p>
            <a:endParaRPr lang="en-US"/>
          </a:p>
        </p:txBody>
      </p:sp>
      <p:sp>
        <p:nvSpPr>
          <p:cNvPr id="6" name="Right Arrow 5">
            <a:extLst>
              <a:ext uri="{FF2B5EF4-FFF2-40B4-BE49-F238E27FC236}">
                <a16:creationId xmlns:a16="http://schemas.microsoft.com/office/drawing/2014/main" id="{E1B06A71-89C6-4A4D-A320-F84E0ED7160C}"/>
              </a:ext>
            </a:extLst>
          </p:cNvPr>
          <p:cNvSpPr>
            <a:spLocks noGrp="1"/>
          </p:cNvSpPr>
          <p:nvPr/>
        </p:nvSpPr>
        <p:spPr>
          <a:xfrm>
            <a:off x="3886200" y="2609850"/>
            <a:ext cx="666750" cy="457200"/>
          </a:xfrm>
          <a:prstGeom prst="rightArrow">
            <a:avLst/>
          </a:prstGeom>
          <a:solidFill>
            <a:srgbClr val="B9C8DA"/>
          </a:solidFill>
          <a:ln w="0">
            <a:solidFill>
              <a:srgbClr val="B9C8DA"/>
            </a:solidFill>
            <a:prstDash val="solid"/>
          </a:ln>
        </p:spPr>
        <p:txBody>
          <a:bodyPr/>
          <a:lstStyle/>
          <a:p>
            <a:endParaRPr lang="en-US"/>
          </a:p>
        </p:txBody>
      </p:sp>
      <p:sp>
        <p:nvSpPr>
          <p:cNvPr id="7" name="Right Arrow 6">
            <a:extLst>
              <a:ext uri="{FF2B5EF4-FFF2-40B4-BE49-F238E27FC236}">
                <a16:creationId xmlns:a16="http://schemas.microsoft.com/office/drawing/2014/main" id="{FF12E197-3FE6-48A8-8C83-6F935DAB0293}"/>
              </a:ext>
            </a:extLst>
          </p:cNvPr>
          <p:cNvSpPr>
            <a:spLocks noGrp="1"/>
          </p:cNvSpPr>
          <p:nvPr/>
        </p:nvSpPr>
        <p:spPr>
          <a:xfrm>
            <a:off x="5810250" y="2609850"/>
            <a:ext cx="666750" cy="457200"/>
          </a:xfrm>
          <a:prstGeom prst="rightArrow">
            <a:avLst/>
          </a:prstGeom>
          <a:solidFill>
            <a:srgbClr val="B9C8DA"/>
          </a:solidFill>
          <a:ln w="0">
            <a:solidFill>
              <a:srgbClr val="B9C8DA"/>
            </a:solidFill>
            <a:prstDash val="solid"/>
          </a:ln>
        </p:spPr>
        <p:txBody>
          <a:bodyPr/>
          <a:lstStyle/>
          <a:p>
            <a:endParaRPr lang="en-US"/>
          </a:p>
        </p:txBody>
      </p:sp>
      <p:sp>
        <p:nvSpPr>
          <p:cNvPr id="8" name="Right Arrow 7">
            <a:extLst>
              <a:ext uri="{FF2B5EF4-FFF2-40B4-BE49-F238E27FC236}">
                <a16:creationId xmlns:a16="http://schemas.microsoft.com/office/drawing/2014/main" id="{EB9FAEA7-B7C7-4431-BC8B-526B9081F11E}"/>
              </a:ext>
            </a:extLst>
          </p:cNvPr>
          <p:cNvSpPr>
            <a:spLocks noGrp="1"/>
          </p:cNvSpPr>
          <p:nvPr/>
        </p:nvSpPr>
        <p:spPr>
          <a:xfrm>
            <a:off x="7734300" y="2609850"/>
            <a:ext cx="666750" cy="457200"/>
          </a:xfrm>
          <a:prstGeom prst="rightArrow">
            <a:avLst/>
          </a:prstGeom>
          <a:solidFill>
            <a:srgbClr val="B9C8DA"/>
          </a:solidFill>
          <a:ln w="0">
            <a:solidFill>
              <a:srgbClr val="B9C8DA"/>
            </a:solidFill>
            <a:prstDash val="solid"/>
          </a:ln>
        </p:spPr>
        <p:txBody>
          <a:bodyPr/>
          <a:lstStyle/>
          <a:p>
            <a:endParaRPr lang="en-US"/>
          </a:p>
        </p:txBody>
      </p:sp>
      <p:sp>
        <p:nvSpPr>
          <p:cNvPr id="9" name="Right Arrow 8">
            <a:extLst>
              <a:ext uri="{FF2B5EF4-FFF2-40B4-BE49-F238E27FC236}">
                <a16:creationId xmlns:a16="http://schemas.microsoft.com/office/drawing/2014/main" id="{8D6A2683-805D-4B87-A534-E0183EC649F0}"/>
              </a:ext>
            </a:extLst>
          </p:cNvPr>
          <p:cNvSpPr>
            <a:spLocks noGrp="1"/>
          </p:cNvSpPr>
          <p:nvPr/>
        </p:nvSpPr>
        <p:spPr>
          <a:xfrm>
            <a:off x="9658350" y="2609850"/>
            <a:ext cx="666750" cy="457200"/>
          </a:xfrm>
          <a:prstGeom prst="rightArrow">
            <a:avLst/>
          </a:prstGeom>
          <a:solidFill>
            <a:srgbClr val="B9C8DA"/>
          </a:solidFill>
          <a:ln w="0">
            <a:solidFill>
              <a:srgbClr val="B9C8DA"/>
            </a:solidFill>
            <a:prstDash val="solid"/>
          </a:ln>
        </p:spPr>
        <p:txBody>
          <a:bodyPr/>
          <a:lstStyle/>
          <a:p>
            <a:endParaRPr lang="en-US"/>
          </a:p>
        </p:txBody>
      </p:sp>
      <p:sp>
        <p:nvSpPr>
          <p:cNvPr id="10" name="Rounded Rectangle 9">
            <a:extLst>
              <a:ext uri="{FF2B5EF4-FFF2-40B4-BE49-F238E27FC236}">
                <a16:creationId xmlns:a16="http://schemas.microsoft.com/office/drawing/2014/main" id="{7B2019DD-7276-4C69-A3DD-462623132063}"/>
              </a:ext>
            </a:extLst>
          </p:cNvPr>
          <p:cNvSpPr>
            <a:spLocks noGrp="1"/>
          </p:cNvSpPr>
          <p:nvPr/>
        </p:nvSpPr>
        <p:spPr>
          <a:xfrm>
            <a:off x="533400" y="2076450"/>
            <a:ext cx="1524000" cy="1524000"/>
          </a:xfrm>
          <a:prstGeom prst="roundRect">
            <a:avLst>
              <a:gd name="adj" fmla="val 7500"/>
            </a:avLst>
          </a:prstGeom>
          <a:solidFill>
            <a:srgbClr val="FFFFFF"/>
          </a:solidFill>
          <a:ln w="9525">
            <a:solidFill>
              <a:srgbClr val="2563EB"/>
            </a:solidFill>
            <a:prstDash val="solid"/>
          </a:ln>
        </p:spPr>
        <p:txBody>
          <a:bodyPr/>
          <a:lstStyle/>
          <a:p>
            <a:endParaRPr lang="en-US"/>
          </a:p>
        </p:txBody>
      </p:sp>
      <p:sp>
        <p:nvSpPr>
          <p:cNvPr id="11" name="Rectangle 10">
            <a:extLst>
              <a:ext uri="{FF2B5EF4-FFF2-40B4-BE49-F238E27FC236}">
                <a16:creationId xmlns:a16="http://schemas.microsoft.com/office/drawing/2014/main" id="{C4205DAB-069B-4E32-A8E0-20FD5679A300}"/>
              </a:ext>
            </a:extLst>
          </p:cNvPr>
          <p:cNvSpPr>
            <a:spLocks noGrp="1"/>
          </p:cNvSpPr>
          <p:nvPr/>
        </p:nvSpPr>
        <p:spPr>
          <a:xfrm>
            <a:off x="666750" y="2247900"/>
            <a:ext cx="12573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Source</a:t>
            </a:r>
          </a:p>
        </p:txBody>
      </p:sp>
      <p:sp>
        <p:nvSpPr>
          <p:cNvPr id="12" name="Rectangle 11">
            <a:extLst>
              <a:ext uri="{FF2B5EF4-FFF2-40B4-BE49-F238E27FC236}">
                <a16:creationId xmlns:a16="http://schemas.microsoft.com/office/drawing/2014/main" id="{895AAC50-F4FF-45D3-B882-48601E98C29C}"/>
              </a:ext>
            </a:extLst>
          </p:cNvPr>
          <p:cNvSpPr>
            <a:spLocks noGrp="1"/>
          </p:cNvSpPr>
          <p:nvPr/>
        </p:nvSpPr>
        <p:spPr>
          <a:xfrm>
            <a:off x="666750" y="2667000"/>
            <a:ext cx="1257300" cy="89535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Glue Catalog</a:t>
            </a:r>
          </a:p>
          <a:p>
            <a:pPr algn="ctr">
              <a:buNone/>
              <a:defRPr sz="1125" b="0">
                <a:solidFill>
                  <a:srgbClr val="5C7291"/>
                </a:solidFill>
              </a:defRPr>
            </a:pPr>
            <a:r>
              <a:rPr sz="1400" b="0">
                <a:solidFill>
                  <a:srgbClr val="5C7291"/>
                </a:solidFill>
              </a:rPr>
              <a:t>transactions</a:t>
            </a:r>
          </a:p>
        </p:txBody>
      </p:sp>
      <p:sp>
        <p:nvSpPr>
          <p:cNvPr id="13" name="Rounded Rectangle 12">
            <a:extLst>
              <a:ext uri="{FF2B5EF4-FFF2-40B4-BE49-F238E27FC236}">
                <a16:creationId xmlns:a16="http://schemas.microsoft.com/office/drawing/2014/main" id="{ADE0C0F2-B341-46A8-BAD5-F2B84562932E}"/>
              </a:ext>
            </a:extLst>
          </p:cNvPr>
          <p:cNvSpPr>
            <a:spLocks noGrp="1"/>
          </p:cNvSpPr>
          <p:nvPr/>
        </p:nvSpPr>
        <p:spPr>
          <a:xfrm>
            <a:off x="2457450" y="2076450"/>
            <a:ext cx="1524000" cy="1524000"/>
          </a:xfrm>
          <a:prstGeom prst="roundRect">
            <a:avLst>
              <a:gd name="adj" fmla="val 7500"/>
            </a:avLst>
          </a:prstGeom>
          <a:solidFill>
            <a:srgbClr val="EAF2FB"/>
          </a:solidFill>
          <a:ln w="9525">
            <a:solidFill>
              <a:srgbClr val="2563EB"/>
            </a:solidFill>
            <a:prstDash val="solid"/>
          </a:ln>
        </p:spPr>
        <p:txBody>
          <a:bodyPr/>
          <a:lstStyle/>
          <a:p>
            <a:endParaRPr lang="en-US"/>
          </a:p>
        </p:txBody>
      </p:sp>
      <p:sp>
        <p:nvSpPr>
          <p:cNvPr id="14" name="Rectangle 13">
            <a:extLst>
              <a:ext uri="{FF2B5EF4-FFF2-40B4-BE49-F238E27FC236}">
                <a16:creationId xmlns:a16="http://schemas.microsoft.com/office/drawing/2014/main" id="{3D9F9EED-67A6-4B3B-AF22-CDD70ED47F04}"/>
              </a:ext>
            </a:extLst>
          </p:cNvPr>
          <p:cNvSpPr>
            <a:spLocks noGrp="1"/>
          </p:cNvSpPr>
          <p:nvPr/>
        </p:nvSpPr>
        <p:spPr>
          <a:xfrm>
            <a:off x="2590800" y="2247900"/>
            <a:ext cx="12573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Rename</a:t>
            </a:r>
          </a:p>
        </p:txBody>
      </p:sp>
      <p:sp>
        <p:nvSpPr>
          <p:cNvPr id="15" name="Rectangle 14">
            <a:extLst>
              <a:ext uri="{FF2B5EF4-FFF2-40B4-BE49-F238E27FC236}">
                <a16:creationId xmlns:a16="http://schemas.microsoft.com/office/drawing/2014/main" id="{76E1AD70-F462-450C-9C5D-9023A6F71013}"/>
              </a:ext>
            </a:extLst>
          </p:cNvPr>
          <p:cNvSpPr>
            <a:spLocks noGrp="1"/>
          </p:cNvSpPr>
          <p:nvPr/>
        </p:nvSpPr>
        <p:spPr>
          <a:xfrm>
            <a:off x="2590800" y="2667000"/>
            <a:ext cx="1257300" cy="89535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from_account</a:t>
            </a:r>
          </a:p>
          <a:p>
            <a:pPr algn="ctr">
              <a:buNone/>
              <a:defRPr sz="1125" b="0">
                <a:solidFill>
                  <a:srgbClr val="5C7291"/>
                </a:solidFill>
              </a:defRPr>
            </a:pPr>
            <a:r>
              <a:rPr sz="1400" b="0">
                <a:solidFill>
                  <a:srgbClr val="5C7291"/>
                </a:solidFill>
              </a:rPr>
              <a:t>to_account</a:t>
            </a:r>
          </a:p>
        </p:txBody>
      </p:sp>
      <p:sp>
        <p:nvSpPr>
          <p:cNvPr id="16" name="Rounded Rectangle 15">
            <a:extLst>
              <a:ext uri="{FF2B5EF4-FFF2-40B4-BE49-F238E27FC236}">
                <a16:creationId xmlns:a16="http://schemas.microsoft.com/office/drawing/2014/main" id="{558DAAF6-145B-4FFA-8C39-851E823997CB}"/>
              </a:ext>
            </a:extLst>
          </p:cNvPr>
          <p:cNvSpPr>
            <a:spLocks noGrp="1"/>
          </p:cNvSpPr>
          <p:nvPr/>
        </p:nvSpPr>
        <p:spPr>
          <a:xfrm>
            <a:off x="4381500" y="2076450"/>
            <a:ext cx="1524000" cy="1524000"/>
          </a:xfrm>
          <a:prstGeom prst="roundRect">
            <a:avLst>
              <a:gd name="adj" fmla="val 7500"/>
            </a:avLst>
          </a:prstGeom>
          <a:solidFill>
            <a:srgbClr val="FFF3DD"/>
          </a:solidFill>
          <a:ln w="9525">
            <a:solidFill>
              <a:srgbClr val="FF9900"/>
            </a:solidFill>
            <a:prstDash val="solid"/>
          </a:ln>
        </p:spPr>
        <p:txBody>
          <a:bodyPr/>
          <a:lstStyle/>
          <a:p>
            <a:endParaRPr lang="en-US"/>
          </a:p>
        </p:txBody>
      </p:sp>
      <p:sp>
        <p:nvSpPr>
          <p:cNvPr id="17" name="Rectangle 16">
            <a:extLst>
              <a:ext uri="{FF2B5EF4-FFF2-40B4-BE49-F238E27FC236}">
                <a16:creationId xmlns:a16="http://schemas.microsoft.com/office/drawing/2014/main" id="{3DCD7589-6F24-4E39-B780-C5A136497060}"/>
              </a:ext>
            </a:extLst>
          </p:cNvPr>
          <p:cNvSpPr>
            <a:spLocks noGrp="1"/>
          </p:cNvSpPr>
          <p:nvPr/>
        </p:nvSpPr>
        <p:spPr>
          <a:xfrm>
            <a:off x="4514850" y="2247900"/>
            <a:ext cx="12573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Cast</a:t>
            </a:r>
          </a:p>
        </p:txBody>
      </p:sp>
      <p:sp>
        <p:nvSpPr>
          <p:cNvPr id="18" name="Rectangle 17">
            <a:extLst>
              <a:ext uri="{FF2B5EF4-FFF2-40B4-BE49-F238E27FC236}">
                <a16:creationId xmlns:a16="http://schemas.microsoft.com/office/drawing/2014/main" id="{A9E67774-4828-44EA-9634-958797A41F5E}"/>
              </a:ext>
            </a:extLst>
          </p:cNvPr>
          <p:cNvSpPr>
            <a:spLocks noGrp="1"/>
          </p:cNvSpPr>
          <p:nvPr/>
        </p:nvSpPr>
        <p:spPr>
          <a:xfrm>
            <a:off x="4514850" y="2667000"/>
            <a:ext cx="1257300" cy="89535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timestamp</a:t>
            </a:r>
          </a:p>
          <a:p>
            <a:pPr algn="ctr">
              <a:buNone/>
              <a:defRPr sz="1125" b="0">
                <a:solidFill>
                  <a:srgbClr val="5C7291"/>
                </a:solidFill>
              </a:defRPr>
            </a:pPr>
            <a:r>
              <a:rPr sz="1400" b="0">
                <a:solidFill>
                  <a:srgbClr val="5C7291"/>
                </a:solidFill>
              </a:rPr>
              <a:t>decimal</a:t>
            </a:r>
          </a:p>
          <a:p>
            <a:pPr algn="ctr">
              <a:buNone/>
              <a:defRPr sz="1125" b="0">
                <a:solidFill>
                  <a:srgbClr val="5C7291"/>
                </a:solidFill>
              </a:defRPr>
            </a:pPr>
            <a:r>
              <a:rPr sz="1400" b="0">
                <a:solidFill>
                  <a:srgbClr val="5C7291"/>
                </a:solidFill>
              </a:rPr>
              <a:t>flag</a:t>
            </a:r>
          </a:p>
        </p:txBody>
      </p:sp>
      <p:sp>
        <p:nvSpPr>
          <p:cNvPr id="19" name="Rounded Rectangle 18">
            <a:extLst>
              <a:ext uri="{FF2B5EF4-FFF2-40B4-BE49-F238E27FC236}">
                <a16:creationId xmlns:a16="http://schemas.microsoft.com/office/drawing/2014/main" id="{039E3436-5ADF-4B92-9512-DD87678142C1}"/>
              </a:ext>
            </a:extLst>
          </p:cNvPr>
          <p:cNvSpPr>
            <a:spLocks noGrp="1"/>
          </p:cNvSpPr>
          <p:nvPr/>
        </p:nvSpPr>
        <p:spPr>
          <a:xfrm>
            <a:off x="6305550" y="2076450"/>
            <a:ext cx="1524000" cy="1524000"/>
          </a:xfrm>
          <a:prstGeom prst="roundRect">
            <a:avLst>
              <a:gd name="adj" fmla="val 7500"/>
            </a:avLst>
          </a:prstGeom>
          <a:solidFill>
            <a:srgbClr val="E5F7F4"/>
          </a:solidFill>
          <a:ln w="9525">
            <a:solidFill>
              <a:srgbClr val="0F766E"/>
            </a:solidFill>
            <a:prstDash val="solid"/>
          </a:ln>
        </p:spPr>
        <p:txBody>
          <a:bodyPr/>
          <a:lstStyle/>
          <a:p>
            <a:endParaRPr lang="en-US"/>
          </a:p>
        </p:txBody>
      </p:sp>
      <p:sp>
        <p:nvSpPr>
          <p:cNvPr id="20" name="Rectangle 19">
            <a:extLst>
              <a:ext uri="{FF2B5EF4-FFF2-40B4-BE49-F238E27FC236}">
                <a16:creationId xmlns:a16="http://schemas.microsoft.com/office/drawing/2014/main" id="{6E4980DD-B8B5-4004-93CB-4B57808A7A82}"/>
              </a:ext>
            </a:extLst>
          </p:cNvPr>
          <p:cNvSpPr>
            <a:spLocks noGrp="1"/>
          </p:cNvSpPr>
          <p:nvPr/>
        </p:nvSpPr>
        <p:spPr>
          <a:xfrm>
            <a:off x="6438900" y="2247900"/>
            <a:ext cx="12573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Derive</a:t>
            </a:r>
          </a:p>
        </p:txBody>
      </p:sp>
      <p:sp>
        <p:nvSpPr>
          <p:cNvPr id="21" name="Rectangle 20">
            <a:extLst>
              <a:ext uri="{FF2B5EF4-FFF2-40B4-BE49-F238E27FC236}">
                <a16:creationId xmlns:a16="http://schemas.microsoft.com/office/drawing/2014/main" id="{8E5CD68E-A95D-42BE-B464-F194D32834A0}"/>
              </a:ext>
            </a:extLst>
          </p:cNvPr>
          <p:cNvSpPr>
            <a:spLocks noGrp="1"/>
          </p:cNvSpPr>
          <p:nvPr/>
        </p:nvSpPr>
        <p:spPr>
          <a:xfrm>
            <a:off x="6419850" y="2667000"/>
            <a:ext cx="1295400" cy="89535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cross_bank</a:t>
            </a:r>
          </a:p>
          <a:p>
            <a:pPr algn="ctr">
              <a:buNone/>
              <a:defRPr sz="1125" b="0">
                <a:solidFill>
                  <a:srgbClr val="5C7291"/>
                </a:solidFill>
              </a:defRPr>
            </a:pPr>
            <a:r>
              <a:rPr sz="1400" b="0">
                <a:solidFill>
                  <a:srgbClr val="5C7291"/>
                </a:solidFill>
              </a:rPr>
              <a:t>cross_currency</a:t>
            </a:r>
          </a:p>
          <a:p>
            <a:pPr algn="ctr">
              <a:buNone/>
              <a:defRPr sz="1125" b="0">
                <a:solidFill>
                  <a:srgbClr val="5C7291"/>
                </a:solidFill>
              </a:defRPr>
            </a:pPr>
            <a:r>
              <a:rPr sz="1400" b="0">
                <a:solidFill>
                  <a:srgbClr val="5C7291"/>
                </a:solidFill>
              </a:rPr>
              <a:t>self_transfer</a:t>
            </a:r>
          </a:p>
        </p:txBody>
      </p:sp>
      <p:sp>
        <p:nvSpPr>
          <p:cNvPr id="22" name="Rounded Rectangle 21">
            <a:extLst>
              <a:ext uri="{FF2B5EF4-FFF2-40B4-BE49-F238E27FC236}">
                <a16:creationId xmlns:a16="http://schemas.microsoft.com/office/drawing/2014/main" id="{B8785145-5BC5-4515-8805-45440D4C567E}"/>
              </a:ext>
            </a:extLst>
          </p:cNvPr>
          <p:cNvSpPr>
            <a:spLocks noGrp="1"/>
          </p:cNvSpPr>
          <p:nvPr/>
        </p:nvSpPr>
        <p:spPr>
          <a:xfrm>
            <a:off x="8229600" y="2076450"/>
            <a:ext cx="1524000" cy="1524000"/>
          </a:xfrm>
          <a:prstGeom prst="roundRect">
            <a:avLst>
              <a:gd name="adj" fmla="val 7500"/>
            </a:avLst>
          </a:prstGeom>
          <a:solidFill>
            <a:srgbClr val="FBEAEC"/>
          </a:solidFill>
          <a:ln w="9525">
            <a:solidFill>
              <a:srgbClr val="C83E4D"/>
            </a:solidFill>
            <a:prstDash val="solid"/>
          </a:ln>
        </p:spPr>
        <p:txBody>
          <a:bodyPr/>
          <a:lstStyle/>
          <a:p>
            <a:endParaRPr lang="en-US"/>
          </a:p>
        </p:txBody>
      </p:sp>
      <p:sp>
        <p:nvSpPr>
          <p:cNvPr id="23" name="Rectangle 22">
            <a:extLst>
              <a:ext uri="{FF2B5EF4-FFF2-40B4-BE49-F238E27FC236}">
                <a16:creationId xmlns:a16="http://schemas.microsoft.com/office/drawing/2014/main" id="{252C1B13-4FA8-4ACD-83E7-966FA318040F}"/>
              </a:ext>
            </a:extLst>
          </p:cNvPr>
          <p:cNvSpPr>
            <a:spLocks noGrp="1"/>
          </p:cNvSpPr>
          <p:nvPr/>
        </p:nvSpPr>
        <p:spPr>
          <a:xfrm>
            <a:off x="8362950" y="2247900"/>
            <a:ext cx="12573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Validate</a:t>
            </a:r>
          </a:p>
        </p:txBody>
      </p:sp>
      <p:sp>
        <p:nvSpPr>
          <p:cNvPr id="24" name="Rectangle 23">
            <a:extLst>
              <a:ext uri="{FF2B5EF4-FFF2-40B4-BE49-F238E27FC236}">
                <a16:creationId xmlns:a16="http://schemas.microsoft.com/office/drawing/2014/main" id="{AD0E5844-8252-4B4A-928C-98217E193BAD}"/>
              </a:ext>
            </a:extLst>
          </p:cNvPr>
          <p:cNvSpPr>
            <a:spLocks noGrp="1"/>
          </p:cNvSpPr>
          <p:nvPr/>
        </p:nvSpPr>
        <p:spPr>
          <a:xfrm>
            <a:off x="8362950" y="2667000"/>
            <a:ext cx="1257300" cy="89535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null </a:t>
            </a:r>
            <a:r>
              <a:rPr lang="vi-VN" sz="1400" b="0">
                <a:solidFill>
                  <a:srgbClr val="5C7291"/>
                </a:solidFill>
              </a:rPr>
              <a:t>-</a:t>
            </a:r>
            <a:r>
              <a:rPr sz="1400" b="0">
                <a:solidFill>
                  <a:srgbClr val="5C7291"/>
                </a:solidFill>
              </a:rPr>
              <a:t> amount</a:t>
            </a:r>
          </a:p>
          <a:p>
            <a:pPr algn="ctr">
              <a:buNone/>
              <a:defRPr sz="1125" b="0">
                <a:solidFill>
                  <a:srgbClr val="5C7291"/>
                </a:solidFill>
              </a:defRPr>
            </a:pPr>
            <a:r>
              <a:rPr sz="1400" b="0">
                <a:solidFill>
                  <a:srgbClr val="5C7291"/>
                </a:solidFill>
              </a:rPr>
              <a:t>label </a:t>
            </a:r>
            <a:r>
              <a:rPr lang="vi-VN" sz="1400" b="0">
                <a:solidFill>
                  <a:srgbClr val="5C7291"/>
                </a:solidFill>
              </a:rPr>
              <a:t>-</a:t>
            </a:r>
            <a:r>
              <a:rPr sz="1400" b="0">
                <a:solidFill>
                  <a:srgbClr val="5C7291"/>
                </a:solidFill>
              </a:rPr>
              <a:t> lookup</a:t>
            </a:r>
          </a:p>
        </p:txBody>
      </p:sp>
      <p:sp>
        <p:nvSpPr>
          <p:cNvPr id="25" name="Rounded Rectangle 24">
            <a:extLst>
              <a:ext uri="{FF2B5EF4-FFF2-40B4-BE49-F238E27FC236}">
                <a16:creationId xmlns:a16="http://schemas.microsoft.com/office/drawing/2014/main" id="{8AF3D96A-519C-405B-9FAC-F2B04C88F311}"/>
              </a:ext>
            </a:extLst>
          </p:cNvPr>
          <p:cNvSpPr>
            <a:spLocks noGrp="1"/>
          </p:cNvSpPr>
          <p:nvPr/>
        </p:nvSpPr>
        <p:spPr>
          <a:xfrm>
            <a:off x="10153650" y="2076450"/>
            <a:ext cx="1524000" cy="1524000"/>
          </a:xfrm>
          <a:prstGeom prst="roundRect">
            <a:avLst>
              <a:gd name="adj" fmla="val 7500"/>
            </a:avLst>
          </a:prstGeom>
          <a:solidFill>
            <a:srgbClr val="F2ECFF"/>
          </a:solidFill>
          <a:ln w="9525">
            <a:solidFill>
              <a:srgbClr val="7C3AED"/>
            </a:solidFill>
            <a:prstDash val="solid"/>
          </a:ln>
        </p:spPr>
        <p:txBody>
          <a:bodyPr/>
          <a:lstStyle/>
          <a:p>
            <a:endParaRPr lang="en-US"/>
          </a:p>
        </p:txBody>
      </p:sp>
      <p:sp>
        <p:nvSpPr>
          <p:cNvPr id="26" name="Rectangle 25">
            <a:extLst>
              <a:ext uri="{FF2B5EF4-FFF2-40B4-BE49-F238E27FC236}">
                <a16:creationId xmlns:a16="http://schemas.microsoft.com/office/drawing/2014/main" id="{3216B81A-AB99-4B56-B5F6-9526A3006A38}"/>
              </a:ext>
            </a:extLst>
          </p:cNvPr>
          <p:cNvSpPr>
            <a:spLocks noGrp="1"/>
          </p:cNvSpPr>
          <p:nvPr/>
        </p:nvSpPr>
        <p:spPr>
          <a:xfrm>
            <a:off x="10287000" y="2247900"/>
            <a:ext cx="12573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Target</a:t>
            </a:r>
          </a:p>
        </p:txBody>
      </p:sp>
      <p:sp>
        <p:nvSpPr>
          <p:cNvPr id="27" name="Rectangle 26">
            <a:extLst>
              <a:ext uri="{FF2B5EF4-FFF2-40B4-BE49-F238E27FC236}">
                <a16:creationId xmlns:a16="http://schemas.microsoft.com/office/drawing/2014/main" id="{DA2FE5B2-4265-4D9A-A875-82A0ADD52C3A}"/>
              </a:ext>
            </a:extLst>
          </p:cNvPr>
          <p:cNvSpPr>
            <a:spLocks noGrp="1"/>
          </p:cNvSpPr>
          <p:nvPr/>
        </p:nvSpPr>
        <p:spPr>
          <a:xfrm>
            <a:off x="10287000" y="2667000"/>
            <a:ext cx="1257300" cy="89535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S3 curated</a:t>
            </a:r>
          </a:p>
          <a:p>
            <a:pPr algn="ctr">
              <a:buNone/>
              <a:defRPr sz="1125" b="0">
                <a:solidFill>
                  <a:srgbClr val="5C7291"/>
                </a:solidFill>
              </a:defRPr>
            </a:pPr>
            <a:r>
              <a:rPr sz="1400" b="0">
                <a:solidFill>
                  <a:srgbClr val="5C7291"/>
                </a:solidFill>
              </a:rPr>
              <a:t>Parquet</a:t>
            </a:r>
          </a:p>
        </p:txBody>
      </p:sp>
      <p:sp>
        <p:nvSpPr>
          <p:cNvPr id="28" name="Rectangle 27">
            <a:extLst>
              <a:ext uri="{FF2B5EF4-FFF2-40B4-BE49-F238E27FC236}">
                <a16:creationId xmlns:a16="http://schemas.microsoft.com/office/drawing/2014/main" id="{420C7A9E-240D-4B0F-A064-2EEDB3FC3602}"/>
              </a:ext>
            </a:extLst>
          </p:cNvPr>
          <p:cNvSpPr>
            <a:spLocks noGrp="1"/>
          </p:cNvSpPr>
          <p:nvPr/>
        </p:nvSpPr>
        <p:spPr>
          <a:xfrm>
            <a:off x="609600" y="4143375"/>
            <a:ext cx="3810000" cy="304800"/>
          </a:xfrm>
          <a:prstGeom prst="rect">
            <a:avLst/>
          </a:prstGeom>
          <a:noFill/>
          <a:ln w="0">
            <a:noFill/>
            <a:prstDash val="solid"/>
          </a:ln>
        </p:spPr>
        <p:txBody>
          <a:bodyPr/>
          <a:lstStyle/>
          <a:p>
            <a:pPr algn="l">
              <a:buNone/>
              <a:defRPr sz="1275" b="1">
                <a:solidFill>
                  <a:srgbClr val="12315B"/>
                </a:solidFill>
              </a:defRPr>
            </a:pPr>
            <a:r>
              <a:rPr sz="1600" b="1">
                <a:solidFill>
                  <a:srgbClr val="12315B"/>
                </a:solidFill>
              </a:rPr>
              <a:t>Quality gate trước khi publish</a:t>
            </a:r>
          </a:p>
        </p:txBody>
      </p:sp>
      <p:sp>
        <p:nvSpPr>
          <p:cNvPr id="29" name="Oval 28">
            <a:extLst>
              <a:ext uri="{FF2B5EF4-FFF2-40B4-BE49-F238E27FC236}">
                <a16:creationId xmlns:a16="http://schemas.microsoft.com/office/drawing/2014/main" id="{5A9E56D8-A655-4E3D-A65B-2F0476BE8139}"/>
              </a:ext>
            </a:extLst>
          </p:cNvPr>
          <p:cNvSpPr>
            <a:spLocks noGrp="1"/>
          </p:cNvSpPr>
          <p:nvPr/>
        </p:nvSpPr>
        <p:spPr>
          <a:xfrm>
            <a:off x="647700" y="4705350"/>
            <a:ext cx="85725" cy="85725"/>
          </a:xfrm>
          <a:prstGeom prst="ellipse">
            <a:avLst/>
          </a:prstGeom>
          <a:solidFill>
            <a:srgbClr val="0F766E"/>
          </a:solidFill>
          <a:ln w="0">
            <a:solidFill>
              <a:srgbClr val="0F766E"/>
            </a:solidFill>
            <a:prstDash val="solid"/>
          </a:ln>
        </p:spPr>
        <p:txBody>
          <a:bodyPr/>
          <a:lstStyle/>
          <a:p>
            <a:endParaRPr lang="en-US"/>
          </a:p>
        </p:txBody>
      </p:sp>
      <p:sp>
        <p:nvSpPr>
          <p:cNvPr id="30" name="Rectangle 29">
            <a:extLst>
              <a:ext uri="{FF2B5EF4-FFF2-40B4-BE49-F238E27FC236}">
                <a16:creationId xmlns:a16="http://schemas.microsoft.com/office/drawing/2014/main" id="{658F7E09-412D-4660-9C72-13E811B36BB1}"/>
              </a:ext>
            </a:extLst>
          </p:cNvPr>
          <p:cNvSpPr>
            <a:spLocks noGrp="1"/>
          </p:cNvSpPr>
          <p:nvPr/>
        </p:nvSpPr>
        <p:spPr>
          <a:xfrm>
            <a:off x="819150" y="4629150"/>
            <a:ext cx="47815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Row count và AML count khớp nguồn</a:t>
            </a:r>
          </a:p>
        </p:txBody>
      </p:sp>
      <p:sp>
        <p:nvSpPr>
          <p:cNvPr id="31" name="Oval 30">
            <a:extLst>
              <a:ext uri="{FF2B5EF4-FFF2-40B4-BE49-F238E27FC236}">
                <a16:creationId xmlns:a16="http://schemas.microsoft.com/office/drawing/2014/main" id="{55858171-7DDD-4AF2-8540-8EDE79602F82}"/>
              </a:ext>
            </a:extLst>
          </p:cNvPr>
          <p:cNvSpPr>
            <a:spLocks noGrp="1"/>
          </p:cNvSpPr>
          <p:nvPr/>
        </p:nvSpPr>
        <p:spPr>
          <a:xfrm>
            <a:off x="6076950" y="4705350"/>
            <a:ext cx="85725" cy="85725"/>
          </a:xfrm>
          <a:prstGeom prst="ellipse">
            <a:avLst/>
          </a:prstGeom>
          <a:solidFill>
            <a:srgbClr val="0F766E"/>
          </a:solidFill>
          <a:ln w="0">
            <a:solidFill>
              <a:srgbClr val="0F766E"/>
            </a:solidFill>
            <a:prstDash val="solid"/>
          </a:ln>
        </p:spPr>
        <p:txBody>
          <a:bodyPr/>
          <a:lstStyle/>
          <a:p>
            <a:endParaRPr lang="en-US"/>
          </a:p>
        </p:txBody>
      </p:sp>
      <p:sp>
        <p:nvSpPr>
          <p:cNvPr id="32" name="Rectangle 31">
            <a:extLst>
              <a:ext uri="{FF2B5EF4-FFF2-40B4-BE49-F238E27FC236}">
                <a16:creationId xmlns:a16="http://schemas.microsoft.com/office/drawing/2014/main" id="{029E603B-DED2-4702-B133-B20419440DF0}"/>
              </a:ext>
            </a:extLst>
          </p:cNvPr>
          <p:cNvSpPr>
            <a:spLocks noGrp="1"/>
          </p:cNvSpPr>
          <p:nvPr/>
        </p:nvSpPr>
        <p:spPr>
          <a:xfrm>
            <a:off x="6248400" y="4629150"/>
            <a:ext cx="47815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Không missing bank/account/currency</a:t>
            </a:r>
          </a:p>
        </p:txBody>
      </p:sp>
      <p:sp>
        <p:nvSpPr>
          <p:cNvPr id="33" name="Oval 32">
            <a:extLst>
              <a:ext uri="{FF2B5EF4-FFF2-40B4-BE49-F238E27FC236}">
                <a16:creationId xmlns:a16="http://schemas.microsoft.com/office/drawing/2014/main" id="{8D43E616-FCE2-4E6F-9F70-1AA7865F690D}"/>
              </a:ext>
            </a:extLst>
          </p:cNvPr>
          <p:cNvSpPr>
            <a:spLocks noGrp="1"/>
          </p:cNvSpPr>
          <p:nvPr/>
        </p:nvSpPr>
        <p:spPr>
          <a:xfrm>
            <a:off x="647700" y="5305425"/>
            <a:ext cx="85725" cy="85725"/>
          </a:xfrm>
          <a:prstGeom prst="ellipse">
            <a:avLst/>
          </a:prstGeom>
          <a:solidFill>
            <a:srgbClr val="FF9900"/>
          </a:solidFill>
          <a:ln w="0">
            <a:solidFill>
              <a:srgbClr val="FF9900"/>
            </a:solidFill>
            <a:prstDash val="solid"/>
          </a:ln>
        </p:spPr>
        <p:txBody>
          <a:bodyPr/>
          <a:lstStyle/>
          <a:p>
            <a:endParaRPr lang="en-US"/>
          </a:p>
        </p:txBody>
      </p:sp>
      <p:sp>
        <p:nvSpPr>
          <p:cNvPr id="34" name="Rectangle 33">
            <a:extLst>
              <a:ext uri="{FF2B5EF4-FFF2-40B4-BE49-F238E27FC236}">
                <a16:creationId xmlns:a16="http://schemas.microsoft.com/office/drawing/2014/main" id="{47B1746C-6559-4B24-A600-6D6C6AF5639F}"/>
              </a:ext>
            </a:extLst>
          </p:cNvPr>
          <p:cNvSpPr>
            <a:spLocks noGrp="1"/>
          </p:cNvSpPr>
          <p:nvPr/>
        </p:nvSpPr>
        <p:spPr>
          <a:xfrm>
            <a:off x="819150" y="5229225"/>
            <a:ext cx="47815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Amount &gt; 0 và timestamp parse được</a:t>
            </a:r>
          </a:p>
        </p:txBody>
      </p:sp>
      <p:sp>
        <p:nvSpPr>
          <p:cNvPr id="35" name="Oval 34">
            <a:extLst>
              <a:ext uri="{FF2B5EF4-FFF2-40B4-BE49-F238E27FC236}">
                <a16:creationId xmlns:a16="http://schemas.microsoft.com/office/drawing/2014/main" id="{D6FCC4B1-D550-4DF8-B976-D2A9C57EE7E0}"/>
              </a:ext>
            </a:extLst>
          </p:cNvPr>
          <p:cNvSpPr>
            <a:spLocks noGrp="1"/>
          </p:cNvSpPr>
          <p:nvPr/>
        </p:nvSpPr>
        <p:spPr>
          <a:xfrm>
            <a:off x="6076950" y="5305425"/>
            <a:ext cx="85725" cy="85725"/>
          </a:xfrm>
          <a:prstGeom prst="ellipse">
            <a:avLst/>
          </a:prstGeom>
          <a:solidFill>
            <a:srgbClr val="FF9900"/>
          </a:solidFill>
          <a:ln w="0">
            <a:solidFill>
              <a:srgbClr val="FF9900"/>
            </a:solidFill>
            <a:prstDash val="solid"/>
          </a:ln>
        </p:spPr>
        <p:txBody>
          <a:bodyPr/>
          <a:lstStyle/>
          <a:p>
            <a:endParaRPr lang="en-US"/>
          </a:p>
        </p:txBody>
      </p:sp>
      <p:sp>
        <p:nvSpPr>
          <p:cNvPr id="36" name="Rectangle 35">
            <a:extLst>
              <a:ext uri="{FF2B5EF4-FFF2-40B4-BE49-F238E27FC236}">
                <a16:creationId xmlns:a16="http://schemas.microsoft.com/office/drawing/2014/main" id="{45018001-BB95-403C-A213-C360D9317418}"/>
              </a:ext>
            </a:extLst>
          </p:cNvPr>
          <p:cNvSpPr>
            <a:spLocks noGrp="1"/>
          </p:cNvSpPr>
          <p:nvPr/>
        </p:nvSpPr>
        <p:spPr>
          <a:xfrm>
            <a:off x="6248400" y="5229225"/>
            <a:ext cx="4781550" cy="457200"/>
          </a:xfrm>
          <a:prstGeom prst="rect">
            <a:avLst/>
          </a:prstGeom>
          <a:noFill/>
          <a:ln w="0">
            <a:noFill/>
            <a:prstDash val="solid"/>
          </a:ln>
        </p:spPr>
        <p:txBody>
          <a:bodyPr/>
          <a:lstStyle/>
          <a:p>
            <a:pPr algn="l">
              <a:buNone/>
              <a:defRPr sz="1500" b="0">
                <a:solidFill>
                  <a:srgbClr val="12315B"/>
                </a:solidFill>
              </a:defRPr>
            </a:pPr>
            <a:r>
              <a:rPr sz="1500" b="0">
                <a:solidFill>
                  <a:srgbClr val="12315B"/>
                </a:solidFill>
              </a:rPr>
              <a:t>Unknown dimension = 0 hoặc được ghi reject</a:t>
            </a:r>
          </a:p>
        </p:txBody>
      </p:sp>
      <p:sp>
        <p:nvSpPr>
          <p:cNvPr id="37" name="Rounded Rectangle 36">
            <a:extLst>
              <a:ext uri="{FF2B5EF4-FFF2-40B4-BE49-F238E27FC236}">
                <a16:creationId xmlns:a16="http://schemas.microsoft.com/office/drawing/2014/main" id="{EAF19054-B2A1-4E15-A025-49537D06AD42}"/>
              </a:ext>
            </a:extLst>
          </p:cNvPr>
          <p:cNvSpPr>
            <a:spLocks noGrp="1"/>
          </p:cNvSpPr>
          <p:nvPr/>
        </p:nvSpPr>
        <p:spPr>
          <a:xfrm>
            <a:off x="3390900" y="5943600"/>
            <a:ext cx="539115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38" name="Rectangle 37">
            <a:extLst>
              <a:ext uri="{FF2B5EF4-FFF2-40B4-BE49-F238E27FC236}">
                <a16:creationId xmlns:a16="http://schemas.microsoft.com/office/drawing/2014/main" id="{1C191153-EF1F-4B10-A321-3B138EB70B21}"/>
              </a:ext>
            </a:extLst>
          </p:cNvPr>
          <p:cNvSpPr>
            <a:spLocks noGrp="1"/>
          </p:cNvSpPr>
          <p:nvPr/>
        </p:nvSpPr>
        <p:spPr>
          <a:xfrm>
            <a:off x="3476625" y="5966732"/>
            <a:ext cx="5238750" cy="190500"/>
          </a:xfrm>
          <a:prstGeom prst="rect">
            <a:avLst/>
          </a:prstGeom>
          <a:noFill/>
          <a:ln w="0">
            <a:noFill/>
            <a:prstDash val="solid"/>
          </a:ln>
        </p:spPr>
        <p:txBody>
          <a:bodyPr/>
          <a:lstStyle/>
          <a:p>
            <a:pPr algn="ctr">
              <a:buNone/>
              <a:defRPr sz="1125" b="1">
                <a:solidFill>
                  <a:srgbClr val="0F766E"/>
                </a:solidFill>
              </a:defRPr>
            </a:pPr>
            <a:r>
              <a:rPr sz="1400" b="1">
                <a:solidFill>
                  <a:srgbClr val="0F766E"/>
                </a:solidFill>
              </a:rPr>
              <a:t>Glue dùng Spark phía dưới</a:t>
            </a:r>
            <a:r>
              <a:rPr lang="vi-VN" sz="1400" b="1">
                <a:solidFill>
                  <a:srgbClr val="0F766E"/>
                </a:solidFill>
              </a:rPr>
              <a:t>, chưa</a:t>
            </a:r>
            <a:r>
              <a:rPr sz="1400" b="1">
                <a:solidFill>
                  <a:srgbClr val="0F766E"/>
                </a:solidFill>
              </a:rPr>
              <a:t> viết mã PySpark</a:t>
            </a:r>
          </a:p>
        </p:txBody>
      </p:sp>
      <p:sp>
        <p:nvSpPr>
          <p:cNvPr id="40" name="Rectangle 39">
            <a:extLst>
              <a:ext uri="{FF2B5EF4-FFF2-40B4-BE49-F238E27FC236}">
                <a16:creationId xmlns:a16="http://schemas.microsoft.com/office/drawing/2014/main" id="{A6E69CDB-1AD7-47F8-BF6B-4F0156F530D1}"/>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11/17</a:t>
            </a:r>
          </a:p>
        </p:txBody>
      </p:sp>
    </p:spTree>
    <p:extLst>
      <p:ext uri="{BB962C8B-B14F-4D97-AF65-F5344CB8AC3E}">
        <p14:creationId xmlns:p14="http://schemas.microsoft.com/office/powerpoint/2010/main" val="817878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CA4A959B-3A22-4C03-8E33-FC98CB504475}"/>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Star Schema giữ đúng grain giao dịch</a:t>
            </a:r>
          </a:p>
        </p:txBody>
      </p:sp>
      <p:sp>
        <p:nvSpPr>
          <p:cNvPr id="2" name="Rectangle 1">
            <a:extLst>
              <a:ext uri="{FF2B5EF4-FFF2-40B4-BE49-F238E27FC236}">
                <a16:creationId xmlns:a16="http://schemas.microsoft.com/office/drawing/2014/main" id="{84F4B259-76EF-4A17-B790-AC02EBC08AEF}"/>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lang="vi-VN" sz="1650" b="0">
                <a:solidFill>
                  <a:srgbClr val="5C7291"/>
                </a:solidFill>
              </a:rPr>
              <a:t>1</a:t>
            </a:r>
            <a:r>
              <a:rPr sz="1650" b="0">
                <a:solidFill>
                  <a:srgbClr val="5C7291"/>
                </a:solidFill>
              </a:rPr>
              <a:t> dòng FactTransaction = </a:t>
            </a:r>
            <a:r>
              <a:rPr lang="vi-VN" sz="1650" b="0">
                <a:solidFill>
                  <a:srgbClr val="5C7291"/>
                </a:solidFill>
              </a:rPr>
              <a:t>1</a:t>
            </a:r>
            <a:r>
              <a:rPr sz="1650" b="0">
                <a:solidFill>
                  <a:srgbClr val="5C7291"/>
                </a:solidFill>
              </a:rPr>
              <a:t> giao dịch nguồn</a:t>
            </a:r>
          </a:p>
        </p:txBody>
      </p:sp>
      <p:sp>
        <p:nvSpPr>
          <p:cNvPr id="3" name="Rectangle 2">
            <a:extLst>
              <a:ext uri="{FF2B5EF4-FFF2-40B4-BE49-F238E27FC236}">
                <a16:creationId xmlns:a16="http://schemas.microsoft.com/office/drawing/2014/main" id="{2C03C891-601D-4E5D-B283-8F659B75C2CE}"/>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ectangle 4">
            <a:extLst>
              <a:ext uri="{FF2B5EF4-FFF2-40B4-BE49-F238E27FC236}">
                <a16:creationId xmlns:a16="http://schemas.microsoft.com/office/drawing/2014/main" id="{C2C4C08C-B135-4C2F-9C7F-9B4548F8B976}"/>
              </a:ext>
            </a:extLst>
          </p:cNvPr>
          <p:cNvSpPr>
            <a:spLocks noGrp="1"/>
          </p:cNvSpPr>
          <p:nvPr/>
        </p:nvSpPr>
        <p:spPr>
          <a:xfrm>
            <a:off x="2743200" y="2609850"/>
            <a:ext cx="1600200" cy="47625"/>
          </a:xfrm>
          <a:prstGeom prst="rect">
            <a:avLst/>
          </a:prstGeom>
          <a:solidFill>
            <a:srgbClr val="AFC0D4"/>
          </a:solidFill>
          <a:ln w="0">
            <a:solidFill>
              <a:srgbClr val="AFC0D4"/>
            </a:solidFill>
            <a:prstDash val="solid"/>
          </a:ln>
        </p:spPr>
        <p:txBody>
          <a:bodyPr/>
          <a:lstStyle/>
          <a:p>
            <a:endParaRPr lang="en-US"/>
          </a:p>
        </p:txBody>
      </p:sp>
      <p:sp>
        <p:nvSpPr>
          <p:cNvPr id="6" name="Rectangle 5">
            <a:extLst>
              <a:ext uri="{FF2B5EF4-FFF2-40B4-BE49-F238E27FC236}">
                <a16:creationId xmlns:a16="http://schemas.microsoft.com/office/drawing/2014/main" id="{8285F528-6B3C-45B3-B7E0-AAADD95BAB9D}"/>
              </a:ext>
            </a:extLst>
          </p:cNvPr>
          <p:cNvSpPr>
            <a:spLocks noGrp="1"/>
          </p:cNvSpPr>
          <p:nvPr/>
        </p:nvSpPr>
        <p:spPr>
          <a:xfrm>
            <a:off x="2743200" y="4038600"/>
            <a:ext cx="1600200" cy="47625"/>
          </a:xfrm>
          <a:prstGeom prst="rect">
            <a:avLst/>
          </a:prstGeom>
          <a:solidFill>
            <a:srgbClr val="AFC0D4"/>
          </a:solidFill>
          <a:ln w="0">
            <a:solidFill>
              <a:srgbClr val="AFC0D4"/>
            </a:solidFill>
            <a:prstDash val="solid"/>
          </a:ln>
        </p:spPr>
        <p:txBody>
          <a:bodyPr/>
          <a:lstStyle/>
          <a:p>
            <a:endParaRPr lang="en-US"/>
          </a:p>
        </p:txBody>
      </p:sp>
      <p:sp>
        <p:nvSpPr>
          <p:cNvPr id="7" name="Rectangle 6">
            <a:extLst>
              <a:ext uri="{FF2B5EF4-FFF2-40B4-BE49-F238E27FC236}">
                <a16:creationId xmlns:a16="http://schemas.microsoft.com/office/drawing/2014/main" id="{9B1C9A6F-E2C9-41A7-914B-A30434A59DDE}"/>
              </a:ext>
            </a:extLst>
          </p:cNvPr>
          <p:cNvSpPr>
            <a:spLocks noGrp="1"/>
          </p:cNvSpPr>
          <p:nvPr/>
        </p:nvSpPr>
        <p:spPr>
          <a:xfrm>
            <a:off x="7848600" y="2609850"/>
            <a:ext cx="1600200" cy="47625"/>
          </a:xfrm>
          <a:prstGeom prst="rect">
            <a:avLst/>
          </a:prstGeom>
          <a:solidFill>
            <a:srgbClr val="AFC0D4"/>
          </a:solidFill>
          <a:ln w="0">
            <a:solidFill>
              <a:srgbClr val="AFC0D4"/>
            </a:solidFill>
            <a:prstDash val="solid"/>
          </a:ln>
        </p:spPr>
        <p:txBody>
          <a:bodyPr/>
          <a:lstStyle/>
          <a:p>
            <a:endParaRPr lang="en-US"/>
          </a:p>
        </p:txBody>
      </p:sp>
      <p:sp>
        <p:nvSpPr>
          <p:cNvPr id="8" name="Rectangle 7">
            <a:extLst>
              <a:ext uri="{FF2B5EF4-FFF2-40B4-BE49-F238E27FC236}">
                <a16:creationId xmlns:a16="http://schemas.microsoft.com/office/drawing/2014/main" id="{8EF5F4E5-A1E2-432E-B154-D5B02A4A4A0B}"/>
              </a:ext>
            </a:extLst>
          </p:cNvPr>
          <p:cNvSpPr>
            <a:spLocks noGrp="1"/>
          </p:cNvSpPr>
          <p:nvPr/>
        </p:nvSpPr>
        <p:spPr>
          <a:xfrm>
            <a:off x="7848600" y="4038600"/>
            <a:ext cx="1600200" cy="47625"/>
          </a:xfrm>
          <a:prstGeom prst="rect">
            <a:avLst/>
          </a:prstGeom>
          <a:solidFill>
            <a:srgbClr val="AFC0D4"/>
          </a:solidFill>
          <a:ln w="0">
            <a:solidFill>
              <a:srgbClr val="AFC0D4"/>
            </a:solidFill>
            <a:prstDash val="solid"/>
          </a:ln>
        </p:spPr>
        <p:txBody>
          <a:bodyPr/>
          <a:lstStyle/>
          <a:p>
            <a:endParaRPr lang="en-US"/>
          </a:p>
        </p:txBody>
      </p:sp>
      <p:sp>
        <p:nvSpPr>
          <p:cNvPr id="9" name="Rectangle 8">
            <a:extLst>
              <a:ext uri="{FF2B5EF4-FFF2-40B4-BE49-F238E27FC236}">
                <a16:creationId xmlns:a16="http://schemas.microsoft.com/office/drawing/2014/main" id="{4521C4E0-B38D-4414-8542-2F6EA5BE41D1}"/>
              </a:ext>
            </a:extLst>
          </p:cNvPr>
          <p:cNvSpPr>
            <a:spLocks noGrp="1"/>
          </p:cNvSpPr>
          <p:nvPr/>
        </p:nvSpPr>
        <p:spPr>
          <a:xfrm>
            <a:off x="5829300" y="1771650"/>
            <a:ext cx="47625" cy="628650"/>
          </a:xfrm>
          <a:prstGeom prst="rect">
            <a:avLst/>
          </a:prstGeom>
          <a:solidFill>
            <a:srgbClr val="AFC0D4"/>
          </a:solidFill>
          <a:ln w="0">
            <a:solidFill>
              <a:srgbClr val="AFC0D4"/>
            </a:solidFill>
            <a:prstDash val="solid"/>
          </a:ln>
        </p:spPr>
        <p:txBody>
          <a:bodyPr/>
          <a:lstStyle/>
          <a:p>
            <a:endParaRPr lang="en-US"/>
          </a:p>
        </p:txBody>
      </p:sp>
      <p:sp>
        <p:nvSpPr>
          <p:cNvPr id="10" name="Rectangle 9">
            <a:extLst>
              <a:ext uri="{FF2B5EF4-FFF2-40B4-BE49-F238E27FC236}">
                <a16:creationId xmlns:a16="http://schemas.microsoft.com/office/drawing/2014/main" id="{906D6C0C-FC4A-4EF5-BC16-88C3AB4A9223}"/>
              </a:ext>
            </a:extLst>
          </p:cNvPr>
          <p:cNvSpPr>
            <a:spLocks noGrp="1"/>
          </p:cNvSpPr>
          <p:nvPr/>
        </p:nvSpPr>
        <p:spPr>
          <a:xfrm>
            <a:off x="5829300" y="4552950"/>
            <a:ext cx="47625" cy="723900"/>
          </a:xfrm>
          <a:prstGeom prst="rect">
            <a:avLst/>
          </a:prstGeom>
          <a:solidFill>
            <a:srgbClr val="AFC0D4"/>
          </a:solidFill>
          <a:ln w="0">
            <a:solidFill>
              <a:srgbClr val="AFC0D4"/>
            </a:solidFill>
            <a:prstDash val="solid"/>
          </a:ln>
        </p:spPr>
        <p:txBody>
          <a:bodyPr/>
          <a:lstStyle/>
          <a:p>
            <a:endParaRPr lang="en-US"/>
          </a:p>
        </p:txBody>
      </p:sp>
      <p:sp>
        <p:nvSpPr>
          <p:cNvPr id="11" name="Rounded Rectangle 10">
            <a:extLst>
              <a:ext uri="{FF2B5EF4-FFF2-40B4-BE49-F238E27FC236}">
                <a16:creationId xmlns:a16="http://schemas.microsoft.com/office/drawing/2014/main" id="{AB752E7E-95CF-4FFD-A12F-468160166BFB}"/>
              </a:ext>
            </a:extLst>
          </p:cNvPr>
          <p:cNvSpPr>
            <a:spLocks noGrp="1"/>
          </p:cNvSpPr>
          <p:nvPr/>
        </p:nvSpPr>
        <p:spPr>
          <a:xfrm>
            <a:off x="4343400" y="2400300"/>
            <a:ext cx="3505200" cy="2152650"/>
          </a:xfrm>
          <a:prstGeom prst="roundRect">
            <a:avLst>
              <a:gd name="adj" fmla="val 7080"/>
            </a:avLst>
          </a:prstGeom>
          <a:solidFill>
            <a:srgbClr val="FFF3DD"/>
          </a:solidFill>
          <a:ln w="14288">
            <a:solidFill>
              <a:srgbClr val="BFD2E8"/>
            </a:solidFill>
            <a:prstDash val="solid"/>
          </a:ln>
        </p:spPr>
        <p:txBody>
          <a:bodyPr/>
          <a:lstStyle/>
          <a:p>
            <a:endParaRPr lang="en-US"/>
          </a:p>
        </p:txBody>
      </p:sp>
      <p:sp>
        <p:nvSpPr>
          <p:cNvPr id="12" name="Rectangle 11">
            <a:extLst>
              <a:ext uri="{FF2B5EF4-FFF2-40B4-BE49-F238E27FC236}">
                <a16:creationId xmlns:a16="http://schemas.microsoft.com/office/drawing/2014/main" id="{B439FDE3-0A49-4217-993C-D19C62E89B4F}"/>
              </a:ext>
            </a:extLst>
          </p:cNvPr>
          <p:cNvSpPr>
            <a:spLocks noGrp="1"/>
          </p:cNvSpPr>
          <p:nvPr/>
        </p:nvSpPr>
        <p:spPr>
          <a:xfrm>
            <a:off x="4657725" y="2647950"/>
            <a:ext cx="2857500" cy="323850"/>
          </a:xfrm>
          <a:prstGeom prst="rect">
            <a:avLst/>
          </a:prstGeom>
          <a:noFill/>
          <a:ln w="0">
            <a:noFill/>
            <a:prstDash val="solid"/>
          </a:ln>
        </p:spPr>
        <p:txBody>
          <a:bodyPr/>
          <a:lstStyle/>
          <a:p>
            <a:pPr algn="ctr">
              <a:buNone/>
              <a:defRPr sz="2175" b="1">
                <a:solidFill>
                  <a:srgbClr val="FF9900"/>
                </a:solidFill>
              </a:defRPr>
            </a:pPr>
            <a:r>
              <a:rPr sz="2400" b="1">
                <a:solidFill>
                  <a:srgbClr val="FF9900"/>
                </a:solidFill>
              </a:rPr>
              <a:t>FactTransaction</a:t>
            </a:r>
          </a:p>
        </p:txBody>
      </p:sp>
      <p:sp>
        <p:nvSpPr>
          <p:cNvPr id="13" name="Rectangle 12">
            <a:extLst>
              <a:ext uri="{FF2B5EF4-FFF2-40B4-BE49-F238E27FC236}">
                <a16:creationId xmlns:a16="http://schemas.microsoft.com/office/drawing/2014/main" id="{FB4D8E45-7F44-4A92-9626-9FCE77208CDF}"/>
              </a:ext>
            </a:extLst>
          </p:cNvPr>
          <p:cNvSpPr>
            <a:spLocks noGrp="1"/>
          </p:cNvSpPr>
          <p:nvPr/>
        </p:nvSpPr>
        <p:spPr>
          <a:xfrm>
            <a:off x="4857750" y="3152775"/>
            <a:ext cx="2476500" cy="1181100"/>
          </a:xfrm>
          <a:prstGeom prst="rect">
            <a:avLst/>
          </a:prstGeom>
          <a:noFill/>
          <a:ln w="0">
            <a:noFill/>
            <a:prstDash val="solid"/>
          </a:ln>
        </p:spPr>
        <p:txBody>
          <a:bodyPr/>
          <a:lstStyle/>
          <a:p>
            <a:pPr algn="ctr">
              <a:buNone/>
              <a:defRPr sz="1350" b="0">
                <a:solidFill>
                  <a:srgbClr val="12315B"/>
                </a:solidFill>
              </a:defRPr>
            </a:pPr>
            <a:r>
              <a:rPr sz="1350" b="0">
                <a:solidFill>
                  <a:srgbClr val="12315B"/>
                </a:solidFill>
              </a:rPr>
              <a:t>transaction_timestamp</a:t>
            </a:r>
          </a:p>
          <a:p>
            <a:pPr algn="ctr">
              <a:buNone/>
              <a:defRPr sz="1350" b="0">
                <a:solidFill>
                  <a:srgbClr val="12315B"/>
                </a:solidFill>
              </a:defRPr>
            </a:pPr>
            <a:r>
              <a:rPr sz="1350" b="0">
                <a:solidFill>
                  <a:srgbClr val="12315B"/>
                </a:solidFill>
              </a:rPr>
              <a:t>from/to account &amp; bank</a:t>
            </a:r>
          </a:p>
          <a:p>
            <a:pPr algn="ctr">
              <a:buNone/>
              <a:defRPr sz="1350" b="0">
                <a:solidFill>
                  <a:srgbClr val="12315B"/>
                </a:solidFill>
              </a:defRPr>
            </a:pPr>
            <a:r>
              <a:rPr sz="1350" b="0">
                <a:solidFill>
                  <a:srgbClr val="12315B"/>
                </a:solidFill>
              </a:rPr>
              <a:t>amount paid/received</a:t>
            </a:r>
          </a:p>
          <a:p>
            <a:pPr algn="ctr">
              <a:buNone/>
              <a:defRPr sz="1350" b="0">
                <a:solidFill>
                  <a:srgbClr val="12315B"/>
                </a:solidFill>
              </a:defRPr>
            </a:pPr>
            <a:r>
              <a:rPr sz="1350" b="0">
                <a:solidFill>
                  <a:srgbClr val="12315B"/>
                </a:solidFill>
              </a:rPr>
              <a:t>payment/receiving currency</a:t>
            </a:r>
          </a:p>
          <a:p>
            <a:pPr algn="ctr">
              <a:buNone/>
              <a:defRPr sz="1350" b="0">
                <a:solidFill>
                  <a:srgbClr val="12315B"/>
                </a:solidFill>
              </a:defRPr>
            </a:pPr>
            <a:r>
              <a:rPr sz="1350" b="0">
                <a:solidFill>
                  <a:srgbClr val="12315B"/>
                </a:solidFill>
              </a:rPr>
              <a:t>payment format </a:t>
            </a:r>
            <a:r>
              <a:rPr lang="vi-VN" sz="1350" b="0">
                <a:solidFill>
                  <a:srgbClr val="12315B"/>
                </a:solidFill>
              </a:rPr>
              <a:t>-</a:t>
            </a:r>
            <a:r>
              <a:rPr sz="1350" b="0">
                <a:solidFill>
                  <a:srgbClr val="12315B"/>
                </a:solidFill>
              </a:rPr>
              <a:t> AML flag</a:t>
            </a:r>
          </a:p>
        </p:txBody>
      </p:sp>
      <p:sp>
        <p:nvSpPr>
          <p:cNvPr id="14" name="Rounded Rectangle 13">
            <a:extLst>
              <a:ext uri="{FF2B5EF4-FFF2-40B4-BE49-F238E27FC236}">
                <a16:creationId xmlns:a16="http://schemas.microsoft.com/office/drawing/2014/main" id="{722B64B3-4636-4422-ACC9-18D4994BD5E6}"/>
              </a:ext>
            </a:extLst>
          </p:cNvPr>
          <p:cNvSpPr>
            <a:spLocks noGrp="1"/>
          </p:cNvSpPr>
          <p:nvPr/>
        </p:nvSpPr>
        <p:spPr>
          <a:xfrm>
            <a:off x="685800" y="2105025"/>
            <a:ext cx="2057400" cy="1066800"/>
          </a:xfrm>
          <a:prstGeom prst="roundRect">
            <a:avLst>
              <a:gd name="adj" fmla="val 10714"/>
            </a:avLst>
          </a:prstGeom>
          <a:solidFill>
            <a:srgbClr val="EAF2FB"/>
          </a:solidFill>
          <a:ln w="9525">
            <a:solidFill>
              <a:srgbClr val="2563EB"/>
            </a:solidFill>
            <a:prstDash val="solid"/>
          </a:ln>
        </p:spPr>
        <p:txBody>
          <a:bodyPr/>
          <a:lstStyle/>
          <a:p>
            <a:endParaRPr lang="en-US"/>
          </a:p>
        </p:txBody>
      </p:sp>
      <p:sp>
        <p:nvSpPr>
          <p:cNvPr id="15" name="Rectangle 14">
            <a:extLst>
              <a:ext uri="{FF2B5EF4-FFF2-40B4-BE49-F238E27FC236}">
                <a16:creationId xmlns:a16="http://schemas.microsoft.com/office/drawing/2014/main" id="{69A89609-6682-4CCD-916A-52C17217572E}"/>
              </a:ext>
            </a:extLst>
          </p:cNvPr>
          <p:cNvSpPr>
            <a:spLocks noGrp="1"/>
          </p:cNvSpPr>
          <p:nvPr/>
        </p:nvSpPr>
        <p:spPr>
          <a:xfrm>
            <a:off x="795338" y="2276475"/>
            <a:ext cx="17907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DimAccount</a:t>
            </a:r>
          </a:p>
        </p:txBody>
      </p:sp>
      <p:sp>
        <p:nvSpPr>
          <p:cNvPr id="16" name="Rectangle 15">
            <a:extLst>
              <a:ext uri="{FF2B5EF4-FFF2-40B4-BE49-F238E27FC236}">
                <a16:creationId xmlns:a16="http://schemas.microsoft.com/office/drawing/2014/main" id="{229C6520-CB49-4E95-A770-7B576DC84DA2}"/>
              </a:ext>
            </a:extLst>
          </p:cNvPr>
          <p:cNvSpPr>
            <a:spLocks noGrp="1"/>
          </p:cNvSpPr>
          <p:nvPr/>
        </p:nvSpPr>
        <p:spPr>
          <a:xfrm>
            <a:off x="795338" y="2628900"/>
            <a:ext cx="1790700" cy="438150"/>
          </a:xfrm>
          <a:prstGeom prst="rect">
            <a:avLst/>
          </a:prstGeom>
          <a:noFill/>
          <a:ln w="0">
            <a:noFill/>
            <a:prstDash val="solid"/>
          </a:ln>
        </p:spPr>
        <p:txBody>
          <a:bodyPr/>
          <a:lstStyle/>
          <a:p>
            <a:pPr algn="ctr">
              <a:buNone/>
              <a:defRPr sz="1200" b="0">
                <a:solidFill>
                  <a:srgbClr val="5C7291"/>
                </a:solidFill>
              </a:defRPr>
            </a:pPr>
            <a:r>
              <a:rPr sz="1400" b="0">
                <a:solidFill>
                  <a:srgbClr val="5C7291"/>
                </a:solidFill>
              </a:rPr>
              <a:t>role: from / to</a:t>
            </a:r>
          </a:p>
        </p:txBody>
      </p:sp>
      <p:sp>
        <p:nvSpPr>
          <p:cNvPr id="17" name="Rounded Rectangle 16">
            <a:extLst>
              <a:ext uri="{FF2B5EF4-FFF2-40B4-BE49-F238E27FC236}">
                <a16:creationId xmlns:a16="http://schemas.microsoft.com/office/drawing/2014/main" id="{A82564E1-7827-4CBF-B282-FF893291DA27}"/>
              </a:ext>
            </a:extLst>
          </p:cNvPr>
          <p:cNvSpPr>
            <a:spLocks noGrp="1"/>
          </p:cNvSpPr>
          <p:nvPr/>
        </p:nvSpPr>
        <p:spPr>
          <a:xfrm>
            <a:off x="685800" y="3533775"/>
            <a:ext cx="2057400" cy="1066800"/>
          </a:xfrm>
          <a:prstGeom prst="roundRect">
            <a:avLst>
              <a:gd name="adj" fmla="val 10714"/>
            </a:avLst>
          </a:prstGeom>
          <a:solidFill>
            <a:srgbClr val="E5F7F4"/>
          </a:solidFill>
          <a:ln w="9525">
            <a:solidFill>
              <a:srgbClr val="0F766E"/>
            </a:solidFill>
            <a:prstDash val="solid"/>
          </a:ln>
        </p:spPr>
        <p:txBody>
          <a:bodyPr/>
          <a:lstStyle/>
          <a:p>
            <a:endParaRPr lang="en-US"/>
          </a:p>
        </p:txBody>
      </p:sp>
      <p:sp>
        <p:nvSpPr>
          <p:cNvPr id="18" name="Rectangle 17">
            <a:extLst>
              <a:ext uri="{FF2B5EF4-FFF2-40B4-BE49-F238E27FC236}">
                <a16:creationId xmlns:a16="http://schemas.microsoft.com/office/drawing/2014/main" id="{B1A03D6E-695D-4AF4-8F24-87B0E5939D30}"/>
              </a:ext>
            </a:extLst>
          </p:cNvPr>
          <p:cNvSpPr>
            <a:spLocks noGrp="1"/>
          </p:cNvSpPr>
          <p:nvPr/>
        </p:nvSpPr>
        <p:spPr>
          <a:xfrm>
            <a:off x="795338" y="3714749"/>
            <a:ext cx="17907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DimBank</a:t>
            </a:r>
          </a:p>
        </p:txBody>
      </p:sp>
      <p:sp>
        <p:nvSpPr>
          <p:cNvPr id="19" name="Rectangle 18">
            <a:extLst>
              <a:ext uri="{FF2B5EF4-FFF2-40B4-BE49-F238E27FC236}">
                <a16:creationId xmlns:a16="http://schemas.microsoft.com/office/drawing/2014/main" id="{E7D7EC0E-ABA0-4F71-BC69-C6098584951B}"/>
              </a:ext>
            </a:extLst>
          </p:cNvPr>
          <p:cNvSpPr>
            <a:spLocks noGrp="1"/>
          </p:cNvSpPr>
          <p:nvPr/>
        </p:nvSpPr>
        <p:spPr>
          <a:xfrm>
            <a:off x="795338" y="4067174"/>
            <a:ext cx="1790700" cy="438150"/>
          </a:xfrm>
          <a:prstGeom prst="rect">
            <a:avLst/>
          </a:prstGeom>
          <a:noFill/>
          <a:ln w="0">
            <a:noFill/>
            <a:prstDash val="solid"/>
          </a:ln>
        </p:spPr>
        <p:txBody>
          <a:bodyPr/>
          <a:lstStyle/>
          <a:p>
            <a:pPr algn="ctr">
              <a:buNone/>
              <a:defRPr sz="1200" b="0">
                <a:solidFill>
                  <a:srgbClr val="5C7291"/>
                </a:solidFill>
              </a:defRPr>
            </a:pPr>
            <a:r>
              <a:rPr sz="1400" b="0">
                <a:solidFill>
                  <a:srgbClr val="5C7291"/>
                </a:solidFill>
              </a:rPr>
              <a:t>role: from / to</a:t>
            </a:r>
          </a:p>
        </p:txBody>
      </p:sp>
      <p:sp>
        <p:nvSpPr>
          <p:cNvPr id="20" name="Rounded Rectangle 19">
            <a:extLst>
              <a:ext uri="{FF2B5EF4-FFF2-40B4-BE49-F238E27FC236}">
                <a16:creationId xmlns:a16="http://schemas.microsoft.com/office/drawing/2014/main" id="{CDF2BC89-DBBF-4733-9C50-34734D2E48FC}"/>
              </a:ext>
            </a:extLst>
          </p:cNvPr>
          <p:cNvSpPr>
            <a:spLocks noGrp="1"/>
          </p:cNvSpPr>
          <p:nvPr/>
        </p:nvSpPr>
        <p:spPr>
          <a:xfrm>
            <a:off x="9448800" y="2105025"/>
            <a:ext cx="2057400" cy="1066800"/>
          </a:xfrm>
          <a:prstGeom prst="roundRect">
            <a:avLst>
              <a:gd name="adj" fmla="val 10714"/>
            </a:avLst>
          </a:prstGeom>
          <a:solidFill>
            <a:srgbClr val="F2ECFF"/>
          </a:solidFill>
          <a:ln w="9525">
            <a:solidFill>
              <a:srgbClr val="7C3AED"/>
            </a:solidFill>
            <a:prstDash val="solid"/>
          </a:ln>
        </p:spPr>
        <p:txBody>
          <a:bodyPr/>
          <a:lstStyle/>
          <a:p>
            <a:endParaRPr lang="en-US"/>
          </a:p>
        </p:txBody>
      </p:sp>
      <p:sp>
        <p:nvSpPr>
          <p:cNvPr id="21" name="Rectangle 20">
            <a:extLst>
              <a:ext uri="{FF2B5EF4-FFF2-40B4-BE49-F238E27FC236}">
                <a16:creationId xmlns:a16="http://schemas.microsoft.com/office/drawing/2014/main" id="{ED3B7E80-B4EC-4F92-935B-011FCF6B9E3E}"/>
              </a:ext>
            </a:extLst>
          </p:cNvPr>
          <p:cNvSpPr>
            <a:spLocks noGrp="1"/>
          </p:cNvSpPr>
          <p:nvPr/>
        </p:nvSpPr>
        <p:spPr>
          <a:xfrm>
            <a:off x="9582150" y="2276475"/>
            <a:ext cx="17907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DimCurrency</a:t>
            </a:r>
          </a:p>
        </p:txBody>
      </p:sp>
      <p:sp>
        <p:nvSpPr>
          <p:cNvPr id="22" name="Rectangle 21">
            <a:extLst>
              <a:ext uri="{FF2B5EF4-FFF2-40B4-BE49-F238E27FC236}">
                <a16:creationId xmlns:a16="http://schemas.microsoft.com/office/drawing/2014/main" id="{89505356-C26D-46EE-ABAE-DA1D00A0E906}"/>
              </a:ext>
            </a:extLst>
          </p:cNvPr>
          <p:cNvSpPr>
            <a:spLocks noGrp="1"/>
          </p:cNvSpPr>
          <p:nvPr/>
        </p:nvSpPr>
        <p:spPr>
          <a:xfrm>
            <a:off x="9582150" y="2628900"/>
            <a:ext cx="1790700" cy="438150"/>
          </a:xfrm>
          <a:prstGeom prst="rect">
            <a:avLst/>
          </a:prstGeom>
          <a:noFill/>
          <a:ln w="0">
            <a:noFill/>
            <a:prstDash val="solid"/>
          </a:ln>
        </p:spPr>
        <p:txBody>
          <a:bodyPr/>
          <a:lstStyle/>
          <a:p>
            <a:pPr algn="ctr">
              <a:buNone/>
              <a:defRPr sz="1200" b="0">
                <a:solidFill>
                  <a:srgbClr val="5C7291"/>
                </a:solidFill>
              </a:defRPr>
            </a:pPr>
            <a:r>
              <a:rPr sz="1400" b="0">
                <a:solidFill>
                  <a:srgbClr val="5C7291"/>
                </a:solidFill>
              </a:rPr>
              <a:t>paid / received</a:t>
            </a:r>
          </a:p>
        </p:txBody>
      </p:sp>
      <p:sp>
        <p:nvSpPr>
          <p:cNvPr id="23" name="Rounded Rectangle 22">
            <a:extLst>
              <a:ext uri="{FF2B5EF4-FFF2-40B4-BE49-F238E27FC236}">
                <a16:creationId xmlns:a16="http://schemas.microsoft.com/office/drawing/2014/main" id="{E36A3620-F2C5-4AF8-BF16-931A4DF8BB2B}"/>
              </a:ext>
            </a:extLst>
          </p:cNvPr>
          <p:cNvSpPr>
            <a:spLocks noGrp="1"/>
          </p:cNvSpPr>
          <p:nvPr/>
        </p:nvSpPr>
        <p:spPr>
          <a:xfrm>
            <a:off x="9448800" y="3533775"/>
            <a:ext cx="2057400" cy="1066800"/>
          </a:xfrm>
          <a:prstGeom prst="roundRect">
            <a:avLst>
              <a:gd name="adj" fmla="val 10714"/>
            </a:avLst>
          </a:prstGeom>
          <a:solidFill>
            <a:srgbClr val="FFF3DD"/>
          </a:solidFill>
          <a:ln w="9525">
            <a:solidFill>
              <a:srgbClr val="FF9900"/>
            </a:solidFill>
            <a:prstDash val="solid"/>
          </a:ln>
        </p:spPr>
        <p:txBody>
          <a:bodyPr/>
          <a:lstStyle/>
          <a:p>
            <a:endParaRPr lang="en-US"/>
          </a:p>
        </p:txBody>
      </p:sp>
      <p:sp>
        <p:nvSpPr>
          <p:cNvPr id="24" name="Rectangle 23">
            <a:extLst>
              <a:ext uri="{FF2B5EF4-FFF2-40B4-BE49-F238E27FC236}">
                <a16:creationId xmlns:a16="http://schemas.microsoft.com/office/drawing/2014/main" id="{66BDBCCA-2CA1-49A6-94F3-41353C05C650}"/>
              </a:ext>
            </a:extLst>
          </p:cNvPr>
          <p:cNvSpPr>
            <a:spLocks noGrp="1"/>
          </p:cNvSpPr>
          <p:nvPr/>
        </p:nvSpPr>
        <p:spPr>
          <a:xfrm>
            <a:off x="9582150" y="3645353"/>
            <a:ext cx="17907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DimPayment</a:t>
            </a:r>
          </a:p>
        </p:txBody>
      </p:sp>
      <p:sp>
        <p:nvSpPr>
          <p:cNvPr id="25" name="Rectangle 24">
            <a:extLst>
              <a:ext uri="{FF2B5EF4-FFF2-40B4-BE49-F238E27FC236}">
                <a16:creationId xmlns:a16="http://schemas.microsoft.com/office/drawing/2014/main" id="{1F6CAF81-2E9D-4087-937A-F53AA20E6E70}"/>
              </a:ext>
            </a:extLst>
          </p:cNvPr>
          <p:cNvSpPr>
            <a:spLocks noGrp="1"/>
          </p:cNvSpPr>
          <p:nvPr/>
        </p:nvSpPr>
        <p:spPr>
          <a:xfrm>
            <a:off x="9648825" y="3995057"/>
            <a:ext cx="1657350" cy="438150"/>
          </a:xfrm>
          <a:prstGeom prst="rect">
            <a:avLst/>
          </a:prstGeom>
          <a:noFill/>
          <a:ln w="0">
            <a:noFill/>
            <a:prstDash val="solid"/>
          </a:ln>
        </p:spPr>
        <p:txBody>
          <a:bodyPr/>
          <a:lstStyle/>
          <a:p>
            <a:pPr algn="ctr">
              <a:buNone/>
              <a:defRPr sz="1200" b="0">
                <a:solidFill>
                  <a:srgbClr val="5C7291"/>
                </a:solidFill>
              </a:defRPr>
            </a:pPr>
            <a:r>
              <a:rPr sz="1400" b="0">
                <a:solidFill>
                  <a:srgbClr val="5C7291"/>
                </a:solidFill>
              </a:rPr>
              <a:t>format:</a:t>
            </a:r>
            <a:endParaRPr lang="vi-VN" sz="1400" b="0">
              <a:solidFill>
                <a:srgbClr val="5C7291"/>
              </a:solidFill>
            </a:endParaRPr>
          </a:p>
          <a:p>
            <a:pPr algn="ctr">
              <a:buNone/>
              <a:defRPr sz="1200" b="0">
                <a:solidFill>
                  <a:srgbClr val="5C7291"/>
                </a:solidFill>
              </a:defRPr>
            </a:pPr>
            <a:r>
              <a:rPr sz="1400" b="0">
                <a:solidFill>
                  <a:srgbClr val="5C7291"/>
                </a:solidFill>
              </a:rPr>
              <a:t>ACH</a:t>
            </a:r>
            <a:r>
              <a:rPr lang="vi-VN" sz="1400" b="0">
                <a:solidFill>
                  <a:srgbClr val="5C7291"/>
                </a:solidFill>
              </a:rPr>
              <a:t>, </a:t>
            </a:r>
            <a:r>
              <a:rPr sz="1400" b="0">
                <a:solidFill>
                  <a:srgbClr val="5C7291"/>
                </a:solidFill>
              </a:rPr>
              <a:t>Cheque ...</a:t>
            </a:r>
          </a:p>
        </p:txBody>
      </p:sp>
      <p:sp>
        <p:nvSpPr>
          <p:cNvPr id="26" name="Rounded Rectangle 25">
            <a:extLst>
              <a:ext uri="{FF2B5EF4-FFF2-40B4-BE49-F238E27FC236}">
                <a16:creationId xmlns:a16="http://schemas.microsoft.com/office/drawing/2014/main" id="{52085E16-4061-4B4E-9E96-BD4607A20560}"/>
              </a:ext>
            </a:extLst>
          </p:cNvPr>
          <p:cNvSpPr>
            <a:spLocks noGrp="1"/>
          </p:cNvSpPr>
          <p:nvPr/>
        </p:nvSpPr>
        <p:spPr>
          <a:xfrm>
            <a:off x="4838700" y="1428750"/>
            <a:ext cx="2019300" cy="781050"/>
          </a:xfrm>
          <a:prstGeom prst="roundRect">
            <a:avLst>
              <a:gd name="adj" fmla="val 14634"/>
            </a:avLst>
          </a:prstGeom>
          <a:solidFill>
            <a:srgbClr val="FFFFFF"/>
          </a:solidFill>
          <a:ln w="9525">
            <a:solidFill>
              <a:srgbClr val="2563EB"/>
            </a:solidFill>
            <a:prstDash val="solid"/>
          </a:ln>
        </p:spPr>
        <p:txBody>
          <a:bodyPr/>
          <a:lstStyle/>
          <a:p>
            <a:endParaRPr lang="en-US"/>
          </a:p>
        </p:txBody>
      </p:sp>
      <p:sp>
        <p:nvSpPr>
          <p:cNvPr id="27" name="Rectangle 26">
            <a:extLst>
              <a:ext uri="{FF2B5EF4-FFF2-40B4-BE49-F238E27FC236}">
                <a16:creationId xmlns:a16="http://schemas.microsoft.com/office/drawing/2014/main" id="{DE63D484-6EB0-4726-9498-2DC3EB365B14}"/>
              </a:ext>
            </a:extLst>
          </p:cNvPr>
          <p:cNvSpPr>
            <a:spLocks noGrp="1"/>
          </p:cNvSpPr>
          <p:nvPr/>
        </p:nvSpPr>
        <p:spPr>
          <a:xfrm>
            <a:off x="4953000" y="1476375"/>
            <a:ext cx="1752600" cy="285750"/>
          </a:xfrm>
          <a:prstGeom prst="rect">
            <a:avLst/>
          </a:prstGeom>
          <a:noFill/>
          <a:ln w="0">
            <a:noFill/>
            <a:prstDash val="solid"/>
          </a:ln>
        </p:spPr>
        <p:txBody>
          <a:bodyPr/>
          <a:lstStyle/>
          <a:p>
            <a:pPr algn="ctr">
              <a:buNone/>
              <a:defRPr sz="1575" b="1">
                <a:solidFill>
                  <a:srgbClr val="12315B"/>
                </a:solidFill>
              </a:defRPr>
            </a:pPr>
            <a:r>
              <a:rPr sz="2000" b="1">
                <a:solidFill>
                  <a:srgbClr val="12315B"/>
                </a:solidFill>
              </a:rPr>
              <a:t>DimDate</a:t>
            </a:r>
          </a:p>
        </p:txBody>
      </p:sp>
      <p:sp>
        <p:nvSpPr>
          <p:cNvPr id="28" name="Rectangle 27">
            <a:extLst>
              <a:ext uri="{FF2B5EF4-FFF2-40B4-BE49-F238E27FC236}">
                <a16:creationId xmlns:a16="http://schemas.microsoft.com/office/drawing/2014/main" id="{21CA5BE8-5C88-4A5A-8CF1-DCC5B75345A0}"/>
              </a:ext>
            </a:extLst>
          </p:cNvPr>
          <p:cNvSpPr>
            <a:spLocks noGrp="1"/>
          </p:cNvSpPr>
          <p:nvPr/>
        </p:nvSpPr>
        <p:spPr>
          <a:xfrm>
            <a:off x="4953000" y="1828800"/>
            <a:ext cx="1752600" cy="15240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day </a:t>
            </a:r>
            <a:r>
              <a:rPr lang="vi-VN" sz="1400" b="0">
                <a:solidFill>
                  <a:srgbClr val="5C7291"/>
                </a:solidFill>
              </a:rPr>
              <a:t>-</a:t>
            </a:r>
            <a:r>
              <a:rPr sz="1400" b="0">
                <a:solidFill>
                  <a:srgbClr val="5C7291"/>
                </a:solidFill>
              </a:rPr>
              <a:t> week </a:t>
            </a:r>
            <a:r>
              <a:rPr lang="vi-VN" sz="1400" b="0">
                <a:solidFill>
                  <a:srgbClr val="5C7291"/>
                </a:solidFill>
              </a:rPr>
              <a:t>-</a:t>
            </a:r>
            <a:r>
              <a:rPr sz="1400" b="0">
                <a:solidFill>
                  <a:srgbClr val="5C7291"/>
                </a:solidFill>
              </a:rPr>
              <a:t> month</a:t>
            </a:r>
          </a:p>
        </p:txBody>
      </p:sp>
      <p:sp>
        <p:nvSpPr>
          <p:cNvPr id="29" name="Rounded Rectangle 28">
            <a:extLst>
              <a:ext uri="{FF2B5EF4-FFF2-40B4-BE49-F238E27FC236}">
                <a16:creationId xmlns:a16="http://schemas.microsoft.com/office/drawing/2014/main" id="{171ED1B7-75F5-4E84-9476-3B048E2421B0}"/>
              </a:ext>
            </a:extLst>
          </p:cNvPr>
          <p:cNvSpPr>
            <a:spLocks noGrp="1"/>
          </p:cNvSpPr>
          <p:nvPr/>
        </p:nvSpPr>
        <p:spPr>
          <a:xfrm>
            <a:off x="4838700" y="5105400"/>
            <a:ext cx="2019300" cy="781050"/>
          </a:xfrm>
          <a:prstGeom prst="roundRect">
            <a:avLst>
              <a:gd name="adj" fmla="val 14634"/>
            </a:avLst>
          </a:prstGeom>
          <a:solidFill>
            <a:srgbClr val="FBEAEC"/>
          </a:solidFill>
          <a:ln w="9525">
            <a:solidFill>
              <a:srgbClr val="C83E4D"/>
            </a:solidFill>
            <a:prstDash val="solid"/>
          </a:ln>
        </p:spPr>
        <p:txBody>
          <a:bodyPr/>
          <a:lstStyle/>
          <a:p>
            <a:endParaRPr lang="en-US"/>
          </a:p>
        </p:txBody>
      </p:sp>
      <p:sp>
        <p:nvSpPr>
          <p:cNvPr id="30" name="Rectangle 29">
            <a:extLst>
              <a:ext uri="{FF2B5EF4-FFF2-40B4-BE49-F238E27FC236}">
                <a16:creationId xmlns:a16="http://schemas.microsoft.com/office/drawing/2014/main" id="{538BD16B-26CE-47A0-ABA2-B2F13E5E5ACC}"/>
              </a:ext>
            </a:extLst>
          </p:cNvPr>
          <p:cNvSpPr>
            <a:spLocks noGrp="1"/>
          </p:cNvSpPr>
          <p:nvPr/>
        </p:nvSpPr>
        <p:spPr>
          <a:xfrm>
            <a:off x="4838700" y="5200650"/>
            <a:ext cx="2019300" cy="285750"/>
          </a:xfrm>
          <a:prstGeom prst="rect">
            <a:avLst/>
          </a:prstGeom>
          <a:noFill/>
          <a:ln w="0">
            <a:noFill/>
            <a:prstDash val="solid"/>
          </a:ln>
        </p:spPr>
        <p:txBody>
          <a:bodyPr/>
          <a:lstStyle/>
          <a:p>
            <a:pPr algn="ctr">
              <a:buNone/>
              <a:defRPr sz="1275" b="1">
                <a:solidFill>
                  <a:srgbClr val="12315B"/>
                </a:solidFill>
              </a:defRPr>
            </a:pPr>
            <a:r>
              <a:rPr sz="2000" b="1">
                <a:solidFill>
                  <a:srgbClr val="12315B"/>
                </a:solidFill>
              </a:rPr>
              <a:t>DimPatternType</a:t>
            </a:r>
          </a:p>
        </p:txBody>
      </p:sp>
      <p:sp>
        <p:nvSpPr>
          <p:cNvPr id="31" name="Rectangle 30">
            <a:extLst>
              <a:ext uri="{FF2B5EF4-FFF2-40B4-BE49-F238E27FC236}">
                <a16:creationId xmlns:a16="http://schemas.microsoft.com/office/drawing/2014/main" id="{B9D97E3A-A065-49FF-B7E6-506265EE2072}"/>
              </a:ext>
            </a:extLst>
          </p:cNvPr>
          <p:cNvSpPr>
            <a:spLocks noGrp="1"/>
          </p:cNvSpPr>
          <p:nvPr/>
        </p:nvSpPr>
        <p:spPr>
          <a:xfrm>
            <a:off x="4972050" y="5581650"/>
            <a:ext cx="1752600" cy="152400"/>
          </a:xfrm>
          <a:prstGeom prst="rect">
            <a:avLst/>
          </a:prstGeom>
          <a:noFill/>
          <a:ln w="0">
            <a:noFill/>
            <a:prstDash val="solid"/>
          </a:ln>
        </p:spPr>
        <p:txBody>
          <a:bodyPr/>
          <a:lstStyle/>
          <a:p>
            <a:pPr algn="ctr">
              <a:buNone/>
              <a:defRPr sz="1125" b="0">
                <a:solidFill>
                  <a:srgbClr val="5C7291"/>
                </a:solidFill>
              </a:defRPr>
            </a:pPr>
            <a:r>
              <a:rPr sz="1400" b="0">
                <a:solidFill>
                  <a:srgbClr val="5C7291"/>
                </a:solidFill>
              </a:rPr>
              <a:t>attempt </a:t>
            </a:r>
            <a:r>
              <a:rPr lang="vi-VN" sz="1400" b="0">
                <a:solidFill>
                  <a:srgbClr val="5C7291"/>
                </a:solidFill>
              </a:rPr>
              <a:t>-</a:t>
            </a:r>
            <a:r>
              <a:rPr sz="1400" b="0">
                <a:solidFill>
                  <a:srgbClr val="5C7291"/>
                </a:solidFill>
              </a:rPr>
              <a:t> sequence</a:t>
            </a:r>
          </a:p>
        </p:txBody>
      </p:sp>
      <p:sp>
        <p:nvSpPr>
          <p:cNvPr id="32" name="Rounded Rectangle 31">
            <a:extLst>
              <a:ext uri="{FF2B5EF4-FFF2-40B4-BE49-F238E27FC236}">
                <a16:creationId xmlns:a16="http://schemas.microsoft.com/office/drawing/2014/main" id="{341BD85E-864D-4245-9ED8-F63FF45FC215}"/>
              </a:ext>
            </a:extLst>
          </p:cNvPr>
          <p:cNvSpPr>
            <a:spLocks noGrp="1"/>
          </p:cNvSpPr>
          <p:nvPr/>
        </p:nvSpPr>
        <p:spPr>
          <a:xfrm>
            <a:off x="3695700" y="6038850"/>
            <a:ext cx="4800600" cy="323850"/>
          </a:xfrm>
          <a:prstGeom prst="roundRect">
            <a:avLst>
              <a:gd name="adj" fmla="val 35294"/>
            </a:avLst>
          </a:prstGeom>
          <a:solidFill>
            <a:srgbClr val="FBEAEC"/>
          </a:solidFill>
          <a:ln w="9525">
            <a:solidFill>
              <a:srgbClr val="FBEAEC"/>
            </a:solidFill>
            <a:prstDash val="solid"/>
          </a:ln>
        </p:spPr>
        <p:txBody>
          <a:bodyPr/>
          <a:lstStyle/>
          <a:p>
            <a:endParaRPr lang="en-US"/>
          </a:p>
        </p:txBody>
      </p:sp>
      <p:sp>
        <p:nvSpPr>
          <p:cNvPr id="33" name="Rectangle 32">
            <a:extLst>
              <a:ext uri="{FF2B5EF4-FFF2-40B4-BE49-F238E27FC236}">
                <a16:creationId xmlns:a16="http://schemas.microsoft.com/office/drawing/2014/main" id="{3F6172AD-7D28-4EC0-9A98-365D05FA689C}"/>
              </a:ext>
            </a:extLst>
          </p:cNvPr>
          <p:cNvSpPr>
            <a:spLocks noGrp="1"/>
          </p:cNvSpPr>
          <p:nvPr/>
        </p:nvSpPr>
        <p:spPr>
          <a:xfrm>
            <a:off x="3771900" y="6068786"/>
            <a:ext cx="4648200" cy="190500"/>
          </a:xfrm>
          <a:prstGeom prst="rect">
            <a:avLst/>
          </a:prstGeom>
          <a:noFill/>
          <a:ln w="0">
            <a:noFill/>
            <a:prstDash val="solid"/>
          </a:ln>
        </p:spPr>
        <p:txBody>
          <a:bodyPr/>
          <a:lstStyle/>
          <a:p>
            <a:pPr algn="ctr">
              <a:buNone/>
              <a:defRPr sz="1125" b="1">
                <a:solidFill>
                  <a:srgbClr val="C83E4D"/>
                </a:solidFill>
              </a:defRPr>
            </a:pPr>
            <a:r>
              <a:rPr sz="1400" b="1">
                <a:solidFill>
                  <a:srgbClr val="C83E4D"/>
                </a:solidFill>
              </a:rPr>
              <a:t>FactPatternTransaction giữ attempt_id và sequence</a:t>
            </a:r>
          </a:p>
        </p:txBody>
      </p:sp>
      <p:sp>
        <p:nvSpPr>
          <p:cNvPr id="35" name="Rectangle 34">
            <a:extLst>
              <a:ext uri="{FF2B5EF4-FFF2-40B4-BE49-F238E27FC236}">
                <a16:creationId xmlns:a16="http://schemas.microsoft.com/office/drawing/2014/main" id="{127FB144-E6D0-4B87-A7EE-EE443001CFF4}"/>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12/17</a:t>
            </a:r>
          </a:p>
        </p:txBody>
      </p:sp>
    </p:spTree>
    <p:extLst>
      <p:ext uri="{BB962C8B-B14F-4D97-AF65-F5344CB8AC3E}">
        <p14:creationId xmlns:p14="http://schemas.microsoft.com/office/powerpoint/2010/main" val="1275204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4A6DC83-C26E-4E89-8AA8-BF1F55EC9B1A}"/>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Athena: lớp SQL serverless cho BI</a:t>
            </a:r>
          </a:p>
        </p:txBody>
      </p:sp>
      <p:sp>
        <p:nvSpPr>
          <p:cNvPr id="2" name="Rectangle 1">
            <a:extLst>
              <a:ext uri="{FF2B5EF4-FFF2-40B4-BE49-F238E27FC236}">
                <a16:creationId xmlns:a16="http://schemas.microsoft.com/office/drawing/2014/main" id="{245276E0-6B4C-4785-A15C-509EB453AB26}"/>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Chỉ quét curated data</a:t>
            </a:r>
            <a:r>
              <a:rPr lang="vi-VN" sz="1650" b="0">
                <a:solidFill>
                  <a:srgbClr val="5C7291"/>
                </a:solidFill>
              </a:rPr>
              <a:t>,</a:t>
            </a:r>
            <a:r>
              <a:rPr sz="1650" b="0">
                <a:solidFill>
                  <a:srgbClr val="5C7291"/>
                </a:solidFill>
              </a:rPr>
              <a:t> KPI được định nghĩa và đối soát trước khi lên dashboard</a:t>
            </a:r>
          </a:p>
        </p:txBody>
      </p:sp>
      <p:sp>
        <p:nvSpPr>
          <p:cNvPr id="3" name="Rectangle 2">
            <a:extLst>
              <a:ext uri="{FF2B5EF4-FFF2-40B4-BE49-F238E27FC236}">
                <a16:creationId xmlns:a16="http://schemas.microsoft.com/office/drawing/2014/main" id="{0AF8BEA9-44A5-40FC-B066-F0994E1D5E2A}"/>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51DEC7FC-A191-4F9A-8F92-1C459AFC2B55}"/>
              </a:ext>
            </a:extLst>
          </p:cNvPr>
          <p:cNvSpPr>
            <a:spLocks noGrp="1"/>
          </p:cNvSpPr>
          <p:nvPr/>
        </p:nvSpPr>
        <p:spPr>
          <a:xfrm>
            <a:off x="609600" y="1676400"/>
            <a:ext cx="3771900" cy="4229100"/>
          </a:xfrm>
          <a:prstGeom prst="roundRect">
            <a:avLst>
              <a:gd name="adj" fmla="val 4040"/>
            </a:avLst>
          </a:prstGeom>
          <a:solidFill>
            <a:srgbClr val="EAF4FF"/>
          </a:solidFill>
          <a:ln w="14288">
            <a:solidFill>
              <a:srgbClr val="BFD2E8"/>
            </a:solidFill>
            <a:prstDash val="solid"/>
          </a:ln>
        </p:spPr>
        <p:txBody>
          <a:bodyPr/>
          <a:lstStyle/>
          <a:p>
            <a:endParaRPr lang="en-US"/>
          </a:p>
        </p:txBody>
      </p:sp>
      <p:sp>
        <p:nvSpPr>
          <p:cNvPr id="6" name="Rectangle 5">
            <a:extLst>
              <a:ext uri="{FF2B5EF4-FFF2-40B4-BE49-F238E27FC236}">
                <a16:creationId xmlns:a16="http://schemas.microsoft.com/office/drawing/2014/main" id="{D2FCB00E-836A-4CC4-83A7-352DF5B375B7}"/>
              </a:ext>
            </a:extLst>
          </p:cNvPr>
          <p:cNvSpPr>
            <a:spLocks noGrp="1"/>
          </p:cNvSpPr>
          <p:nvPr/>
        </p:nvSpPr>
        <p:spPr>
          <a:xfrm>
            <a:off x="904875" y="2000250"/>
            <a:ext cx="3048000" cy="304800"/>
          </a:xfrm>
          <a:prstGeom prst="rect">
            <a:avLst/>
          </a:prstGeom>
          <a:noFill/>
          <a:ln w="0">
            <a:noFill/>
            <a:prstDash val="solid"/>
          </a:ln>
        </p:spPr>
        <p:txBody>
          <a:bodyPr/>
          <a:lstStyle/>
          <a:p>
            <a:pPr algn="l">
              <a:buNone/>
              <a:defRPr sz="1275" b="1">
                <a:solidFill>
                  <a:srgbClr val="FF9900"/>
                </a:solidFill>
              </a:defRPr>
            </a:pPr>
            <a:r>
              <a:rPr sz="2000" b="1">
                <a:solidFill>
                  <a:srgbClr val="FF9900"/>
                </a:solidFill>
              </a:rPr>
              <a:t>Athena query layer</a:t>
            </a:r>
          </a:p>
        </p:txBody>
      </p:sp>
      <p:sp>
        <p:nvSpPr>
          <p:cNvPr id="7" name="Rectangle 6">
            <a:extLst>
              <a:ext uri="{FF2B5EF4-FFF2-40B4-BE49-F238E27FC236}">
                <a16:creationId xmlns:a16="http://schemas.microsoft.com/office/drawing/2014/main" id="{58DF0641-DD33-4F3B-AC22-3D2E5EAE01C2}"/>
              </a:ext>
            </a:extLst>
          </p:cNvPr>
          <p:cNvSpPr>
            <a:spLocks noGrp="1"/>
          </p:cNvSpPr>
          <p:nvPr/>
        </p:nvSpPr>
        <p:spPr>
          <a:xfrm>
            <a:off x="914400" y="2543175"/>
            <a:ext cx="2952750" cy="1390650"/>
          </a:xfrm>
          <a:prstGeom prst="rect">
            <a:avLst/>
          </a:prstGeom>
          <a:noFill/>
          <a:ln w="0">
            <a:noFill/>
            <a:prstDash val="solid"/>
          </a:ln>
        </p:spPr>
        <p:txBody>
          <a:bodyPr/>
          <a:lstStyle/>
          <a:p>
            <a:pPr algn="l">
              <a:buNone/>
              <a:defRPr sz="1425" b="0">
                <a:solidFill>
                  <a:srgbClr val="12315B"/>
                </a:solidFill>
              </a:defRPr>
            </a:pPr>
            <a:r>
              <a:rPr sz="1600" b="0">
                <a:solidFill>
                  <a:srgbClr val="12315B"/>
                </a:solidFill>
              </a:rPr>
              <a:t>AwsDataCatalog</a:t>
            </a:r>
          </a:p>
          <a:p>
            <a:pPr algn="l">
              <a:buNone/>
              <a:defRPr sz="1425" b="0">
                <a:solidFill>
                  <a:srgbClr val="12315B"/>
                </a:solidFill>
              </a:defRPr>
            </a:pPr>
            <a:r>
              <a:rPr sz="1600" b="0">
                <a:solidFill>
                  <a:srgbClr val="12315B"/>
                </a:solidFill>
              </a:rPr>
              <a:t>  └─ ibm_aml_curated</a:t>
            </a:r>
          </a:p>
          <a:p>
            <a:pPr algn="l">
              <a:buNone/>
              <a:defRPr sz="1425" b="0">
                <a:solidFill>
                  <a:srgbClr val="12315B"/>
                </a:solidFill>
              </a:defRPr>
            </a:pPr>
            <a:r>
              <a:rPr sz="1600" b="0">
                <a:solidFill>
                  <a:srgbClr val="12315B"/>
                </a:solidFill>
              </a:rPr>
              <a:t>      ├─ fact_transaction</a:t>
            </a:r>
          </a:p>
          <a:p>
            <a:pPr algn="l">
              <a:buNone/>
              <a:defRPr sz="1425" b="0">
                <a:solidFill>
                  <a:srgbClr val="12315B"/>
                </a:solidFill>
              </a:defRPr>
            </a:pPr>
            <a:r>
              <a:rPr sz="1600" b="0">
                <a:solidFill>
                  <a:srgbClr val="12315B"/>
                </a:solidFill>
              </a:rPr>
              <a:t>      ├─ fact_pattern_transaction</a:t>
            </a:r>
          </a:p>
          <a:p>
            <a:pPr algn="l">
              <a:buNone/>
              <a:defRPr sz="1425" b="0">
                <a:solidFill>
                  <a:srgbClr val="12315B"/>
                </a:solidFill>
              </a:defRPr>
            </a:pPr>
            <a:r>
              <a:rPr sz="1600" b="0">
                <a:solidFill>
                  <a:srgbClr val="12315B"/>
                </a:solidFill>
              </a:rPr>
              <a:t>      └─ dimensions</a:t>
            </a:r>
          </a:p>
        </p:txBody>
      </p:sp>
      <p:sp>
        <p:nvSpPr>
          <p:cNvPr id="8" name="Rectangle 7">
            <a:extLst>
              <a:ext uri="{FF2B5EF4-FFF2-40B4-BE49-F238E27FC236}">
                <a16:creationId xmlns:a16="http://schemas.microsoft.com/office/drawing/2014/main" id="{9614EB35-CBFC-4990-B3C1-EC1D31B2739E}"/>
              </a:ext>
            </a:extLst>
          </p:cNvPr>
          <p:cNvSpPr>
            <a:spLocks noGrp="1"/>
          </p:cNvSpPr>
          <p:nvPr/>
        </p:nvSpPr>
        <p:spPr>
          <a:xfrm>
            <a:off x="914400" y="4152900"/>
            <a:ext cx="2857500" cy="266700"/>
          </a:xfrm>
          <a:prstGeom prst="rect">
            <a:avLst/>
          </a:prstGeom>
          <a:noFill/>
          <a:ln w="0">
            <a:noFill/>
            <a:prstDash val="solid"/>
          </a:ln>
        </p:spPr>
        <p:txBody>
          <a:bodyPr/>
          <a:lstStyle/>
          <a:p>
            <a:pPr algn="l">
              <a:buNone/>
              <a:defRPr sz="1725" b="1">
                <a:solidFill>
                  <a:srgbClr val="14B8A6"/>
                </a:solidFill>
              </a:defRPr>
            </a:pPr>
            <a:r>
              <a:rPr sz="2000" b="1">
                <a:solidFill>
                  <a:srgbClr val="14B8A6"/>
                </a:solidFill>
              </a:rPr>
              <a:t>KPI / views</a:t>
            </a:r>
          </a:p>
        </p:txBody>
      </p:sp>
      <p:sp>
        <p:nvSpPr>
          <p:cNvPr id="9" name="Rectangle 8">
            <a:extLst>
              <a:ext uri="{FF2B5EF4-FFF2-40B4-BE49-F238E27FC236}">
                <a16:creationId xmlns:a16="http://schemas.microsoft.com/office/drawing/2014/main" id="{E3840269-5748-4848-AC67-518416644952}"/>
              </a:ext>
            </a:extLst>
          </p:cNvPr>
          <p:cNvSpPr>
            <a:spLocks noGrp="1"/>
          </p:cNvSpPr>
          <p:nvPr/>
        </p:nvSpPr>
        <p:spPr>
          <a:xfrm>
            <a:off x="933450" y="4495800"/>
            <a:ext cx="2762250" cy="116205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 total_transactions</a:t>
            </a:r>
          </a:p>
          <a:p>
            <a:pPr algn="l">
              <a:buNone/>
              <a:defRPr sz="1500" b="0">
                <a:solidFill>
                  <a:srgbClr val="12315B"/>
                </a:solidFill>
              </a:defRPr>
            </a:pPr>
            <a:r>
              <a:rPr sz="1600" b="0">
                <a:solidFill>
                  <a:srgbClr val="12315B"/>
                </a:solidFill>
              </a:rPr>
              <a:t>• aml_rate</a:t>
            </a:r>
          </a:p>
          <a:p>
            <a:pPr algn="l">
              <a:buNone/>
              <a:defRPr sz="1500" b="0">
                <a:solidFill>
                  <a:srgbClr val="12315B"/>
                </a:solidFill>
              </a:defRPr>
            </a:pPr>
            <a:r>
              <a:rPr sz="1600" b="0">
                <a:solidFill>
                  <a:srgbClr val="12315B"/>
                </a:solidFill>
              </a:rPr>
              <a:t>• aml_by_payment_format</a:t>
            </a:r>
          </a:p>
          <a:p>
            <a:pPr algn="l">
              <a:buNone/>
              <a:defRPr sz="1500" b="0">
                <a:solidFill>
                  <a:srgbClr val="12315B"/>
                </a:solidFill>
              </a:defRPr>
            </a:pPr>
            <a:r>
              <a:rPr sz="1600" b="0">
                <a:solidFill>
                  <a:srgbClr val="12315B"/>
                </a:solidFill>
              </a:rPr>
              <a:t>• daily_volume</a:t>
            </a:r>
          </a:p>
          <a:p>
            <a:pPr algn="l">
              <a:buNone/>
              <a:defRPr sz="1500" b="0">
                <a:solidFill>
                  <a:srgbClr val="12315B"/>
                </a:solidFill>
              </a:defRPr>
            </a:pPr>
            <a:r>
              <a:rPr sz="1600" b="0">
                <a:solidFill>
                  <a:srgbClr val="12315B"/>
                </a:solidFill>
              </a:rPr>
              <a:t>• pattern_summary</a:t>
            </a:r>
          </a:p>
        </p:txBody>
      </p:sp>
      <p:pic>
        <p:nvPicPr>
          <p:cNvPr id="26" name="Picture 25"/>
          <p:cNvPicPr>
            <a:picLocks noChangeAspect="1"/>
          </p:cNvPicPr>
          <p:nvPr/>
        </p:nvPicPr>
        <p:blipFill>
          <a:blip r:embed="rId3"/>
          <a:srcRect l="4202" r="4202"/>
          <a:stretch>
            <a:fillRect/>
          </a:stretch>
        </p:blipFill>
        <p:spPr>
          <a:xfrm>
            <a:off x="4695825" y="1676400"/>
            <a:ext cx="6886575" cy="4229100"/>
          </a:xfrm>
          <a:prstGeom prst="roundRect">
            <a:avLst>
              <a:gd name="adj" fmla="val 2703"/>
            </a:avLst>
          </a:prstGeom>
        </p:spPr>
      </p:pic>
      <p:sp>
        <p:nvSpPr>
          <p:cNvPr id="14" name="Rectangle 13">
            <a:extLst>
              <a:ext uri="{FF2B5EF4-FFF2-40B4-BE49-F238E27FC236}">
                <a16:creationId xmlns:a16="http://schemas.microsoft.com/office/drawing/2014/main" id="{288A8114-90C7-436A-8EA6-E9DB775CE94B}"/>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13/17</a:t>
            </a:r>
          </a:p>
        </p:txBody>
      </p:sp>
    </p:spTree>
    <p:extLst>
      <p:ext uri="{BB962C8B-B14F-4D97-AF65-F5344CB8AC3E}">
        <p14:creationId xmlns:p14="http://schemas.microsoft.com/office/powerpoint/2010/main" val="841032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84C83CBB-E59D-4E41-BA8C-438AEA207630}"/>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Vận hành cloud: lịch chạy, IAM, chi phí</a:t>
            </a:r>
          </a:p>
        </p:txBody>
      </p:sp>
      <p:sp>
        <p:nvSpPr>
          <p:cNvPr id="2" name="Rectangle 1">
            <a:extLst>
              <a:ext uri="{FF2B5EF4-FFF2-40B4-BE49-F238E27FC236}">
                <a16:creationId xmlns:a16="http://schemas.microsoft.com/office/drawing/2014/main" id="{27000288-64F9-465E-BAB0-FA8A327D92E3}"/>
              </a:ext>
            </a:extLst>
          </p:cNvPr>
          <p:cNvSpPr>
            <a:spLocks noGrp="1"/>
          </p:cNvSpPr>
          <p:nvPr/>
        </p:nvSpPr>
        <p:spPr>
          <a:xfrm>
            <a:off x="628650" y="952500"/>
            <a:ext cx="10477500" cy="304800"/>
          </a:xfrm>
          <a:prstGeom prst="rect">
            <a:avLst/>
          </a:prstGeom>
          <a:noFill/>
          <a:ln w="0">
            <a:noFill/>
            <a:prstDash val="solid"/>
          </a:ln>
        </p:spPr>
        <p:txBody>
          <a:bodyPr/>
          <a:lstStyle/>
          <a:p>
            <a:pPr algn="l">
              <a:buNone/>
              <a:defRPr sz="1650" b="0">
                <a:solidFill>
                  <a:srgbClr val="5C7291"/>
                </a:solidFill>
              </a:defRPr>
            </a:pPr>
            <a:r>
              <a:rPr sz="1650" b="0">
                <a:solidFill>
                  <a:srgbClr val="5C7291"/>
                </a:solidFill>
              </a:rPr>
              <a:t>Cloud không chỉ là upload file</a:t>
            </a:r>
            <a:r>
              <a:rPr lang="vi-VN" sz="1650" b="0">
                <a:solidFill>
                  <a:srgbClr val="5C7291"/>
                </a:solidFill>
              </a:rPr>
              <a:t>,</a:t>
            </a:r>
            <a:r>
              <a:rPr sz="1650" b="0">
                <a:solidFill>
                  <a:srgbClr val="5C7291"/>
                </a:solidFill>
              </a:rPr>
              <a:t> phải có cơ chế vận hành có thể kiểm chứng</a:t>
            </a:r>
          </a:p>
        </p:txBody>
      </p:sp>
      <p:sp>
        <p:nvSpPr>
          <p:cNvPr id="3" name="Rectangle 2">
            <a:extLst>
              <a:ext uri="{FF2B5EF4-FFF2-40B4-BE49-F238E27FC236}">
                <a16:creationId xmlns:a16="http://schemas.microsoft.com/office/drawing/2014/main" id="{6401A5C0-D5B7-49E1-B2C9-2E62FE2A458F}"/>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C07C3CAC-286D-4403-BC35-34964FC9EE4D}"/>
              </a:ext>
            </a:extLst>
          </p:cNvPr>
          <p:cNvSpPr>
            <a:spLocks noGrp="1"/>
          </p:cNvSpPr>
          <p:nvPr/>
        </p:nvSpPr>
        <p:spPr>
          <a:xfrm>
            <a:off x="647700" y="1781175"/>
            <a:ext cx="2419350" cy="3876675"/>
          </a:xfrm>
          <a:prstGeom prst="roundRect">
            <a:avLst>
              <a:gd name="adj" fmla="val 6299"/>
            </a:avLst>
          </a:prstGeom>
          <a:solidFill>
            <a:srgbClr val="FFFFFF"/>
          </a:solidFill>
          <a:ln w="9525">
            <a:solidFill>
              <a:srgbClr val="D7E0EA"/>
            </a:solidFill>
            <a:prstDash val="solid"/>
          </a:ln>
        </p:spPr>
        <p:txBody>
          <a:bodyPr/>
          <a:lstStyle/>
          <a:p>
            <a:endParaRPr lang="en-US"/>
          </a:p>
        </p:txBody>
      </p:sp>
      <p:sp>
        <p:nvSpPr>
          <p:cNvPr id="6" name="Rounded Rectangle 5">
            <a:extLst>
              <a:ext uri="{FF2B5EF4-FFF2-40B4-BE49-F238E27FC236}">
                <a16:creationId xmlns:a16="http://schemas.microsoft.com/office/drawing/2014/main" id="{EAF9373D-908E-456C-9430-0F21BBBDC439}"/>
              </a:ext>
            </a:extLst>
          </p:cNvPr>
          <p:cNvSpPr>
            <a:spLocks noGrp="1"/>
          </p:cNvSpPr>
          <p:nvPr/>
        </p:nvSpPr>
        <p:spPr>
          <a:xfrm>
            <a:off x="885825" y="2095500"/>
            <a:ext cx="1943100" cy="323850"/>
          </a:xfrm>
          <a:prstGeom prst="roundRect">
            <a:avLst>
              <a:gd name="adj" fmla="val 35294"/>
            </a:avLst>
          </a:prstGeom>
          <a:solidFill>
            <a:srgbClr val="EAF2FB"/>
          </a:solidFill>
          <a:ln w="9525">
            <a:solidFill>
              <a:srgbClr val="EAF2FB"/>
            </a:solidFill>
            <a:prstDash val="solid"/>
          </a:ln>
        </p:spPr>
        <p:txBody>
          <a:bodyPr/>
          <a:lstStyle/>
          <a:p>
            <a:endParaRPr lang="en-US"/>
          </a:p>
        </p:txBody>
      </p:sp>
      <p:sp>
        <p:nvSpPr>
          <p:cNvPr id="7" name="Rectangle 6">
            <a:extLst>
              <a:ext uri="{FF2B5EF4-FFF2-40B4-BE49-F238E27FC236}">
                <a16:creationId xmlns:a16="http://schemas.microsoft.com/office/drawing/2014/main" id="{8E6DB684-FC59-49ED-8B12-B85DC3DA0E57}"/>
              </a:ext>
            </a:extLst>
          </p:cNvPr>
          <p:cNvSpPr>
            <a:spLocks noGrp="1"/>
          </p:cNvSpPr>
          <p:nvPr/>
        </p:nvSpPr>
        <p:spPr>
          <a:xfrm>
            <a:off x="962025" y="2114550"/>
            <a:ext cx="1790700" cy="190500"/>
          </a:xfrm>
          <a:prstGeom prst="rect">
            <a:avLst/>
          </a:prstGeom>
          <a:noFill/>
          <a:ln w="0">
            <a:noFill/>
            <a:prstDash val="solid"/>
          </a:ln>
        </p:spPr>
        <p:txBody>
          <a:bodyPr/>
          <a:lstStyle/>
          <a:p>
            <a:pPr algn="ctr">
              <a:buNone/>
              <a:defRPr sz="1125" b="1">
                <a:solidFill>
                  <a:srgbClr val="2563EB"/>
                </a:solidFill>
              </a:defRPr>
            </a:pPr>
            <a:r>
              <a:rPr sz="1400" b="1">
                <a:solidFill>
                  <a:srgbClr val="2563EB"/>
                </a:solidFill>
              </a:rPr>
              <a:t>ORCHESTRATION</a:t>
            </a:r>
          </a:p>
        </p:txBody>
      </p:sp>
      <p:sp>
        <p:nvSpPr>
          <p:cNvPr id="8" name="Oval 7">
            <a:extLst>
              <a:ext uri="{FF2B5EF4-FFF2-40B4-BE49-F238E27FC236}">
                <a16:creationId xmlns:a16="http://schemas.microsoft.com/office/drawing/2014/main" id="{68DC384A-EFC2-4440-ABE5-14D288E81E39}"/>
              </a:ext>
            </a:extLst>
          </p:cNvPr>
          <p:cNvSpPr>
            <a:spLocks noGrp="1"/>
          </p:cNvSpPr>
          <p:nvPr/>
        </p:nvSpPr>
        <p:spPr>
          <a:xfrm>
            <a:off x="885825" y="2857500"/>
            <a:ext cx="85725" cy="85725"/>
          </a:xfrm>
          <a:prstGeom prst="ellipse">
            <a:avLst/>
          </a:prstGeom>
          <a:solidFill>
            <a:srgbClr val="2563EB"/>
          </a:solidFill>
          <a:ln w="0">
            <a:solidFill>
              <a:srgbClr val="2563EB"/>
            </a:solidFill>
            <a:prstDash val="solid"/>
          </a:ln>
        </p:spPr>
        <p:txBody>
          <a:bodyPr/>
          <a:lstStyle/>
          <a:p>
            <a:endParaRPr lang="en-US"/>
          </a:p>
        </p:txBody>
      </p:sp>
      <p:sp>
        <p:nvSpPr>
          <p:cNvPr id="9" name="Rectangle 8">
            <a:extLst>
              <a:ext uri="{FF2B5EF4-FFF2-40B4-BE49-F238E27FC236}">
                <a16:creationId xmlns:a16="http://schemas.microsoft.com/office/drawing/2014/main" id="{5A95C8E5-4221-428E-949A-76B302651384}"/>
              </a:ext>
            </a:extLst>
          </p:cNvPr>
          <p:cNvSpPr>
            <a:spLocks noGrp="1"/>
          </p:cNvSpPr>
          <p:nvPr/>
        </p:nvSpPr>
        <p:spPr>
          <a:xfrm>
            <a:off x="1057275" y="278130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On-demand</a:t>
            </a:r>
          </a:p>
        </p:txBody>
      </p:sp>
      <p:sp>
        <p:nvSpPr>
          <p:cNvPr id="10" name="Oval 9">
            <a:extLst>
              <a:ext uri="{FF2B5EF4-FFF2-40B4-BE49-F238E27FC236}">
                <a16:creationId xmlns:a16="http://schemas.microsoft.com/office/drawing/2014/main" id="{0F3C91FC-86DB-4F65-9AA6-9D66E7154465}"/>
              </a:ext>
            </a:extLst>
          </p:cNvPr>
          <p:cNvSpPr>
            <a:spLocks noGrp="1"/>
          </p:cNvSpPr>
          <p:nvPr/>
        </p:nvSpPr>
        <p:spPr>
          <a:xfrm>
            <a:off x="885825" y="3676650"/>
            <a:ext cx="85725" cy="85725"/>
          </a:xfrm>
          <a:prstGeom prst="ellipse">
            <a:avLst/>
          </a:prstGeom>
          <a:solidFill>
            <a:srgbClr val="2563EB"/>
          </a:solidFill>
          <a:ln w="0">
            <a:solidFill>
              <a:srgbClr val="2563EB"/>
            </a:solidFill>
            <a:prstDash val="solid"/>
          </a:ln>
        </p:spPr>
        <p:txBody>
          <a:bodyPr/>
          <a:lstStyle/>
          <a:p>
            <a:endParaRPr lang="en-US"/>
          </a:p>
        </p:txBody>
      </p:sp>
      <p:sp>
        <p:nvSpPr>
          <p:cNvPr id="11" name="Rectangle 10">
            <a:extLst>
              <a:ext uri="{FF2B5EF4-FFF2-40B4-BE49-F238E27FC236}">
                <a16:creationId xmlns:a16="http://schemas.microsoft.com/office/drawing/2014/main" id="{EBAA620F-E8FB-4E74-A80B-1E770AC6F81E}"/>
              </a:ext>
            </a:extLst>
          </p:cNvPr>
          <p:cNvSpPr>
            <a:spLocks noGrp="1"/>
          </p:cNvSpPr>
          <p:nvPr/>
        </p:nvSpPr>
        <p:spPr>
          <a:xfrm>
            <a:off x="1057275" y="360045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Crawler → ETL </a:t>
            </a:r>
            <a:endParaRPr lang="vi-VN" sz="1600" b="0">
              <a:solidFill>
                <a:srgbClr val="12315B"/>
              </a:solidFill>
            </a:endParaRPr>
          </a:p>
          <a:p>
            <a:pPr algn="l">
              <a:buNone/>
              <a:defRPr sz="1500" b="0">
                <a:solidFill>
                  <a:srgbClr val="12315B"/>
                </a:solidFill>
              </a:defRPr>
            </a:pPr>
            <a:r>
              <a:rPr sz="1600" b="0">
                <a:solidFill>
                  <a:srgbClr val="12315B"/>
                </a:solidFill>
              </a:rPr>
              <a:t>→ curated crawler</a:t>
            </a:r>
          </a:p>
        </p:txBody>
      </p:sp>
      <p:sp>
        <p:nvSpPr>
          <p:cNvPr id="12" name="Oval 11">
            <a:extLst>
              <a:ext uri="{FF2B5EF4-FFF2-40B4-BE49-F238E27FC236}">
                <a16:creationId xmlns:a16="http://schemas.microsoft.com/office/drawing/2014/main" id="{6B6E9224-8D1C-4532-9209-9D407BB397CC}"/>
              </a:ext>
            </a:extLst>
          </p:cNvPr>
          <p:cNvSpPr>
            <a:spLocks noGrp="1"/>
          </p:cNvSpPr>
          <p:nvPr/>
        </p:nvSpPr>
        <p:spPr>
          <a:xfrm>
            <a:off x="885825" y="4495800"/>
            <a:ext cx="85725" cy="85725"/>
          </a:xfrm>
          <a:prstGeom prst="ellipse">
            <a:avLst/>
          </a:prstGeom>
          <a:solidFill>
            <a:srgbClr val="2563EB"/>
          </a:solidFill>
          <a:ln w="0">
            <a:solidFill>
              <a:srgbClr val="2563EB"/>
            </a:solidFill>
            <a:prstDash val="solid"/>
          </a:ln>
        </p:spPr>
        <p:txBody>
          <a:bodyPr/>
          <a:lstStyle/>
          <a:p>
            <a:endParaRPr lang="en-US"/>
          </a:p>
        </p:txBody>
      </p:sp>
      <p:sp>
        <p:nvSpPr>
          <p:cNvPr id="13" name="Rectangle 12">
            <a:extLst>
              <a:ext uri="{FF2B5EF4-FFF2-40B4-BE49-F238E27FC236}">
                <a16:creationId xmlns:a16="http://schemas.microsoft.com/office/drawing/2014/main" id="{2D66A9DB-6F99-4046-889F-A2EC7F1CDF71}"/>
              </a:ext>
            </a:extLst>
          </p:cNvPr>
          <p:cNvSpPr>
            <a:spLocks noGrp="1"/>
          </p:cNvSpPr>
          <p:nvPr/>
        </p:nvSpPr>
        <p:spPr>
          <a:xfrm>
            <a:off x="1057275" y="441960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Trigger theo trạng thái COMPLETED</a:t>
            </a:r>
          </a:p>
        </p:txBody>
      </p:sp>
      <p:sp>
        <p:nvSpPr>
          <p:cNvPr id="14" name="Rounded Rectangle 13">
            <a:extLst>
              <a:ext uri="{FF2B5EF4-FFF2-40B4-BE49-F238E27FC236}">
                <a16:creationId xmlns:a16="http://schemas.microsoft.com/office/drawing/2014/main" id="{58EA6217-C5AB-4716-BB91-26087E4FCE16}"/>
              </a:ext>
            </a:extLst>
          </p:cNvPr>
          <p:cNvSpPr>
            <a:spLocks noGrp="1"/>
          </p:cNvSpPr>
          <p:nvPr/>
        </p:nvSpPr>
        <p:spPr>
          <a:xfrm>
            <a:off x="3486150" y="1781175"/>
            <a:ext cx="2419350" cy="3876675"/>
          </a:xfrm>
          <a:prstGeom prst="roundRect">
            <a:avLst>
              <a:gd name="adj" fmla="val 6299"/>
            </a:avLst>
          </a:prstGeom>
          <a:solidFill>
            <a:srgbClr val="FFFFFF"/>
          </a:solidFill>
          <a:ln w="9525">
            <a:solidFill>
              <a:srgbClr val="D7E0EA"/>
            </a:solidFill>
            <a:prstDash val="solid"/>
          </a:ln>
        </p:spPr>
        <p:txBody>
          <a:bodyPr/>
          <a:lstStyle/>
          <a:p>
            <a:endParaRPr lang="en-US"/>
          </a:p>
        </p:txBody>
      </p:sp>
      <p:sp>
        <p:nvSpPr>
          <p:cNvPr id="15" name="Rounded Rectangle 14">
            <a:extLst>
              <a:ext uri="{FF2B5EF4-FFF2-40B4-BE49-F238E27FC236}">
                <a16:creationId xmlns:a16="http://schemas.microsoft.com/office/drawing/2014/main" id="{12F62C71-2E45-4470-BA80-B9909297CDBE}"/>
              </a:ext>
            </a:extLst>
          </p:cNvPr>
          <p:cNvSpPr>
            <a:spLocks noGrp="1"/>
          </p:cNvSpPr>
          <p:nvPr/>
        </p:nvSpPr>
        <p:spPr>
          <a:xfrm>
            <a:off x="3724275" y="2095500"/>
            <a:ext cx="1943100" cy="323850"/>
          </a:xfrm>
          <a:prstGeom prst="roundRect">
            <a:avLst>
              <a:gd name="adj" fmla="val 35294"/>
            </a:avLst>
          </a:prstGeom>
          <a:solidFill>
            <a:srgbClr val="FBEAEC"/>
          </a:solidFill>
          <a:ln w="9525">
            <a:solidFill>
              <a:srgbClr val="FBEAEC"/>
            </a:solidFill>
            <a:prstDash val="solid"/>
          </a:ln>
        </p:spPr>
        <p:txBody>
          <a:bodyPr/>
          <a:lstStyle/>
          <a:p>
            <a:endParaRPr lang="en-US"/>
          </a:p>
        </p:txBody>
      </p:sp>
      <p:sp>
        <p:nvSpPr>
          <p:cNvPr id="16" name="Rectangle 15">
            <a:extLst>
              <a:ext uri="{FF2B5EF4-FFF2-40B4-BE49-F238E27FC236}">
                <a16:creationId xmlns:a16="http://schemas.microsoft.com/office/drawing/2014/main" id="{1FB276F1-8529-4924-9D02-7F80F38542FB}"/>
              </a:ext>
            </a:extLst>
          </p:cNvPr>
          <p:cNvSpPr>
            <a:spLocks noGrp="1"/>
          </p:cNvSpPr>
          <p:nvPr/>
        </p:nvSpPr>
        <p:spPr>
          <a:xfrm>
            <a:off x="3800475" y="2114550"/>
            <a:ext cx="1790700" cy="190500"/>
          </a:xfrm>
          <a:prstGeom prst="rect">
            <a:avLst/>
          </a:prstGeom>
          <a:noFill/>
          <a:ln w="0">
            <a:noFill/>
            <a:prstDash val="solid"/>
          </a:ln>
        </p:spPr>
        <p:txBody>
          <a:bodyPr/>
          <a:lstStyle/>
          <a:p>
            <a:pPr algn="ctr">
              <a:buNone/>
              <a:defRPr sz="1275" b="1">
                <a:solidFill>
                  <a:srgbClr val="C83E4D"/>
                </a:solidFill>
              </a:defRPr>
            </a:pPr>
            <a:r>
              <a:rPr sz="1400" b="1">
                <a:solidFill>
                  <a:srgbClr val="C83E4D"/>
                </a:solidFill>
              </a:rPr>
              <a:t>SECURITY</a:t>
            </a:r>
          </a:p>
        </p:txBody>
      </p:sp>
      <p:sp>
        <p:nvSpPr>
          <p:cNvPr id="17" name="Oval 16">
            <a:extLst>
              <a:ext uri="{FF2B5EF4-FFF2-40B4-BE49-F238E27FC236}">
                <a16:creationId xmlns:a16="http://schemas.microsoft.com/office/drawing/2014/main" id="{7C1350D0-DBA2-46CE-982D-9169B8435BDE}"/>
              </a:ext>
            </a:extLst>
          </p:cNvPr>
          <p:cNvSpPr>
            <a:spLocks noGrp="1"/>
          </p:cNvSpPr>
          <p:nvPr/>
        </p:nvSpPr>
        <p:spPr>
          <a:xfrm>
            <a:off x="3724275" y="2857500"/>
            <a:ext cx="85725" cy="85725"/>
          </a:xfrm>
          <a:prstGeom prst="ellipse">
            <a:avLst/>
          </a:prstGeom>
          <a:solidFill>
            <a:srgbClr val="C83E4D"/>
          </a:solidFill>
          <a:ln w="0">
            <a:solidFill>
              <a:srgbClr val="C83E4D"/>
            </a:solidFill>
            <a:prstDash val="solid"/>
          </a:ln>
        </p:spPr>
        <p:txBody>
          <a:bodyPr/>
          <a:lstStyle/>
          <a:p>
            <a:endParaRPr lang="en-US"/>
          </a:p>
        </p:txBody>
      </p:sp>
      <p:sp>
        <p:nvSpPr>
          <p:cNvPr id="18" name="Rectangle 17">
            <a:extLst>
              <a:ext uri="{FF2B5EF4-FFF2-40B4-BE49-F238E27FC236}">
                <a16:creationId xmlns:a16="http://schemas.microsoft.com/office/drawing/2014/main" id="{3147F60B-589D-4CAD-8353-3F372CB84583}"/>
              </a:ext>
            </a:extLst>
          </p:cNvPr>
          <p:cNvSpPr>
            <a:spLocks noGrp="1"/>
          </p:cNvSpPr>
          <p:nvPr/>
        </p:nvSpPr>
        <p:spPr>
          <a:xfrm>
            <a:off x="3895725" y="278130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IAM role</a:t>
            </a:r>
            <a:endParaRPr lang="vi-VN" sz="1600" b="0">
              <a:solidFill>
                <a:srgbClr val="12315B"/>
              </a:solidFill>
            </a:endParaRPr>
          </a:p>
          <a:p>
            <a:pPr algn="l">
              <a:buNone/>
              <a:defRPr sz="1500" b="0">
                <a:solidFill>
                  <a:srgbClr val="12315B"/>
                </a:solidFill>
              </a:defRPr>
            </a:pPr>
            <a:r>
              <a:rPr sz="1600" b="0">
                <a:solidFill>
                  <a:srgbClr val="12315B"/>
                </a:solidFill>
              </a:rPr>
              <a:t>theo least privilege</a:t>
            </a:r>
          </a:p>
        </p:txBody>
      </p:sp>
      <p:sp>
        <p:nvSpPr>
          <p:cNvPr id="19" name="Oval 18">
            <a:extLst>
              <a:ext uri="{FF2B5EF4-FFF2-40B4-BE49-F238E27FC236}">
                <a16:creationId xmlns:a16="http://schemas.microsoft.com/office/drawing/2014/main" id="{27F52E2A-A149-4979-8AC0-17E048D78005}"/>
              </a:ext>
            </a:extLst>
          </p:cNvPr>
          <p:cNvSpPr>
            <a:spLocks noGrp="1"/>
          </p:cNvSpPr>
          <p:nvPr/>
        </p:nvSpPr>
        <p:spPr>
          <a:xfrm>
            <a:off x="3724275" y="3676650"/>
            <a:ext cx="85725" cy="85725"/>
          </a:xfrm>
          <a:prstGeom prst="ellipse">
            <a:avLst/>
          </a:prstGeom>
          <a:solidFill>
            <a:srgbClr val="C83E4D"/>
          </a:solidFill>
          <a:ln w="0">
            <a:solidFill>
              <a:srgbClr val="C83E4D"/>
            </a:solidFill>
            <a:prstDash val="solid"/>
          </a:ln>
        </p:spPr>
        <p:txBody>
          <a:bodyPr/>
          <a:lstStyle/>
          <a:p>
            <a:endParaRPr lang="en-US"/>
          </a:p>
        </p:txBody>
      </p:sp>
      <p:sp>
        <p:nvSpPr>
          <p:cNvPr id="20" name="Rectangle 19">
            <a:extLst>
              <a:ext uri="{FF2B5EF4-FFF2-40B4-BE49-F238E27FC236}">
                <a16:creationId xmlns:a16="http://schemas.microsoft.com/office/drawing/2014/main" id="{382DDCD5-86A3-41E2-82BE-060BAFE502DB}"/>
              </a:ext>
            </a:extLst>
          </p:cNvPr>
          <p:cNvSpPr>
            <a:spLocks noGrp="1"/>
          </p:cNvSpPr>
          <p:nvPr/>
        </p:nvSpPr>
        <p:spPr>
          <a:xfrm>
            <a:off x="3895724" y="3600450"/>
            <a:ext cx="2009775"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S3 Block Public Access</a:t>
            </a:r>
          </a:p>
        </p:txBody>
      </p:sp>
      <p:sp>
        <p:nvSpPr>
          <p:cNvPr id="21" name="Oval 20">
            <a:extLst>
              <a:ext uri="{FF2B5EF4-FFF2-40B4-BE49-F238E27FC236}">
                <a16:creationId xmlns:a16="http://schemas.microsoft.com/office/drawing/2014/main" id="{8BD8C951-CF13-46FD-90D8-4D73933518C3}"/>
              </a:ext>
            </a:extLst>
          </p:cNvPr>
          <p:cNvSpPr>
            <a:spLocks noGrp="1"/>
          </p:cNvSpPr>
          <p:nvPr/>
        </p:nvSpPr>
        <p:spPr>
          <a:xfrm>
            <a:off x="3724275" y="4495800"/>
            <a:ext cx="85725" cy="85725"/>
          </a:xfrm>
          <a:prstGeom prst="ellipse">
            <a:avLst/>
          </a:prstGeom>
          <a:solidFill>
            <a:srgbClr val="C83E4D"/>
          </a:solidFill>
          <a:ln w="0">
            <a:solidFill>
              <a:srgbClr val="C83E4D"/>
            </a:solidFill>
            <a:prstDash val="solid"/>
          </a:ln>
        </p:spPr>
        <p:txBody>
          <a:bodyPr/>
          <a:lstStyle/>
          <a:p>
            <a:endParaRPr lang="en-US"/>
          </a:p>
        </p:txBody>
      </p:sp>
      <p:sp>
        <p:nvSpPr>
          <p:cNvPr id="22" name="Rectangle 21">
            <a:extLst>
              <a:ext uri="{FF2B5EF4-FFF2-40B4-BE49-F238E27FC236}">
                <a16:creationId xmlns:a16="http://schemas.microsoft.com/office/drawing/2014/main" id="{D1996AF0-29DD-4770-AA30-83D5049BD145}"/>
              </a:ext>
            </a:extLst>
          </p:cNvPr>
          <p:cNvSpPr>
            <a:spLocks noGrp="1"/>
          </p:cNvSpPr>
          <p:nvPr/>
        </p:nvSpPr>
        <p:spPr>
          <a:xfrm>
            <a:off x="3895725" y="441960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SSE-S3 mặc định</a:t>
            </a:r>
            <a:r>
              <a:rPr lang="vi-VN" sz="1600" b="0">
                <a:solidFill>
                  <a:srgbClr val="12315B"/>
                </a:solidFill>
              </a:rPr>
              <a:t>,</a:t>
            </a:r>
            <a:r>
              <a:rPr sz="1600" b="0">
                <a:solidFill>
                  <a:srgbClr val="12315B"/>
                </a:solidFill>
              </a:rPr>
              <a:t> KMS nếu cần</a:t>
            </a:r>
          </a:p>
        </p:txBody>
      </p:sp>
      <p:sp>
        <p:nvSpPr>
          <p:cNvPr id="23" name="Rounded Rectangle 22">
            <a:extLst>
              <a:ext uri="{FF2B5EF4-FFF2-40B4-BE49-F238E27FC236}">
                <a16:creationId xmlns:a16="http://schemas.microsoft.com/office/drawing/2014/main" id="{6B69160E-C17F-4420-85C8-E2B5A4804959}"/>
              </a:ext>
            </a:extLst>
          </p:cNvPr>
          <p:cNvSpPr>
            <a:spLocks noGrp="1"/>
          </p:cNvSpPr>
          <p:nvPr/>
        </p:nvSpPr>
        <p:spPr>
          <a:xfrm>
            <a:off x="6324600" y="1781175"/>
            <a:ext cx="2419350" cy="3876675"/>
          </a:xfrm>
          <a:prstGeom prst="roundRect">
            <a:avLst>
              <a:gd name="adj" fmla="val 6299"/>
            </a:avLst>
          </a:prstGeom>
          <a:solidFill>
            <a:srgbClr val="FFFFFF"/>
          </a:solidFill>
          <a:ln w="9525">
            <a:solidFill>
              <a:srgbClr val="D7E0EA"/>
            </a:solidFill>
            <a:prstDash val="solid"/>
          </a:ln>
        </p:spPr>
        <p:txBody>
          <a:bodyPr/>
          <a:lstStyle/>
          <a:p>
            <a:endParaRPr lang="en-US"/>
          </a:p>
        </p:txBody>
      </p:sp>
      <p:sp>
        <p:nvSpPr>
          <p:cNvPr id="24" name="Rounded Rectangle 23">
            <a:extLst>
              <a:ext uri="{FF2B5EF4-FFF2-40B4-BE49-F238E27FC236}">
                <a16:creationId xmlns:a16="http://schemas.microsoft.com/office/drawing/2014/main" id="{2E629236-267B-4BDC-BB92-609425FD308C}"/>
              </a:ext>
            </a:extLst>
          </p:cNvPr>
          <p:cNvSpPr>
            <a:spLocks noGrp="1"/>
          </p:cNvSpPr>
          <p:nvPr/>
        </p:nvSpPr>
        <p:spPr>
          <a:xfrm>
            <a:off x="6562725" y="2095500"/>
            <a:ext cx="1943100" cy="323850"/>
          </a:xfrm>
          <a:prstGeom prst="roundRect">
            <a:avLst>
              <a:gd name="adj" fmla="val 35294"/>
            </a:avLst>
          </a:prstGeom>
          <a:solidFill>
            <a:srgbClr val="E5F7F4"/>
          </a:solidFill>
          <a:ln w="9525">
            <a:solidFill>
              <a:srgbClr val="E5F7F4"/>
            </a:solidFill>
            <a:prstDash val="solid"/>
          </a:ln>
        </p:spPr>
        <p:txBody>
          <a:bodyPr/>
          <a:lstStyle/>
          <a:p>
            <a:endParaRPr lang="en-US"/>
          </a:p>
        </p:txBody>
      </p:sp>
      <p:sp>
        <p:nvSpPr>
          <p:cNvPr id="25" name="Rectangle 24">
            <a:extLst>
              <a:ext uri="{FF2B5EF4-FFF2-40B4-BE49-F238E27FC236}">
                <a16:creationId xmlns:a16="http://schemas.microsoft.com/office/drawing/2014/main" id="{C0C4DC97-F127-414B-9307-13942E410665}"/>
              </a:ext>
            </a:extLst>
          </p:cNvPr>
          <p:cNvSpPr>
            <a:spLocks noGrp="1"/>
          </p:cNvSpPr>
          <p:nvPr/>
        </p:nvSpPr>
        <p:spPr>
          <a:xfrm>
            <a:off x="6638925" y="2114550"/>
            <a:ext cx="1790700" cy="190500"/>
          </a:xfrm>
          <a:prstGeom prst="rect">
            <a:avLst/>
          </a:prstGeom>
          <a:noFill/>
          <a:ln w="0">
            <a:noFill/>
            <a:prstDash val="solid"/>
          </a:ln>
        </p:spPr>
        <p:txBody>
          <a:bodyPr/>
          <a:lstStyle/>
          <a:p>
            <a:pPr algn="ctr">
              <a:buNone/>
              <a:defRPr sz="1275" b="1">
                <a:solidFill>
                  <a:srgbClr val="0F766E"/>
                </a:solidFill>
              </a:defRPr>
            </a:pPr>
            <a:r>
              <a:rPr sz="1400" b="1">
                <a:solidFill>
                  <a:srgbClr val="0F766E"/>
                </a:solidFill>
              </a:rPr>
              <a:t>MONITORING</a:t>
            </a:r>
          </a:p>
        </p:txBody>
      </p:sp>
      <p:sp>
        <p:nvSpPr>
          <p:cNvPr id="26" name="Oval 25">
            <a:extLst>
              <a:ext uri="{FF2B5EF4-FFF2-40B4-BE49-F238E27FC236}">
                <a16:creationId xmlns:a16="http://schemas.microsoft.com/office/drawing/2014/main" id="{9258A5E9-A703-4EC3-AD03-431D80342412}"/>
              </a:ext>
            </a:extLst>
          </p:cNvPr>
          <p:cNvSpPr>
            <a:spLocks noGrp="1"/>
          </p:cNvSpPr>
          <p:nvPr/>
        </p:nvSpPr>
        <p:spPr>
          <a:xfrm>
            <a:off x="6562725" y="2857500"/>
            <a:ext cx="85725" cy="85725"/>
          </a:xfrm>
          <a:prstGeom prst="ellipse">
            <a:avLst/>
          </a:prstGeom>
          <a:solidFill>
            <a:srgbClr val="0F766E"/>
          </a:solidFill>
          <a:ln w="0">
            <a:solidFill>
              <a:srgbClr val="0F766E"/>
            </a:solidFill>
            <a:prstDash val="solid"/>
          </a:ln>
        </p:spPr>
        <p:txBody>
          <a:bodyPr/>
          <a:lstStyle/>
          <a:p>
            <a:endParaRPr lang="en-US"/>
          </a:p>
        </p:txBody>
      </p:sp>
      <p:sp>
        <p:nvSpPr>
          <p:cNvPr id="27" name="Rectangle 26">
            <a:extLst>
              <a:ext uri="{FF2B5EF4-FFF2-40B4-BE49-F238E27FC236}">
                <a16:creationId xmlns:a16="http://schemas.microsoft.com/office/drawing/2014/main" id="{A6D868BA-D99E-494E-BA39-4A57DE87E0DB}"/>
              </a:ext>
            </a:extLst>
          </p:cNvPr>
          <p:cNvSpPr>
            <a:spLocks noGrp="1"/>
          </p:cNvSpPr>
          <p:nvPr/>
        </p:nvSpPr>
        <p:spPr>
          <a:xfrm>
            <a:off x="6734175" y="2781300"/>
            <a:ext cx="21907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Glue run status</a:t>
            </a:r>
            <a:r>
              <a:rPr lang="vi-VN" sz="1600" b="0">
                <a:solidFill>
                  <a:srgbClr val="12315B"/>
                </a:solidFill>
              </a:rPr>
              <a:t> </a:t>
            </a:r>
            <a:r>
              <a:rPr sz="1600" b="0">
                <a:solidFill>
                  <a:srgbClr val="12315B"/>
                </a:solidFill>
              </a:rPr>
              <a:t>và logs</a:t>
            </a:r>
          </a:p>
        </p:txBody>
      </p:sp>
      <p:sp>
        <p:nvSpPr>
          <p:cNvPr id="28" name="Oval 27">
            <a:extLst>
              <a:ext uri="{FF2B5EF4-FFF2-40B4-BE49-F238E27FC236}">
                <a16:creationId xmlns:a16="http://schemas.microsoft.com/office/drawing/2014/main" id="{19D8A85A-3B20-47EA-9653-BB46DCFE169A}"/>
              </a:ext>
            </a:extLst>
          </p:cNvPr>
          <p:cNvSpPr>
            <a:spLocks noGrp="1"/>
          </p:cNvSpPr>
          <p:nvPr/>
        </p:nvSpPr>
        <p:spPr>
          <a:xfrm>
            <a:off x="6562725" y="3676650"/>
            <a:ext cx="85725" cy="85725"/>
          </a:xfrm>
          <a:prstGeom prst="ellipse">
            <a:avLst/>
          </a:prstGeom>
          <a:solidFill>
            <a:srgbClr val="0F766E"/>
          </a:solidFill>
          <a:ln w="0">
            <a:solidFill>
              <a:srgbClr val="0F766E"/>
            </a:solidFill>
            <a:prstDash val="solid"/>
          </a:ln>
        </p:spPr>
        <p:txBody>
          <a:bodyPr/>
          <a:lstStyle/>
          <a:p>
            <a:endParaRPr lang="en-US"/>
          </a:p>
        </p:txBody>
      </p:sp>
      <p:sp>
        <p:nvSpPr>
          <p:cNvPr id="29" name="Rectangle 28">
            <a:extLst>
              <a:ext uri="{FF2B5EF4-FFF2-40B4-BE49-F238E27FC236}">
                <a16:creationId xmlns:a16="http://schemas.microsoft.com/office/drawing/2014/main" id="{403237C0-E80C-415A-8BD0-1421DBC82D26}"/>
              </a:ext>
            </a:extLst>
          </p:cNvPr>
          <p:cNvSpPr>
            <a:spLocks noGrp="1"/>
          </p:cNvSpPr>
          <p:nvPr/>
        </p:nvSpPr>
        <p:spPr>
          <a:xfrm>
            <a:off x="6734175" y="3600450"/>
            <a:ext cx="209550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CloudWatch metrics</a:t>
            </a:r>
          </a:p>
        </p:txBody>
      </p:sp>
      <p:sp>
        <p:nvSpPr>
          <p:cNvPr id="30" name="Oval 29">
            <a:extLst>
              <a:ext uri="{FF2B5EF4-FFF2-40B4-BE49-F238E27FC236}">
                <a16:creationId xmlns:a16="http://schemas.microsoft.com/office/drawing/2014/main" id="{AD4F1FB2-A060-40F1-B7AA-EABB16B452C3}"/>
              </a:ext>
            </a:extLst>
          </p:cNvPr>
          <p:cNvSpPr>
            <a:spLocks noGrp="1"/>
          </p:cNvSpPr>
          <p:nvPr/>
        </p:nvSpPr>
        <p:spPr>
          <a:xfrm>
            <a:off x="6562725" y="4495800"/>
            <a:ext cx="85725" cy="85725"/>
          </a:xfrm>
          <a:prstGeom prst="ellipse">
            <a:avLst/>
          </a:prstGeom>
          <a:solidFill>
            <a:srgbClr val="0F766E"/>
          </a:solidFill>
          <a:ln w="0">
            <a:solidFill>
              <a:srgbClr val="0F766E"/>
            </a:solidFill>
            <a:prstDash val="solid"/>
          </a:ln>
        </p:spPr>
        <p:txBody>
          <a:bodyPr/>
          <a:lstStyle/>
          <a:p>
            <a:endParaRPr lang="en-US"/>
          </a:p>
        </p:txBody>
      </p:sp>
      <p:sp>
        <p:nvSpPr>
          <p:cNvPr id="31" name="Rectangle 30">
            <a:extLst>
              <a:ext uri="{FF2B5EF4-FFF2-40B4-BE49-F238E27FC236}">
                <a16:creationId xmlns:a16="http://schemas.microsoft.com/office/drawing/2014/main" id="{B49AE940-49EF-4243-8A99-8BF27C5E87BD}"/>
              </a:ext>
            </a:extLst>
          </p:cNvPr>
          <p:cNvSpPr>
            <a:spLocks noGrp="1"/>
          </p:cNvSpPr>
          <p:nvPr/>
        </p:nvSpPr>
        <p:spPr>
          <a:xfrm>
            <a:off x="6734175" y="441960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Lưu row count, reject, validation</a:t>
            </a:r>
          </a:p>
        </p:txBody>
      </p:sp>
      <p:sp>
        <p:nvSpPr>
          <p:cNvPr id="32" name="Rounded Rectangle 31">
            <a:extLst>
              <a:ext uri="{FF2B5EF4-FFF2-40B4-BE49-F238E27FC236}">
                <a16:creationId xmlns:a16="http://schemas.microsoft.com/office/drawing/2014/main" id="{8CAA9790-75BD-4F40-8EEA-4825E34FFC42}"/>
              </a:ext>
            </a:extLst>
          </p:cNvPr>
          <p:cNvSpPr>
            <a:spLocks noGrp="1"/>
          </p:cNvSpPr>
          <p:nvPr/>
        </p:nvSpPr>
        <p:spPr>
          <a:xfrm>
            <a:off x="9163050" y="1781175"/>
            <a:ext cx="2419350" cy="3876675"/>
          </a:xfrm>
          <a:prstGeom prst="roundRect">
            <a:avLst>
              <a:gd name="adj" fmla="val 6299"/>
            </a:avLst>
          </a:prstGeom>
          <a:solidFill>
            <a:srgbClr val="FFFFFF"/>
          </a:solidFill>
          <a:ln w="9525">
            <a:solidFill>
              <a:srgbClr val="D7E0EA"/>
            </a:solidFill>
            <a:prstDash val="solid"/>
          </a:ln>
        </p:spPr>
        <p:txBody>
          <a:bodyPr/>
          <a:lstStyle/>
          <a:p>
            <a:endParaRPr lang="en-US"/>
          </a:p>
        </p:txBody>
      </p:sp>
      <p:sp>
        <p:nvSpPr>
          <p:cNvPr id="33" name="Rounded Rectangle 32">
            <a:extLst>
              <a:ext uri="{FF2B5EF4-FFF2-40B4-BE49-F238E27FC236}">
                <a16:creationId xmlns:a16="http://schemas.microsoft.com/office/drawing/2014/main" id="{DF402320-263F-435A-AC59-41464501CA0E}"/>
              </a:ext>
            </a:extLst>
          </p:cNvPr>
          <p:cNvSpPr>
            <a:spLocks noGrp="1"/>
          </p:cNvSpPr>
          <p:nvPr/>
        </p:nvSpPr>
        <p:spPr>
          <a:xfrm>
            <a:off x="9401175" y="2095500"/>
            <a:ext cx="1943100" cy="323850"/>
          </a:xfrm>
          <a:prstGeom prst="roundRect">
            <a:avLst>
              <a:gd name="adj" fmla="val 35294"/>
            </a:avLst>
          </a:prstGeom>
          <a:solidFill>
            <a:srgbClr val="FFF3DD"/>
          </a:solidFill>
          <a:ln w="9525">
            <a:solidFill>
              <a:srgbClr val="FFF3DD"/>
            </a:solidFill>
            <a:prstDash val="solid"/>
          </a:ln>
        </p:spPr>
        <p:txBody>
          <a:bodyPr/>
          <a:lstStyle/>
          <a:p>
            <a:endParaRPr lang="en-US"/>
          </a:p>
        </p:txBody>
      </p:sp>
      <p:sp>
        <p:nvSpPr>
          <p:cNvPr id="34" name="Rectangle 33">
            <a:extLst>
              <a:ext uri="{FF2B5EF4-FFF2-40B4-BE49-F238E27FC236}">
                <a16:creationId xmlns:a16="http://schemas.microsoft.com/office/drawing/2014/main" id="{CD06A0E5-7C89-4E48-903F-A2964A60EC0C}"/>
              </a:ext>
            </a:extLst>
          </p:cNvPr>
          <p:cNvSpPr>
            <a:spLocks noGrp="1"/>
          </p:cNvSpPr>
          <p:nvPr/>
        </p:nvSpPr>
        <p:spPr>
          <a:xfrm>
            <a:off x="9477375" y="2114550"/>
            <a:ext cx="1790700" cy="190500"/>
          </a:xfrm>
          <a:prstGeom prst="rect">
            <a:avLst/>
          </a:prstGeom>
          <a:noFill/>
          <a:ln w="0">
            <a:noFill/>
            <a:prstDash val="solid"/>
          </a:ln>
        </p:spPr>
        <p:txBody>
          <a:bodyPr/>
          <a:lstStyle/>
          <a:p>
            <a:pPr algn="ctr">
              <a:buNone/>
              <a:defRPr sz="1275" b="1">
                <a:solidFill>
                  <a:srgbClr val="D97706"/>
                </a:solidFill>
              </a:defRPr>
            </a:pPr>
            <a:r>
              <a:rPr sz="1400" b="1">
                <a:solidFill>
                  <a:srgbClr val="D97706"/>
                </a:solidFill>
              </a:rPr>
              <a:t>COST CONTROL</a:t>
            </a:r>
          </a:p>
        </p:txBody>
      </p:sp>
      <p:sp>
        <p:nvSpPr>
          <p:cNvPr id="35" name="Oval 34">
            <a:extLst>
              <a:ext uri="{FF2B5EF4-FFF2-40B4-BE49-F238E27FC236}">
                <a16:creationId xmlns:a16="http://schemas.microsoft.com/office/drawing/2014/main" id="{ED74FCE7-C6EE-483D-A599-98CE378672A6}"/>
              </a:ext>
            </a:extLst>
          </p:cNvPr>
          <p:cNvSpPr>
            <a:spLocks noGrp="1"/>
          </p:cNvSpPr>
          <p:nvPr/>
        </p:nvSpPr>
        <p:spPr>
          <a:xfrm>
            <a:off x="9401175" y="2857500"/>
            <a:ext cx="85725" cy="85725"/>
          </a:xfrm>
          <a:prstGeom prst="ellipse">
            <a:avLst/>
          </a:prstGeom>
          <a:solidFill>
            <a:srgbClr val="D97706"/>
          </a:solidFill>
          <a:ln w="0">
            <a:solidFill>
              <a:srgbClr val="D97706"/>
            </a:solidFill>
            <a:prstDash val="solid"/>
          </a:ln>
        </p:spPr>
        <p:txBody>
          <a:bodyPr/>
          <a:lstStyle/>
          <a:p>
            <a:endParaRPr lang="en-US"/>
          </a:p>
        </p:txBody>
      </p:sp>
      <p:sp>
        <p:nvSpPr>
          <p:cNvPr id="36" name="Rectangle 35">
            <a:extLst>
              <a:ext uri="{FF2B5EF4-FFF2-40B4-BE49-F238E27FC236}">
                <a16:creationId xmlns:a16="http://schemas.microsoft.com/office/drawing/2014/main" id="{D1E8DA19-42D2-4C98-9510-B9AFB9536D9C}"/>
              </a:ext>
            </a:extLst>
          </p:cNvPr>
          <p:cNvSpPr>
            <a:spLocks noGrp="1"/>
          </p:cNvSpPr>
          <p:nvPr/>
        </p:nvSpPr>
        <p:spPr>
          <a:xfrm>
            <a:off x="9572625" y="278130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Chạy Glue khi cần</a:t>
            </a:r>
          </a:p>
        </p:txBody>
      </p:sp>
      <p:sp>
        <p:nvSpPr>
          <p:cNvPr id="37" name="Oval 36">
            <a:extLst>
              <a:ext uri="{FF2B5EF4-FFF2-40B4-BE49-F238E27FC236}">
                <a16:creationId xmlns:a16="http://schemas.microsoft.com/office/drawing/2014/main" id="{212A61EC-1EA8-4AF9-A3CA-B884B732A547}"/>
              </a:ext>
            </a:extLst>
          </p:cNvPr>
          <p:cNvSpPr>
            <a:spLocks noGrp="1"/>
          </p:cNvSpPr>
          <p:nvPr/>
        </p:nvSpPr>
        <p:spPr>
          <a:xfrm>
            <a:off x="9401175" y="3676650"/>
            <a:ext cx="85725" cy="85725"/>
          </a:xfrm>
          <a:prstGeom prst="ellipse">
            <a:avLst/>
          </a:prstGeom>
          <a:solidFill>
            <a:srgbClr val="D97706"/>
          </a:solidFill>
          <a:ln w="0">
            <a:solidFill>
              <a:srgbClr val="D97706"/>
            </a:solidFill>
            <a:prstDash val="solid"/>
          </a:ln>
        </p:spPr>
        <p:txBody>
          <a:bodyPr/>
          <a:lstStyle/>
          <a:p>
            <a:endParaRPr lang="en-US"/>
          </a:p>
        </p:txBody>
      </p:sp>
      <p:sp>
        <p:nvSpPr>
          <p:cNvPr id="38" name="Rectangle 37">
            <a:extLst>
              <a:ext uri="{FF2B5EF4-FFF2-40B4-BE49-F238E27FC236}">
                <a16:creationId xmlns:a16="http://schemas.microsoft.com/office/drawing/2014/main" id="{429A9246-DB91-4109-8DDA-C8FDDA833E35}"/>
              </a:ext>
            </a:extLst>
          </p:cNvPr>
          <p:cNvSpPr>
            <a:spLocks noGrp="1"/>
          </p:cNvSpPr>
          <p:nvPr/>
        </p:nvSpPr>
        <p:spPr>
          <a:xfrm>
            <a:off x="9572625" y="360045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Parquet + partition giảm scan</a:t>
            </a:r>
          </a:p>
        </p:txBody>
      </p:sp>
      <p:sp>
        <p:nvSpPr>
          <p:cNvPr id="39" name="Oval 38">
            <a:extLst>
              <a:ext uri="{FF2B5EF4-FFF2-40B4-BE49-F238E27FC236}">
                <a16:creationId xmlns:a16="http://schemas.microsoft.com/office/drawing/2014/main" id="{692506F4-3B4A-4C1E-8444-4F6EAA476DF4}"/>
              </a:ext>
            </a:extLst>
          </p:cNvPr>
          <p:cNvSpPr>
            <a:spLocks noGrp="1"/>
          </p:cNvSpPr>
          <p:nvPr/>
        </p:nvSpPr>
        <p:spPr>
          <a:xfrm>
            <a:off x="9401175" y="4495800"/>
            <a:ext cx="85725" cy="85725"/>
          </a:xfrm>
          <a:prstGeom prst="ellipse">
            <a:avLst/>
          </a:prstGeom>
          <a:solidFill>
            <a:srgbClr val="D97706"/>
          </a:solidFill>
          <a:ln w="0">
            <a:solidFill>
              <a:srgbClr val="D97706"/>
            </a:solidFill>
            <a:prstDash val="solid"/>
          </a:ln>
        </p:spPr>
        <p:txBody>
          <a:bodyPr/>
          <a:lstStyle/>
          <a:p>
            <a:endParaRPr lang="en-US"/>
          </a:p>
        </p:txBody>
      </p:sp>
      <p:sp>
        <p:nvSpPr>
          <p:cNvPr id="40" name="Rectangle 39">
            <a:extLst>
              <a:ext uri="{FF2B5EF4-FFF2-40B4-BE49-F238E27FC236}">
                <a16:creationId xmlns:a16="http://schemas.microsoft.com/office/drawing/2014/main" id="{361CC783-6775-45FB-BEDA-6275AE1F4DB2}"/>
              </a:ext>
            </a:extLst>
          </p:cNvPr>
          <p:cNvSpPr>
            <a:spLocks noGrp="1"/>
          </p:cNvSpPr>
          <p:nvPr/>
        </p:nvSpPr>
        <p:spPr>
          <a:xfrm>
            <a:off x="9572625" y="4419600"/>
            <a:ext cx="1771650"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Athena workgroup và giới hạn query</a:t>
            </a:r>
          </a:p>
        </p:txBody>
      </p:sp>
      <p:sp>
        <p:nvSpPr>
          <p:cNvPr id="43" name="Rectangle 42">
            <a:extLst>
              <a:ext uri="{FF2B5EF4-FFF2-40B4-BE49-F238E27FC236}">
                <a16:creationId xmlns:a16="http://schemas.microsoft.com/office/drawing/2014/main" id="{E62C86B5-9B81-4ABC-A494-997BE6B4ADCE}"/>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14/17</a:t>
            </a:r>
          </a:p>
        </p:txBody>
      </p:sp>
    </p:spTree>
    <p:extLst>
      <p:ext uri="{BB962C8B-B14F-4D97-AF65-F5344CB8AC3E}">
        <p14:creationId xmlns:p14="http://schemas.microsoft.com/office/powerpoint/2010/main" val="952387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D89028BF-9434-4432-A682-D5CED85C5084}"/>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lang="vi-VN" sz="3600" b="1">
                <a:solidFill>
                  <a:srgbClr val="12315B"/>
                </a:solidFill>
              </a:rPr>
              <a:t>Hoàn </a:t>
            </a:r>
            <a:r>
              <a:rPr sz="3600" b="1">
                <a:solidFill>
                  <a:srgbClr val="12315B"/>
                </a:solidFill>
              </a:rPr>
              <a:t>thiện AWS PoC</a:t>
            </a:r>
          </a:p>
        </p:txBody>
      </p:sp>
      <p:sp>
        <p:nvSpPr>
          <p:cNvPr id="3" name="Rectangle 2">
            <a:extLst>
              <a:ext uri="{FF2B5EF4-FFF2-40B4-BE49-F238E27FC236}">
                <a16:creationId xmlns:a16="http://schemas.microsoft.com/office/drawing/2014/main" id="{DB35CE8B-0F6A-4A0B-8BB1-611EBC8F3EE2}"/>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0836703D-3089-4C4A-BC40-A8882BE67877}"/>
              </a:ext>
            </a:extLst>
          </p:cNvPr>
          <p:cNvSpPr>
            <a:spLocks noGrp="1"/>
          </p:cNvSpPr>
          <p:nvPr/>
        </p:nvSpPr>
        <p:spPr>
          <a:xfrm>
            <a:off x="609600" y="2409825"/>
            <a:ext cx="2514600" cy="2600325"/>
          </a:xfrm>
          <a:prstGeom prst="roundRect">
            <a:avLst>
              <a:gd name="adj" fmla="val 6061"/>
            </a:avLst>
          </a:prstGeom>
          <a:solidFill>
            <a:srgbClr val="FFFFFF"/>
          </a:solidFill>
          <a:ln w="9525">
            <a:solidFill>
              <a:srgbClr val="D7E0EA"/>
            </a:solidFill>
            <a:prstDash val="solid"/>
          </a:ln>
        </p:spPr>
        <p:txBody>
          <a:bodyPr/>
          <a:lstStyle/>
          <a:p>
            <a:endParaRPr lang="en-US"/>
          </a:p>
        </p:txBody>
      </p:sp>
      <p:sp>
        <p:nvSpPr>
          <p:cNvPr id="6" name="Oval 5">
            <a:extLst>
              <a:ext uri="{FF2B5EF4-FFF2-40B4-BE49-F238E27FC236}">
                <a16:creationId xmlns:a16="http://schemas.microsoft.com/office/drawing/2014/main" id="{F8669F23-F2BB-4D13-9805-D06A0DFC760A}"/>
              </a:ext>
            </a:extLst>
          </p:cNvPr>
          <p:cNvSpPr>
            <a:spLocks noGrp="1"/>
          </p:cNvSpPr>
          <p:nvPr/>
        </p:nvSpPr>
        <p:spPr>
          <a:xfrm>
            <a:off x="1485900" y="2638425"/>
            <a:ext cx="762000" cy="762000"/>
          </a:xfrm>
          <a:prstGeom prst="ellipse">
            <a:avLst/>
          </a:prstGeom>
          <a:solidFill>
            <a:srgbClr val="EAF2FB"/>
          </a:solidFill>
          <a:ln w="19050">
            <a:solidFill>
              <a:srgbClr val="2563EB"/>
            </a:solidFill>
            <a:prstDash val="solid"/>
          </a:ln>
        </p:spPr>
        <p:txBody>
          <a:bodyPr/>
          <a:lstStyle/>
          <a:p>
            <a:endParaRPr lang="en-US"/>
          </a:p>
        </p:txBody>
      </p:sp>
      <p:sp>
        <p:nvSpPr>
          <p:cNvPr id="7" name="Rectangle 6">
            <a:extLst>
              <a:ext uri="{FF2B5EF4-FFF2-40B4-BE49-F238E27FC236}">
                <a16:creationId xmlns:a16="http://schemas.microsoft.com/office/drawing/2014/main" id="{30C96E95-A09C-475D-9595-10C0A4A17C7B}"/>
              </a:ext>
            </a:extLst>
          </p:cNvPr>
          <p:cNvSpPr>
            <a:spLocks noGrp="1"/>
          </p:cNvSpPr>
          <p:nvPr/>
        </p:nvSpPr>
        <p:spPr>
          <a:xfrm>
            <a:off x="1609725" y="2819400"/>
            <a:ext cx="514350" cy="36195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1</a:t>
            </a:r>
          </a:p>
        </p:txBody>
      </p:sp>
      <p:sp>
        <p:nvSpPr>
          <p:cNvPr id="8" name="Rectangle 7">
            <a:extLst>
              <a:ext uri="{FF2B5EF4-FFF2-40B4-BE49-F238E27FC236}">
                <a16:creationId xmlns:a16="http://schemas.microsoft.com/office/drawing/2014/main" id="{794A850E-F228-4B22-B951-106E5B7473D2}"/>
              </a:ext>
            </a:extLst>
          </p:cNvPr>
          <p:cNvSpPr>
            <a:spLocks noGrp="1"/>
          </p:cNvSpPr>
          <p:nvPr/>
        </p:nvSpPr>
        <p:spPr>
          <a:xfrm>
            <a:off x="876300" y="3657600"/>
            <a:ext cx="1981200" cy="285750"/>
          </a:xfrm>
          <a:prstGeom prst="rect">
            <a:avLst/>
          </a:prstGeom>
          <a:noFill/>
          <a:ln w="0">
            <a:noFill/>
            <a:prstDash val="solid"/>
          </a:ln>
        </p:spPr>
        <p:txBody>
          <a:bodyPr/>
          <a:lstStyle/>
          <a:p>
            <a:pPr algn="ctr">
              <a:buNone/>
              <a:defRPr sz="1725" b="1">
                <a:solidFill>
                  <a:srgbClr val="2563EB"/>
                </a:solidFill>
              </a:defRPr>
            </a:pPr>
            <a:r>
              <a:rPr sz="2000" b="1">
                <a:solidFill>
                  <a:srgbClr val="2563EB"/>
                </a:solidFill>
              </a:rPr>
              <a:t>LAND</a:t>
            </a:r>
          </a:p>
        </p:txBody>
      </p:sp>
      <p:sp>
        <p:nvSpPr>
          <p:cNvPr id="9" name="Rectangle 8">
            <a:extLst>
              <a:ext uri="{FF2B5EF4-FFF2-40B4-BE49-F238E27FC236}">
                <a16:creationId xmlns:a16="http://schemas.microsoft.com/office/drawing/2014/main" id="{ED24B12E-BE2F-4808-B04C-7BA6DC15AFB0}"/>
              </a:ext>
            </a:extLst>
          </p:cNvPr>
          <p:cNvSpPr>
            <a:spLocks noGrp="1"/>
          </p:cNvSpPr>
          <p:nvPr/>
        </p:nvSpPr>
        <p:spPr>
          <a:xfrm>
            <a:off x="895350" y="4152900"/>
            <a:ext cx="1943100" cy="857250"/>
          </a:xfrm>
          <a:prstGeom prst="rect">
            <a:avLst/>
          </a:prstGeom>
          <a:noFill/>
          <a:ln w="0">
            <a:noFill/>
            <a:prstDash val="solid"/>
          </a:ln>
        </p:spPr>
        <p:txBody>
          <a:bodyPr/>
          <a:lstStyle/>
          <a:p>
            <a:pPr algn="ctr">
              <a:buNone/>
              <a:defRPr sz="1500" b="1">
                <a:solidFill>
                  <a:srgbClr val="12315B"/>
                </a:solidFill>
              </a:defRPr>
            </a:pPr>
            <a:r>
              <a:rPr sz="1500" b="1">
                <a:solidFill>
                  <a:srgbClr val="12315B"/>
                </a:solidFill>
              </a:rPr>
              <a:t>S3 bucket, prefixes, upload 3 nguồn</a:t>
            </a:r>
          </a:p>
        </p:txBody>
      </p:sp>
      <p:sp>
        <p:nvSpPr>
          <p:cNvPr id="12" name="Rounded Rectangle 11">
            <a:extLst>
              <a:ext uri="{FF2B5EF4-FFF2-40B4-BE49-F238E27FC236}">
                <a16:creationId xmlns:a16="http://schemas.microsoft.com/office/drawing/2014/main" id="{18672185-B124-4683-8D47-98AD7A8EB58C}"/>
              </a:ext>
            </a:extLst>
          </p:cNvPr>
          <p:cNvSpPr>
            <a:spLocks noGrp="1"/>
          </p:cNvSpPr>
          <p:nvPr/>
        </p:nvSpPr>
        <p:spPr>
          <a:xfrm>
            <a:off x="3409950" y="2409825"/>
            <a:ext cx="2514600" cy="2600325"/>
          </a:xfrm>
          <a:prstGeom prst="roundRect">
            <a:avLst>
              <a:gd name="adj" fmla="val 6061"/>
            </a:avLst>
          </a:prstGeom>
          <a:solidFill>
            <a:srgbClr val="FFFFFF"/>
          </a:solidFill>
          <a:ln w="9525">
            <a:solidFill>
              <a:srgbClr val="D7E0EA"/>
            </a:solidFill>
            <a:prstDash val="solid"/>
          </a:ln>
        </p:spPr>
        <p:txBody>
          <a:bodyPr/>
          <a:lstStyle/>
          <a:p>
            <a:endParaRPr lang="en-US"/>
          </a:p>
        </p:txBody>
      </p:sp>
      <p:sp>
        <p:nvSpPr>
          <p:cNvPr id="13" name="Oval 12">
            <a:extLst>
              <a:ext uri="{FF2B5EF4-FFF2-40B4-BE49-F238E27FC236}">
                <a16:creationId xmlns:a16="http://schemas.microsoft.com/office/drawing/2014/main" id="{4B4ED1C8-1962-489F-8EA6-A72C5F1E83D4}"/>
              </a:ext>
            </a:extLst>
          </p:cNvPr>
          <p:cNvSpPr>
            <a:spLocks noGrp="1"/>
          </p:cNvSpPr>
          <p:nvPr/>
        </p:nvSpPr>
        <p:spPr>
          <a:xfrm>
            <a:off x="4286250" y="2638425"/>
            <a:ext cx="762000" cy="762000"/>
          </a:xfrm>
          <a:prstGeom prst="ellipse">
            <a:avLst/>
          </a:prstGeom>
          <a:solidFill>
            <a:srgbClr val="FFF3DD"/>
          </a:solidFill>
          <a:ln w="19050">
            <a:solidFill>
              <a:srgbClr val="FF9900"/>
            </a:solidFill>
            <a:prstDash val="solid"/>
          </a:ln>
        </p:spPr>
        <p:txBody>
          <a:bodyPr/>
          <a:lstStyle/>
          <a:p>
            <a:endParaRPr lang="en-US"/>
          </a:p>
        </p:txBody>
      </p:sp>
      <p:sp>
        <p:nvSpPr>
          <p:cNvPr id="14" name="Rectangle 13">
            <a:extLst>
              <a:ext uri="{FF2B5EF4-FFF2-40B4-BE49-F238E27FC236}">
                <a16:creationId xmlns:a16="http://schemas.microsoft.com/office/drawing/2014/main" id="{1469EB96-F273-41CF-85D2-FEF8424698DE}"/>
              </a:ext>
            </a:extLst>
          </p:cNvPr>
          <p:cNvSpPr>
            <a:spLocks noGrp="1"/>
          </p:cNvSpPr>
          <p:nvPr/>
        </p:nvSpPr>
        <p:spPr>
          <a:xfrm>
            <a:off x="4410075" y="2819400"/>
            <a:ext cx="514350" cy="361950"/>
          </a:xfrm>
          <a:prstGeom prst="rect">
            <a:avLst/>
          </a:prstGeom>
          <a:noFill/>
          <a:ln w="0">
            <a:noFill/>
            <a:prstDash val="solid"/>
          </a:ln>
        </p:spPr>
        <p:txBody>
          <a:bodyPr/>
          <a:lstStyle/>
          <a:p>
            <a:pPr algn="ctr">
              <a:buNone/>
              <a:defRPr sz="2250" b="1">
                <a:solidFill>
                  <a:srgbClr val="FF9900"/>
                </a:solidFill>
              </a:defRPr>
            </a:pPr>
            <a:r>
              <a:rPr sz="2250" b="1">
                <a:solidFill>
                  <a:srgbClr val="FF9900"/>
                </a:solidFill>
              </a:rPr>
              <a:t>2</a:t>
            </a:r>
          </a:p>
        </p:txBody>
      </p:sp>
      <p:sp>
        <p:nvSpPr>
          <p:cNvPr id="15" name="Rectangle 14">
            <a:extLst>
              <a:ext uri="{FF2B5EF4-FFF2-40B4-BE49-F238E27FC236}">
                <a16:creationId xmlns:a16="http://schemas.microsoft.com/office/drawing/2014/main" id="{5EAE5F7D-FD10-4F1C-BB47-D72F3B285171}"/>
              </a:ext>
            </a:extLst>
          </p:cNvPr>
          <p:cNvSpPr>
            <a:spLocks noGrp="1"/>
          </p:cNvSpPr>
          <p:nvPr/>
        </p:nvSpPr>
        <p:spPr>
          <a:xfrm>
            <a:off x="3676650" y="3657600"/>
            <a:ext cx="1981200" cy="285750"/>
          </a:xfrm>
          <a:prstGeom prst="rect">
            <a:avLst/>
          </a:prstGeom>
          <a:noFill/>
          <a:ln w="0">
            <a:noFill/>
            <a:prstDash val="solid"/>
          </a:ln>
        </p:spPr>
        <p:txBody>
          <a:bodyPr/>
          <a:lstStyle/>
          <a:p>
            <a:pPr algn="ctr">
              <a:buNone/>
              <a:defRPr sz="1725" b="1">
                <a:solidFill>
                  <a:srgbClr val="FF9900"/>
                </a:solidFill>
              </a:defRPr>
            </a:pPr>
            <a:r>
              <a:rPr sz="2000" b="1">
                <a:solidFill>
                  <a:srgbClr val="FF9900"/>
                </a:solidFill>
              </a:rPr>
              <a:t>DISCOVER</a:t>
            </a:r>
          </a:p>
        </p:txBody>
      </p:sp>
      <p:sp>
        <p:nvSpPr>
          <p:cNvPr id="16" name="Rectangle 15">
            <a:extLst>
              <a:ext uri="{FF2B5EF4-FFF2-40B4-BE49-F238E27FC236}">
                <a16:creationId xmlns:a16="http://schemas.microsoft.com/office/drawing/2014/main" id="{C1FAF6A0-7980-43C7-9390-04EDE1DD39D3}"/>
              </a:ext>
            </a:extLst>
          </p:cNvPr>
          <p:cNvSpPr>
            <a:spLocks noGrp="1"/>
          </p:cNvSpPr>
          <p:nvPr/>
        </p:nvSpPr>
        <p:spPr>
          <a:xfrm>
            <a:off x="3695700" y="4152900"/>
            <a:ext cx="1943100" cy="857250"/>
          </a:xfrm>
          <a:prstGeom prst="rect">
            <a:avLst/>
          </a:prstGeom>
          <a:noFill/>
          <a:ln w="0">
            <a:noFill/>
            <a:prstDash val="solid"/>
          </a:ln>
        </p:spPr>
        <p:txBody>
          <a:bodyPr/>
          <a:lstStyle/>
          <a:p>
            <a:pPr algn="ctr">
              <a:buNone/>
              <a:defRPr sz="1500" b="1">
                <a:solidFill>
                  <a:srgbClr val="12315B"/>
                </a:solidFill>
              </a:defRPr>
            </a:pPr>
            <a:r>
              <a:rPr sz="1500" b="1">
                <a:solidFill>
                  <a:srgbClr val="12315B"/>
                </a:solidFill>
              </a:rPr>
              <a:t>IAM role, Glue Database, Crawler, Catalog</a:t>
            </a:r>
          </a:p>
        </p:txBody>
      </p:sp>
      <p:sp>
        <p:nvSpPr>
          <p:cNvPr id="19" name="Rounded Rectangle 18">
            <a:extLst>
              <a:ext uri="{FF2B5EF4-FFF2-40B4-BE49-F238E27FC236}">
                <a16:creationId xmlns:a16="http://schemas.microsoft.com/office/drawing/2014/main" id="{0D0C19B6-FBDE-432A-99E4-17063500B5EA}"/>
              </a:ext>
            </a:extLst>
          </p:cNvPr>
          <p:cNvSpPr>
            <a:spLocks noGrp="1"/>
          </p:cNvSpPr>
          <p:nvPr/>
        </p:nvSpPr>
        <p:spPr>
          <a:xfrm>
            <a:off x="6210300" y="2409825"/>
            <a:ext cx="2514600" cy="2600325"/>
          </a:xfrm>
          <a:prstGeom prst="roundRect">
            <a:avLst>
              <a:gd name="adj" fmla="val 6061"/>
            </a:avLst>
          </a:prstGeom>
          <a:solidFill>
            <a:srgbClr val="FFFFFF"/>
          </a:solidFill>
          <a:ln w="9525">
            <a:solidFill>
              <a:srgbClr val="D7E0EA"/>
            </a:solidFill>
            <a:prstDash val="solid"/>
          </a:ln>
        </p:spPr>
        <p:txBody>
          <a:bodyPr/>
          <a:lstStyle/>
          <a:p>
            <a:endParaRPr lang="en-US"/>
          </a:p>
        </p:txBody>
      </p:sp>
      <p:sp>
        <p:nvSpPr>
          <p:cNvPr id="20" name="Oval 19">
            <a:extLst>
              <a:ext uri="{FF2B5EF4-FFF2-40B4-BE49-F238E27FC236}">
                <a16:creationId xmlns:a16="http://schemas.microsoft.com/office/drawing/2014/main" id="{D07D2378-9D33-417F-8BA1-AFE8129E3868}"/>
              </a:ext>
            </a:extLst>
          </p:cNvPr>
          <p:cNvSpPr>
            <a:spLocks noGrp="1"/>
          </p:cNvSpPr>
          <p:nvPr/>
        </p:nvSpPr>
        <p:spPr>
          <a:xfrm>
            <a:off x="7086600" y="2638425"/>
            <a:ext cx="762000" cy="762000"/>
          </a:xfrm>
          <a:prstGeom prst="ellipse">
            <a:avLst/>
          </a:prstGeom>
          <a:solidFill>
            <a:srgbClr val="E5F7F4"/>
          </a:solidFill>
          <a:ln w="19050">
            <a:solidFill>
              <a:srgbClr val="0F766E"/>
            </a:solidFill>
            <a:prstDash val="solid"/>
          </a:ln>
        </p:spPr>
        <p:txBody>
          <a:bodyPr/>
          <a:lstStyle/>
          <a:p>
            <a:endParaRPr lang="en-US"/>
          </a:p>
        </p:txBody>
      </p:sp>
      <p:sp>
        <p:nvSpPr>
          <p:cNvPr id="21" name="Rectangle 20">
            <a:extLst>
              <a:ext uri="{FF2B5EF4-FFF2-40B4-BE49-F238E27FC236}">
                <a16:creationId xmlns:a16="http://schemas.microsoft.com/office/drawing/2014/main" id="{3BD8C93D-FBB5-429A-A267-AE85D2D93966}"/>
              </a:ext>
            </a:extLst>
          </p:cNvPr>
          <p:cNvSpPr>
            <a:spLocks noGrp="1"/>
          </p:cNvSpPr>
          <p:nvPr/>
        </p:nvSpPr>
        <p:spPr>
          <a:xfrm>
            <a:off x="7210425" y="2819400"/>
            <a:ext cx="514350" cy="361950"/>
          </a:xfrm>
          <a:prstGeom prst="rect">
            <a:avLst/>
          </a:prstGeom>
          <a:noFill/>
          <a:ln w="0">
            <a:noFill/>
            <a:prstDash val="solid"/>
          </a:ln>
        </p:spPr>
        <p:txBody>
          <a:bodyPr/>
          <a:lstStyle/>
          <a:p>
            <a:pPr algn="ctr">
              <a:buNone/>
              <a:defRPr sz="2250" b="1">
                <a:solidFill>
                  <a:srgbClr val="0F766E"/>
                </a:solidFill>
              </a:defRPr>
            </a:pPr>
            <a:r>
              <a:rPr sz="2250" b="1">
                <a:solidFill>
                  <a:srgbClr val="0F766E"/>
                </a:solidFill>
              </a:rPr>
              <a:t>3</a:t>
            </a:r>
          </a:p>
        </p:txBody>
      </p:sp>
      <p:sp>
        <p:nvSpPr>
          <p:cNvPr id="22" name="Rectangle 21">
            <a:extLst>
              <a:ext uri="{FF2B5EF4-FFF2-40B4-BE49-F238E27FC236}">
                <a16:creationId xmlns:a16="http://schemas.microsoft.com/office/drawing/2014/main" id="{3CF079B6-8317-4E77-9F50-47894ADBD97D}"/>
              </a:ext>
            </a:extLst>
          </p:cNvPr>
          <p:cNvSpPr>
            <a:spLocks noGrp="1"/>
          </p:cNvSpPr>
          <p:nvPr/>
        </p:nvSpPr>
        <p:spPr>
          <a:xfrm>
            <a:off x="6477000" y="3657600"/>
            <a:ext cx="1981200" cy="285750"/>
          </a:xfrm>
          <a:prstGeom prst="rect">
            <a:avLst/>
          </a:prstGeom>
          <a:noFill/>
          <a:ln w="0">
            <a:noFill/>
            <a:prstDash val="solid"/>
          </a:ln>
        </p:spPr>
        <p:txBody>
          <a:bodyPr/>
          <a:lstStyle/>
          <a:p>
            <a:pPr algn="ctr">
              <a:buNone/>
              <a:defRPr sz="1725" b="1">
                <a:solidFill>
                  <a:srgbClr val="0F766E"/>
                </a:solidFill>
              </a:defRPr>
            </a:pPr>
            <a:r>
              <a:rPr sz="2000" b="1">
                <a:solidFill>
                  <a:srgbClr val="0F766E"/>
                </a:solidFill>
              </a:rPr>
              <a:t>TRANSFORM</a:t>
            </a:r>
          </a:p>
        </p:txBody>
      </p:sp>
      <p:sp>
        <p:nvSpPr>
          <p:cNvPr id="23" name="Rectangle 22">
            <a:extLst>
              <a:ext uri="{FF2B5EF4-FFF2-40B4-BE49-F238E27FC236}">
                <a16:creationId xmlns:a16="http://schemas.microsoft.com/office/drawing/2014/main" id="{68948CF1-7FA0-42A8-BADB-2CA13334C723}"/>
              </a:ext>
            </a:extLst>
          </p:cNvPr>
          <p:cNvSpPr>
            <a:spLocks noGrp="1"/>
          </p:cNvSpPr>
          <p:nvPr/>
        </p:nvSpPr>
        <p:spPr>
          <a:xfrm>
            <a:off x="6496050" y="4152900"/>
            <a:ext cx="1943100" cy="857250"/>
          </a:xfrm>
          <a:prstGeom prst="rect">
            <a:avLst/>
          </a:prstGeom>
          <a:noFill/>
          <a:ln w="0">
            <a:noFill/>
            <a:prstDash val="solid"/>
          </a:ln>
        </p:spPr>
        <p:txBody>
          <a:bodyPr/>
          <a:lstStyle/>
          <a:p>
            <a:pPr algn="ctr">
              <a:buNone/>
              <a:defRPr sz="1500" b="1">
                <a:solidFill>
                  <a:srgbClr val="12315B"/>
                </a:solidFill>
              </a:defRPr>
            </a:pPr>
            <a:r>
              <a:rPr sz="1500" b="1">
                <a:solidFill>
                  <a:srgbClr val="12315B"/>
                </a:solidFill>
              </a:rPr>
              <a:t>Visual ETL, quality gate, Parquet curated</a:t>
            </a:r>
          </a:p>
        </p:txBody>
      </p:sp>
      <p:sp>
        <p:nvSpPr>
          <p:cNvPr id="26" name="Rounded Rectangle 25">
            <a:extLst>
              <a:ext uri="{FF2B5EF4-FFF2-40B4-BE49-F238E27FC236}">
                <a16:creationId xmlns:a16="http://schemas.microsoft.com/office/drawing/2014/main" id="{846E3F6D-11AB-43B9-91FC-16E59B9EF073}"/>
              </a:ext>
            </a:extLst>
          </p:cNvPr>
          <p:cNvSpPr>
            <a:spLocks noGrp="1"/>
          </p:cNvSpPr>
          <p:nvPr/>
        </p:nvSpPr>
        <p:spPr>
          <a:xfrm>
            <a:off x="9010650" y="2409825"/>
            <a:ext cx="2514600" cy="2600325"/>
          </a:xfrm>
          <a:prstGeom prst="roundRect">
            <a:avLst>
              <a:gd name="adj" fmla="val 6061"/>
            </a:avLst>
          </a:prstGeom>
          <a:solidFill>
            <a:srgbClr val="FFFFFF"/>
          </a:solidFill>
          <a:ln w="9525">
            <a:solidFill>
              <a:srgbClr val="D7E0EA"/>
            </a:solidFill>
            <a:prstDash val="solid"/>
          </a:ln>
        </p:spPr>
        <p:txBody>
          <a:bodyPr/>
          <a:lstStyle/>
          <a:p>
            <a:endParaRPr lang="en-US"/>
          </a:p>
        </p:txBody>
      </p:sp>
      <p:sp>
        <p:nvSpPr>
          <p:cNvPr id="27" name="Oval 26">
            <a:extLst>
              <a:ext uri="{FF2B5EF4-FFF2-40B4-BE49-F238E27FC236}">
                <a16:creationId xmlns:a16="http://schemas.microsoft.com/office/drawing/2014/main" id="{87708E18-4619-49DB-B0FB-DB84AF0131D7}"/>
              </a:ext>
            </a:extLst>
          </p:cNvPr>
          <p:cNvSpPr>
            <a:spLocks noGrp="1"/>
          </p:cNvSpPr>
          <p:nvPr/>
        </p:nvSpPr>
        <p:spPr>
          <a:xfrm>
            <a:off x="9886950" y="2638425"/>
            <a:ext cx="762000" cy="762000"/>
          </a:xfrm>
          <a:prstGeom prst="ellipse">
            <a:avLst/>
          </a:prstGeom>
          <a:solidFill>
            <a:srgbClr val="F2ECFF"/>
          </a:solidFill>
          <a:ln w="19050">
            <a:solidFill>
              <a:srgbClr val="7C3AED"/>
            </a:solidFill>
            <a:prstDash val="solid"/>
          </a:ln>
        </p:spPr>
        <p:txBody>
          <a:bodyPr/>
          <a:lstStyle/>
          <a:p>
            <a:endParaRPr lang="en-US"/>
          </a:p>
        </p:txBody>
      </p:sp>
      <p:sp>
        <p:nvSpPr>
          <p:cNvPr id="28" name="Rectangle 27">
            <a:extLst>
              <a:ext uri="{FF2B5EF4-FFF2-40B4-BE49-F238E27FC236}">
                <a16:creationId xmlns:a16="http://schemas.microsoft.com/office/drawing/2014/main" id="{61979645-E8CD-4D10-BAFC-C8EA88CB5D6E}"/>
              </a:ext>
            </a:extLst>
          </p:cNvPr>
          <p:cNvSpPr>
            <a:spLocks noGrp="1"/>
          </p:cNvSpPr>
          <p:nvPr/>
        </p:nvSpPr>
        <p:spPr>
          <a:xfrm>
            <a:off x="10010775" y="2819400"/>
            <a:ext cx="514350" cy="361950"/>
          </a:xfrm>
          <a:prstGeom prst="rect">
            <a:avLst/>
          </a:prstGeom>
          <a:noFill/>
          <a:ln w="0">
            <a:noFill/>
            <a:prstDash val="solid"/>
          </a:ln>
        </p:spPr>
        <p:txBody>
          <a:bodyPr/>
          <a:lstStyle/>
          <a:p>
            <a:pPr algn="ctr">
              <a:buNone/>
              <a:defRPr sz="2250" b="1">
                <a:solidFill>
                  <a:srgbClr val="7C3AED"/>
                </a:solidFill>
              </a:defRPr>
            </a:pPr>
            <a:r>
              <a:rPr sz="2250" b="1">
                <a:solidFill>
                  <a:srgbClr val="7C3AED"/>
                </a:solidFill>
              </a:rPr>
              <a:t>4</a:t>
            </a:r>
          </a:p>
        </p:txBody>
      </p:sp>
      <p:sp>
        <p:nvSpPr>
          <p:cNvPr id="29" name="Rectangle 28">
            <a:extLst>
              <a:ext uri="{FF2B5EF4-FFF2-40B4-BE49-F238E27FC236}">
                <a16:creationId xmlns:a16="http://schemas.microsoft.com/office/drawing/2014/main" id="{B225363C-C1D2-4E19-8D0F-E4759A0DA10E}"/>
              </a:ext>
            </a:extLst>
          </p:cNvPr>
          <p:cNvSpPr>
            <a:spLocks noGrp="1"/>
          </p:cNvSpPr>
          <p:nvPr/>
        </p:nvSpPr>
        <p:spPr>
          <a:xfrm>
            <a:off x="9277350" y="3657600"/>
            <a:ext cx="1981200" cy="285750"/>
          </a:xfrm>
          <a:prstGeom prst="rect">
            <a:avLst/>
          </a:prstGeom>
          <a:noFill/>
          <a:ln w="0">
            <a:noFill/>
            <a:prstDash val="solid"/>
          </a:ln>
        </p:spPr>
        <p:txBody>
          <a:bodyPr/>
          <a:lstStyle/>
          <a:p>
            <a:pPr algn="ctr">
              <a:buNone/>
              <a:defRPr sz="1725" b="1">
                <a:solidFill>
                  <a:srgbClr val="7C3AED"/>
                </a:solidFill>
              </a:defRPr>
            </a:pPr>
            <a:r>
              <a:rPr sz="2000" b="1">
                <a:solidFill>
                  <a:srgbClr val="7C3AED"/>
                </a:solidFill>
              </a:rPr>
              <a:t>SERVE</a:t>
            </a:r>
          </a:p>
        </p:txBody>
      </p:sp>
      <p:sp>
        <p:nvSpPr>
          <p:cNvPr id="30" name="Rectangle 29">
            <a:extLst>
              <a:ext uri="{FF2B5EF4-FFF2-40B4-BE49-F238E27FC236}">
                <a16:creationId xmlns:a16="http://schemas.microsoft.com/office/drawing/2014/main" id="{C3B86E80-8E6A-4B87-AD9E-CBE4C509E362}"/>
              </a:ext>
            </a:extLst>
          </p:cNvPr>
          <p:cNvSpPr>
            <a:spLocks noGrp="1"/>
          </p:cNvSpPr>
          <p:nvPr/>
        </p:nvSpPr>
        <p:spPr>
          <a:xfrm>
            <a:off x="9296400" y="4152900"/>
            <a:ext cx="1943100" cy="857250"/>
          </a:xfrm>
          <a:prstGeom prst="rect">
            <a:avLst/>
          </a:prstGeom>
          <a:noFill/>
          <a:ln w="0">
            <a:noFill/>
            <a:prstDash val="solid"/>
          </a:ln>
        </p:spPr>
        <p:txBody>
          <a:bodyPr/>
          <a:lstStyle/>
          <a:p>
            <a:pPr algn="ctr">
              <a:buNone/>
              <a:defRPr sz="1500" b="1">
                <a:solidFill>
                  <a:srgbClr val="12315B"/>
                </a:solidFill>
              </a:defRPr>
            </a:pPr>
            <a:r>
              <a:rPr sz="1500" b="1">
                <a:solidFill>
                  <a:srgbClr val="12315B"/>
                </a:solidFill>
              </a:rPr>
              <a:t>Athena query, BI, workflow/trigger</a:t>
            </a:r>
          </a:p>
        </p:txBody>
      </p:sp>
      <p:sp>
        <p:nvSpPr>
          <p:cNvPr id="36" name="Rectangle 35">
            <a:extLst>
              <a:ext uri="{FF2B5EF4-FFF2-40B4-BE49-F238E27FC236}">
                <a16:creationId xmlns:a16="http://schemas.microsoft.com/office/drawing/2014/main" id="{E991E8F6-89B2-4DB7-946B-DD719A0F5AAF}"/>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15/17</a:t>
            </a:r>
          </a:p>
        </p:txBody>
      </p:sp>
    </p:spTree>
    <p:extLst>
      <p:ext uri="{BB962C8B-B14F-4D97-AF65-F5344CB8AC3E}">
        <p14:creationId xmlns:p14="http://schemas.microsoft.com/office/powerpoint/2010/main" val="1960149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DC532250-8E4D-429B-9503-7A2F3D79079F}"/>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sz="3600" b="1">
                <a:solidFill>
                  <a:srgbClr val="12315B"/>
                </a:solidFill>
              </a:rPr>
              <a:t>AWS PoC</a:t>
            </a:r>
          </a:p>
        </p:txBody>
      </p:sp>
      <p:sp>
        <p:nvSpPr>
          <p:cNvPr id="3" name="Rectangle 2">
            <a:extLst>
              <a:ext uri="{FF2B5EF4-FFF2-40B4-BE49-F238E27FC236}">
                <a16:creationId xmlns:a16="http://schemas.microsoft.com/office/drawing/2014/main" id="{35904DEA-BAF7-4AFC-A5D4-A81F9F917DEB}"/>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ounded Rectangle 4">
            <a:extLst>
              <a:ext uri="{FF2B5EF4-FFF2-40B4-BE49-F238E27FC236}">
                <a16:creationId xmlns:a16="http://schemas.microsoft.com/office/drawing/2014/main" id="{E33116C5-D5DB-49CF-82C1-D609370EEB9E}"/>
              </a:ext>
            </a:extLst>
          </p:cNvPr>
          <p:cNvSpPr>
            <a:spLocks noGrp="1"/>
          </p:cNvSpPr>
          <p:nvPr/>
        </p:nvSpPr>
        <p:spPr>
          <a:xfrm>
            <a:off x="609600" y="1724025"/>
            <a:ext cx="5105400" cy="4000500"/>
          </a:xfrm>
          <a:prstGeom prst="roundRect">
            <a:avLst>
              <a:gd name="adj" fmla="val 3810"/>
            </a:avLst>
          </a:prstGeom>
          <a:solidFill>
            <a:srgbClr val="EAF7EE"/>
          </a:solidFill>
          <a:ln w="9525">
            <a:solidFill>
              <a:srgbClr val="8FD1A3"/>
            </a:solidFill>
            <a:prstDash val="solid"/>
          </a:ln>
        </p:spPr>
        <p:txBody>
          <a:bodyPr/>
          <a:lstStyle/>
          <a:p>
            <a:endParaRPr lang="en-US"/>
          </a:p>
        </p:txBody>
      </p:sp>
      <p:sp>
        <p:nvSpPr>
          <p:cNvPr id="6" name="Rectangle 5">
            <a:extLst>
              <a:ext uri="{FF2B5EF4-FFF2-40B4-BE49-F238E27FC236}">
                <a16:creationId xmlns:a16="http://schemas.microsoft.com/office/drawing/2014/main" id="{ABB1A0DA-E154-4D51-9721-ED9FC17DEEFC}"/>
              </a:ext>
            </a:extLst>
          </p:cNvPr>
          <p:cNvSpPr>
            <a:spLocks noGrp="1"/>
          </p:cNvSpPr>
          <p:nvPr/>
        </p:nvSpPr>
        <p:spPr>
          <a:xfrm>
            <a:off x="933450" y="2066925"/>
            <a:ext cx="4095750" cy="304800"/>
          </a:xfrm>
          <a:prstGeom prst="rect">
            <a:avLst/>
          </a:prstGeom>
          <a:noFill/>
          <a:ln w="0">
            <a:noFill/>
            <a:prstDash val="solid"/>
          </a:ln>
        </p:spPr>
        <p:txBody>
          <a:bodyPr/>
          <a:lstStyle/>
          <a:p>
            <a:pPr algn="l">
              <a:buNone/>
              <a:defRPr sz="1275" b="1">
                <a:solidFill>
                  <a:srgbClr val="16803D"/>
                </a:solidFill>
              </a:defRPr>
            </a:pPr>
            <a:r>
              <a:rPr sz="2000" b="1">
                <a:solidFill>
                  <a:srgbClr val="16803D"/>
                </a:solidFill>
              </a:rPr>
              <a:t>ĐÃ HOÀN THÀNH</a:t>
            </a:r>
          </a:p>
        </p:txBody>
      </p:sp>
      <p:sp>
        <p:nvSpPr>
          <p:cNvPr id="7" name="Oval 6">
            <a:extLst>
              <a:ext uri="{FF2B5EF4-FFF2-40B4-BE49-F238E27FC236}">
                <a16:creationId xmlns:a16="http://schemas.microsoft.com/office/drawing/2014/main" id="{78329F13-A55D-41BC-9E58-3BF83C60EED8}"/>
              </a:ext>
            </a:extLst>
          </p:cNvPr>
          <p:cNvSpPr>
            <a:spLocks noGrp="1"/>
          </p:cNvSpPr>
          <p:nvPr/>
        </p:nvSpPr>
        <p:spPr>
          <a:xfrm>
            <a:off x="933450" y="2762250"/>
            <a:ext cx="85725" cy="85725"/>
          </a:xfrm>
          <a:prstGeom prst="ellipse">
            <a:avLst/>
          </a:prstGeom>
          <a:solidFill>
            <a:srgbClr val="16803D"/>
          </a:solidFill>
          <a:ln w="0">
            <a:solidFill>
              <a:srgbClr val="16803D"/>
            </a:solidFill>
            <a:prstDash val="solid"/>
          </a:ln>
        </p:spPr>
        <p:txBody>
          <a:bodyPr/>
          <a:lstStyle/>
          <a:p>
            <a:endParaRPr lang="en-US"/>
          </a:p>
        </p:txBody>
      </p:sp>
      <p:sp>
        <p:nvSpPr>
          <p:cNvPr id="8" name="Rectangle 7">
            <a:extLst>
              <a:ext uri="{FF2B5EF4-FFF2-40B4-BE49-F238E27FC236}">
                <a16:creationId xmlns:a16="http://schemas.microsoft.com/office/drawing/2014/main" id="{A3EBCF1B-07BA-4E03-B0B6-C5149FAEF50A}"/>
              </a:ext>
            </a:extLst>
          </p:cNvPr>
          <p:cNvSpPr>
            <a:spLocks noGrp="1"/>
          </p:cNvSpPr>
          <p:nvPr/>
        </p:nvSpPr>
        <p:spPr>
          <a:xfrm>
            <a:off x="1104899" y="2686050"/>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PostgreSQL source + Data Warehouse + marts</a:t>
            </a:r>
          </a:p>
        </p:txBody>
      </p:sp>
      <p:sp>
        <p:nvSpPr>
          <p:cNvPr id="9" name="Oval 8">
            <a:extLst>
              <a:ext uri="{FF2B5EF4-FFF2-40B4-BE49-F238E27FC236}">
                <a16:creationId xmlns:a16="http://schemas.microsoft.com/office/drawing/2014/main" id="{35091D91-741E-40AC-9775-12D0037E0FB1}"/>
              </a:ext>
            </a:extLst>
          </p:cNvPr>
          <p:cNvSpPr>
            <a:spLocks noGrp="1"/>
          </p:cNvSpPr>
          <p:nvPr/>
        </p:nvSpPr>
        <p:spPr>
          <a:xfrm>
            <a:off x="933450" y="3324225"/>
            <a:ext cx="85725" cy="85725"/>
          </a:xfrm>
          <a:prstGeom prst="ellipse">
            <a:avLst/>
          </a:prstGeom>
          <a:solidFill>
            <a:srgbClr val="16803D"/>
          </a:solidFill>
          <a:ln w="0">
            <a:solidFill>
              <a:srgbClr val="16803D"/>
            </a:solidFill>
            <a:prstDash val="solid"/>
          </a:ln>
        </p:spPr>
        <p:txBody>
          <a:bodyPr/>
          <a:lstStyle/>
          <a:p>
            <a:endParaRPr lang="en-US"/>
          </a:p>
        </p:txBody>
      </p:sp>
      <p:sp>
        <p:nvSpPr>
          <p:cNvPr id="10" name="Rectangle 9">
            <a:extLst>
              <a:ext uri="{FF2B5EF4-FFF2-40B4-BE49-F238E27FC236}">
                <a16:creationId xmlns:a16="http://schemas.microsoft.com/office/drawing/2014/main" id="{AEBC2B69-75DC-4FFF-AA66-625FB695ECF9}"/>
              </a:ext>
            </a:extLst>
          </p:cNvPr>
          <p:cNvSpPr>
            <a:spLocks noGrp="1"/>
          </p:cNvSpPr>
          <p:nvPr/>
        </p:nvSpPr>
        <p:spPr>
          <a:xfrm>
            <a:off x="1104899" y="3248025"/>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Full/incremental ETL và 22 acceptance tests</a:t>
            </a:r>
          </a:p>
        </p:txBody>
      </p:sp>
      <p:sp>
        <p:nvSpPr>
          <p:cNvPr id="11" name="Oval 10">
            <a:extLst>
              <a:ext uri="{FF2B5EF4-FFF2-40B4-BE49-F238E27FC236}">
                <a16:creationId xmlns:a16="http://schemas.microsoft.com/office/drawing/2014/main" id="{468A278B-44CF-4461-A065-FA59974B60B9}"/>
              </a:ext>
            </a:extLst>
          </p:cNvPr>
          <p:cNvSpPr>
            <a:spLocks noGrp="1"/>
          </p:cNvSpPr>
          <p:nvPr/>
        </p:nvSpPr>
        <p:spPr>
          <a:xfrm>
            <a:off x="933450" y="3886200"/>
            <a:ext cx="85725" cy="85725"/>
          </a:xfrm>
          <a:prstGeom prst="ellipse">
            <a:avLst/>
          </a:prstGeom>
          <a:solidFill>
            <a:srgbClr val="16803D"/>
          </a:solidFill>
          <a:ln w="0">
            <a:solidFill>
              <a:srgbClr val="16803D"/>
            </a:solidFill>
            <a:prstDash val="solid"/>
          </a:ln>
        </p:spPr>
        <p:txBody>
          <a:bodyPr/>
          <a:lstStyle/>
          <a:p>
            <a:endParaRPr lang="en-US"/>
          </a:p>
        </p:txBody>
      </p:sp>
      <p:sp>
        <p:nvSpPr>
          <p:cNvPr id="12" name="Rectangle 11">
            <a:extLst>
              <a:ext uri="{FF2B5EF4-FFF2-40B4-BE49-F238E27FC236}">
                <a16:creationId xmlns:a16="http://schemas.microsoft.com/office/drawing/2014/main" id="{603CB5D9-0F86-49C0-9D5E-F7E35064C5D9}"/>
              </a:ext>
            </a:extLst>
          </p:cNvPr>
          <p:cNvSpPr>
            <a:spLocks noGrp="1"/>
          </p:cNvSpPr>
          <p:nvPr/>
        </p:nvSpPr>
        <p:spPr>
          <a:xfrm>
            <a:off x="1104899" y="3810000"/>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Data profile, business insight và Power BI dashboard</a:t>
            </a:r>
          </a:p>
        </p:txBody>
      </p:sp>
      <p:sp>
        <p:nvSpPr>
          <p:cNvPr id="13" name="Oval 12">
            <a:extLst>
              <a:ext uri="{FF2B5EF4-FFF2-40B4-BE49-F238E27FC236}">
                <a16:creationId xmlns:a16="http://schemas.microsoft.com/office/drawing/2014/main" id="{0039917F-F094-401E-865E-1C282E5E6478}"/>
              </a:ext>
            </a:extLst>
          </p:cNvPr>
          <p:cNvSpPr>
            <a:spLocks noGrp="1"/>
          </p:cNvSpPr>
          <p:nvPr/>
        </p:nvSpPr>
        <p:spPr>
          <a:xfrm>
            <a:off x="933450" y="4448175"/>
            <a:ext cx="85725" cy="85725"/>
          </a:xfrm>
          <a:prstGeom prst="ellipse">
            <a:avLst/>
          </a:prstGeom>
          <a:solidFill>
            <a:srgbClr val="16803D"/>
          </a:solidFill>
          <a:ln w="0">
            <a:solidFill>
              <a:srgbClr val="16803D"/>
            </a:solidFill>
            <a:prstDash val="solid"/>
          </a:ln>
        </p:spPr>
        <p:txBody>
          <a:bodyPr/>
          <a:lstStyle/>
          <a:p>
            <a:endParaRPr lang="en-US"/>
          </a:p>
        </p:txBody>
      </p:sp>
      <p:sp>
        <p:nvSpPr>
          <p:cNvPr id="14" name="Rectangle 13">
            <a:extLst>
              <a:ext uri="{FF2B5EF4-FFF2-40B4-BE49-F238E27FC236}">
                <a16:creationId xmlns:a16="http://schemas.microsoft.com/office/drawing/2014/main" id="{72BB554B-ABF4-46A9-80A9-67221EE7A586}"/>
              </a:ext>
            </a:extLst>
          </p:cNvPr>
          <p:cNvSpPr>
            <a:spLocks noGrp="1"/>
          </p:cNvSpPr>
          <p:nvPr/>
        </p:nvSpPr>
        <p:spPr>
          <a:xfrm>
            <a:off x="1104899" y="4371975"/>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S3 bucket/prefixes và Glue database ở Singapore</a:t>
            </a:r>
          </a:p>
        </p:txBody>
      </p:sp>
      <p:sp>
        <p:nvSpPr>
          <p:cNvPr id="15" name="Oval 14">
            <a:extLst>
              <a:ext uri="{FF2B5EF4-FFF2-40B4-BE49-F238E27FC236}">
                <a16:creationId xmlns:a16="http://schemas.microsoft.com/office/drawing/2014/main" id="{A46132F8-AFC1-4D40-A995-7A92D4BB627C}"/>
              </a:ext>
            </a:extLst>
          </p:cNvPr>
          <p:cNvSpPr>
            <a:spLocks noGrp="1"/>
          </p:cNvSpPr>
          <p:nvPr/>
        </p:nvSpPr>
        <p:spPr>
          <a:xfrm>
            <a:off x="933450" y="5010150"/>
            <a:ext cx="85725" cy="85725"/>
          </a:xfrm>
          <a:prstGeom prst="ellipse">
            <a:avLst/>
          </a:prstGeom>
          <a:solidFill>
            <a:srgbClr val="16803D"/>
          </a:solidFill>
          <a:ln w="0">
            <a:solidFill>
              <a:srgbClr val="16803D"/>
            </a:solidFill>
            <a:prstDash val="solid"/>
          </a:ln>
        </p:spPr>
        <p:txBody>
          <a:bodyPr/>
          <a:lstStyle/>
          <a:p>
            <a:endParaRPr lang="en-US"/>
          </a:p>
        </p:txBody>
      </p:sp>
      <p:sp>
        <p:nvSpPr>
          <p:cNvPr id="16" name="Rectangle 15">
            <a:extLst>
              <a:ext uri="{FF2B5EF4-FFF2-40B4-BE49-F238E27FC236}">
                <a16:creationId xmlns:a16="http://schemas.microsoft.com/office/drawing/2014/main" id="{B4C226CC-EA41-418C-AEA6-71716B2C7458}"/>
              </a:ext>
            </a:extLst>
          </p:cNvPr>
          <p:cNvSpPr>
            <a:spLocks noGrp="1"/>
          </p:cNvSpPr>
          <p:nvPr/>
        </p:nvSpPr>
        <p:spPr>
          <a:xfrm>
            <a:off x="1104899" y="4933950"/>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Thiết kế AWS pipeline, mapping và kế hoạch demo</a:t>
            </a:r>
          </a:p>
        </p:txBody>
      </p:sp>
      <p:sp>
        <p:nvSpPr>
          <p:cNvPr id="17" name="Rounded Rectangle 16">
            <a:extLst>
              <a:ext uri="{FF2B5EF4-FFF2-40B4-BE49-F238E27FC236}">
                <a16:creationId xmlns:a16="http://schemas.microsoft.com/office/drawing/2014/main" id="{15A77567-11D2-452A-B766-0656DE815126}"/>
              </a:ext>
            </a:extLst>
          </p:cNvPr>
          <p:cNvSpPr>
            <a:spLocks noGrp="1"/>
          </p:cNvSpPr>
          <p:nvPr/>
        </p:nvSpPr>
        <p:spPr>
          <a:xfrm>
            <a:off x="6477000" y="1724025"/>
            <a:ext cx="5105400" cy="4000500"/>
          </a:xfrm>
          <a:prstGeom prst="roundRect">
            <a:avLst>
              <a:gd name="adj" fmla="val 3810"/>
            </a:avLst>
          </a:prstGeom>
          <a:solidFill>
            <a:srgbClr val="FBEAEC"/>
          </a:solidFill>
          <a:ln w="9525">
            <a:solidFill>
              <a:srgbClr val="E8A5AE"/>
            </a:solidFill>
            <a:prstDash val="solid"/>
          </a:ln>
        </p:spPr>
        <p:txBody>
          <a:bodyPr/>
          <a:lstStyle/>
          <a:p>
            <a:endParaRPr lang="en-US"/>
          </a:p>
        </p:txBody>
      </p:sp>
      <p:sp>
        <p:nvSpPr>
          <p:cNvPr id="18" name="Rectangle 17">
            <a:extLst>
              <a:ext uri="{FF2B5EF4-FFF2-40B4-BE49-F238E27FC236}">
                <a16:creationId xmlns:a16="http://schemas.microsoft.com/office/drawing/2014/main" id="{413760FB-34F3-4045-86F4-CBAEBE386776}"/>
              </a:ext>
            </a:extLst>
          </p:cNvPr>
          <p:cNvSpPr>
            <a:spLocks noGrp="1"/>
          </p:cNvSpPr>
          <p:nvPr/>
        </p:nvSpPr>
        <p:spPr>
          <a:xfrm>
            <a:off x="6800850" y="2066925"/>
            <a:ext cx="4095750" cy="304800"/>
          </a:xfrm>
          <a:prstGeom prst="rect">
            <a:avLst/>
          </a:prstGeom>
          <a:noFill/>
          <a:ln w="0">
            <a:noFill/>
            <a:prstDash val="solid"/>
          </a:ln>
        </p:spPr>
        <p:txBody>
          <a:bodyPr/>
          <a:lstStyle/>
          <a:p>
            <a:pPr algn="l">
              <a:buNone/>
              <a:defRPr sz="1275" b="1">
                <a:solidFill>
                  <a:srgbClr val="C83E4D"/>
                </a:solidFill>
              </a:defRPr>
            </a:pPr>
            <a:r>
              <a:rPr sz="2000" b="1">
                <a:solidFill>
                  <a:srgbClr val="C83E4D"/>
                </a:solidFill>
              </a:rPr>
              <a:t>CHƯA HOÀN TẤT</a:t>
            </a:r>
          </a:p>
        </p:txBody>
      </p:sp>
      <p:sp>
        <p:nvSpPr>
          <p:cNvPr id="19" name="Oval 18">
            <a:extLst>
              <a:ext uri="{FF2B5EF4-FFF2-40B4-BE49-F238E27FC236}">
                <a16:creationId xmlns:a16="http://schemas.microsoft.com/office/drawing/2014/main" id="{23246ACC-B216-4CAA-BA1E-17499DA938D6}"/>
              </a:ext>
            </a:extLst>
          </p:cNvPr>
          <p:cNvSpPr>
            <a:spLocks noGrp="1"/>
          </p:cNvSpPr>
          <p:nvPr/>
        </p:nvSpPr>
        <p:spPr>
          <a:xfrm>
            <a:off x="6800850" y="2762250"/>
            <a:ext cx="85725" cy="85725"/>
          </a:xfrm>
          <a:prstGeom prst="ellipse">
            <a:avLst/>
          </a:prstGeom>
          <a:solidFill>
            <a:srgbClr val="C83E4D"/>
          </a:solidFill>
          <a:ln w="0">
            <a:solidFill>
              <a:srgbClr val="C83E4D"/>
            </a:solidFill>
            <a:prstDash val="solid"/>
          </a:ln>
        </p:spPr>
        <p:txBody>
          <a:bodyPr/>
          <a:lstStyle/>
          <a:p>
            <a:endParaRPr lang="en-US"/>
          </a:p>
        </p:txBody>
      </p:sp>
      <p:sp>
        <p:nvSpPr>
          <p:cNvPr id="20" name="Rectangle 19">
            <a:extLst>
              <a:ext uri="{FF2B5EF4-FFF2-40B4-BE49-F238E27FC236}">
                <a16:creationId xmlns:a16="http://schemas.microsoft.com/office/drawing/2014/main" id="{3E148550-5C42-4E1E-9792-657790DE6FDA}"/>
              </a:ext>
            </a:extLst>
          </p:cNvPr>
          <p:cNvSpPr>
            <a:spLocks noGrp="1"/>
          </p:cNvSpPr>
          <p:nvPr/>
        </p:nvSpPr>
        <p:spPr>
          <a:xfrm>
            <a:off x="6972299" y="2686050"/>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Glue Crawler: account denied access</a:t>
            </a:r>
          </a:p>
        </p:txBody>
      </p:sp>
      <p:sp>
        <p:nvSpPr>
          <p:cNvPr id="21" name="Oval 20">
            <a:extLst>
              <a:ext uri="{FF2B5EF4-FFF2-40B4-BE49-F238E27FC236}">
                <a16:creationId xmlns:a16="http://schemas.microsoft.com/office/drawing/2014/main" id="{1B5A4200-69AE-4E18-ADA3-1B4162DA4082}"/>
              </a:ext>
            </a:extLst>
          </p:cNvPr>
          <p:cNvSpPr>
            <a:spLocks noGrp="1"/>
          </p:cNvSpPr>
          <p:nvPr/>
        </p:nvSpPr>
        <p:spPr>
          <a:xfrm>
            <a:off x="6800850" y="3324225"/>
            <a:ext cx="85725" cy="85725"/>
          </a:xfrm>
          <a:prstGeom prst="ellipse">
            <a:avLst/>
          </a:prstGeom>
          <a:solidFill>
            <a:srgbClr val="C83E4D"/>
          </a:solidFill>
          <a:ln w="0">
            <a:solidFill>
              <a:srgbClr val="C83E4D"/>
            </a:solidFill>
            <a:prstDash val="solid"/>
          </a:ln>
        </p:spPr>
        <p:txBody>
          <a:bodyPr/>
          <a:lstStyle/>
          <a:p>
            <a:endParaRPr lang="en-US"/>
          </a:p>
        </p:txBody>
      </p:sp>
      <p:sp>
        <p:nvSpPr>
          <p:cNvPr id="22" name="Rectangle 21">
            <a:extLst>
              <a:ext uri="{FF2B5EF4-FFF2-40B4-BE49-F238E27FC236}">
                <a16:creationId xmlns:a16="http://schemas.microsoft.com/office/drawing/2014/main" id="{009B3DB9-E8D3-4D9A-A81B-AD7068E10C3D}"/>
              </a:ext>
            </a:extLst>
          </p:cNvPr>
          <p:cNvSpPr>
            <a:spLocks noGrp="1"/>
          </p:cNvSpPr>
          <p:nvPr/>
        </p:nvSpPr>
        <p:spPr>
          <a:xfrm>
            <a:off x="6972299" y="3248025"/>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Visual ETL job chưa được chạy trên AWS</a:t>
            </a:r>
          </a:p>
        </p:txBody>
      </p:sp>
      <p:sp>
        <p:nvSpPr>
          <p:cNvPr id="23" name="Oval 22">
            <a:extLst>
              <a:ext uri="{FF2B5EF4-FFF2-40B4-BE49-F238E27FC236}">
                <a16:creationId xmlns:a16="http://schemas.microsoft.com/office/drawing/2014/main" id="{4D597A28-CC6B-4C0F-8D75-EDBD0F862114}"/>
              </a:ext>
            </a:extLst>
          </p:cNvPr>
          <p:cNvSpPr>
            <a:spLocks noGrp="1"/>
          </p:cNvSpPr>
          <p:nvPr/>
        </p:nvSpPr>
        <p:spPr>
          <a:xfrm>
            <a:off x="6800850" y="3886200"/>
            <a:ext cx="85725" cy="85725"/>
          </a:xfrm>
          <a:prstGeom prst="ellipse">
            <a:avLst/>
          </a:prstGeom>
          <a:solidFill>
            <a:srgbClr val="C83E4D"/>
          </a:solidFill>
          <a:ln w="0">
            <a:solidFill>
              <a:srgbClr val="C83E4D"/>
            </a:solidFill>
            <a:prstDash val="solid"/>
          </a:ln>
        </p:spPr>
        <p:txBody>
          <a:bodyPr/>
          <a:lstStyle/>
          <a:p>
            <a:endParaRPr lang="en-US"/>
          </a:p>
        </p:txBody>
      </p:sp>
      <p:sp>
        <p:nvSpPr>
          <p:cNvPr id="24" name="Rectangle 23">
            <a:extLst>
              <a:ext uri="{FF2B5EF4-FFF2-40B4-BE49-F238E27FC236}">
                <a16:creationId xmlns:a16="http://schemas.microsoft.com/office/drawing/2014/main" id="{0F547333-1DCF-4281-A257-7D834E10D272}"/>
              </a:ext>
            </a:extLst>
          </p:cNvPr>
          <p:cNvSpPr>
            <a:spLocks noGrp="1"/>
          </p:cNvSpPr>
          <p:nvPr/>
        </p:nvSpPr>
        <p:spPr>
          <a:xfrm>
            <a:off x="6972299" y="3810000"/>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Curated Parquet và Athena table chưa sinh</a:t>
            </a:r>
          </a:p>
        </p:txBody>
      </p:sp>
      <p:sp>
        <p:nvSpPr>
          <p:cNvPr id="25" name="Oval 24">
            <a:extLst>
              <a:ext uri="{FF2B5EF4-FFF2-40B4-BE49-F238E27FC236}">
                <a16:creationId xmlns:a16="http://schemas.microsoft.com/office/drawing/2014/main" id="{68E3DF48-E0AC-41D1-9F67-B302F27E73A6}"/>
              </a:ext>
            </a:extLst>
          </p:cNvPr>
          <p:cNvSpPr>
            <a:spLocks noGrp="1"/>
          </p:cNvSpPr>
          <p:nvPr/>
        </p:nvSpPr>
        <p:spPr>
          <a:xfrm>
            <a:off x="6800850" y="4448175"/>
            <a:ext cx="85725" cy="85725"/>
          </a:xfrm>
          <a:prstGeom prst="ellipse">
            <a:avLst/>
          </a:prstGeom>
          <a:solidFill>
            <a:srgbClr val="C83E4D"/>
          </a:solidFill>
          <a:ln w="0">
            <a:solidFill>
              <a:srgbClr val="C83E4D"/>
            </a:solidFill>
            <a:prstDash val="solid"/>
          </a:ln>
        </p:spPr>
        <p:txBody>
          <a:bodyPr/>
          <a:lstStyle/>
          <a:p>
            <a:endParaRPr lang="en-US"/>
          </a:p>
        </p:txBody>
      </p:sp>
      <p:sp>
        <p:nvSpPr>
          <p:cNvPr id="26" name="Rectangle 25">
            <a:extLst>
              <a:ext uri="{FF2B5EF4-FFF2-40B4-BE49-F238E27FC236}">
                <a16:creationId xmlns:a16="http://schemas.microsoft.com/office/drawing/2014/main" id="{4BFF8729-8E73-4DE7-AC0F-DD684C83B121}"/>
              </a:ext>
            </a:extLst>
          </p:cNvPr>
          <p:cNvSpPr>
            <a:spLocks noGrp="1"/>
          </p:cNvSpPr>
          <p:nvPr/>
        </p:nvSpPr>
        <p:spPr>
          <a:xfrm>
            <a:off x="6972299" y="4371975"/>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Chưa đo thời gian chạy và chi phí thực tế</a:t>
            </a:r>
          </a:p>
        </p:txBody>
      </p:sp>
      <p:sp>
        <p:nvSpPr>
          <p:cNvPr id="27" name="Oval 26">
            <a:extLst>
              <a:ext uri="{FF2B5EF4-FFF2-40B4-BE49-F238E27FC236}">
                <a16:creationId xmlns:a16="http://schemas.microsoft.com/office/drawing/2014/main" id="{B562B36F-88ED-4CA3-A295-BAFB36759743}"/>
              </a:ext>
            </a:extLst>
          </p:cNvPr>
          <p:cNvSpPr>
            <a:spLocks noGrp="1"/>
          </p:cNvSpPr>
          <p:nvPr/>
        </p:nvSpPr>
        <p:spPr>
          <a:xfrm>
            <a:off x="6800850" y="5010150"/>
            <a:ext cx="85725" cy="85725"/>
          </a:xfrm>
          <a:prstGeom prst="ellipse">
            <a:avLst/>
          </a:prstGeom>
          <a:solidFill>
            <a:srgbClr val="C83E4D"/>
          </a:solidFill>
          <a:ln w="0">
            <a:solidFill>
              <a:srgbClr val="C83E4D"/>
            </a:solidFill>
            <a:prstDash val="solid"/>
          </a:ln>
        </p:spPr>
        <p:txBody>
          <a:bodyPr/>
          <a:lstStyle/>
          <a:p>
            <a:endParaRPr lang="en-US"/>
          </a:p>
        </p:txBody>
      </p:sp>
      <p:sp>
        <p:nvSpPr>
          <p:cNvPr id="28" name="Rectangle 27">
            <a:extLst>
              <a:ext uri="{FF2B5EF4-FFF2-40B4-BE49-F238E27FC236}">
                <a16:creationId xmlns:a16="http://schemas.microsoft.com/office/drawing/2014/main" id="{DCBE7CB2-3AF0-40F1-8F59-66C42451C2F7}"/>
              </a:ext>
            </a:extLst>
          </p:cNvPr>
          <p:cNvSpPr>
            <a:spLocks noGrp="1"/>
          </p:cNvSpPr>
          <p:nvPr/>
        </p:nvSpPr>
        <p:spPr>
          <a:xfrm>
            <a:off x="6972299" y="4933950"/>
            <a:ext cx="4519723" cy="457200"/>
          </a:xfrm>
          <a:prstGeom prst="rect">
            <a:avLst/>
          </a:prstGeom>
          <a:noFill/>
          <a:ln w="0">
            <a:noFill/>
            <a:prstDash val="solid"/>
          </a:ln>
        </p:spPr>
        <p:txBody>
          <a:bodyPr/>
          <a:lstStyle/>
          <a:p>
            <a:pPr algn="l">
              <a:buNone/>
              <a:defRPr sz="1500" b="0">
                <a:solidFill>
                  <a:srgbClr val="12315B"/>
                </a:solidFill>
              </a:defRPr>
            </a:pPr>
            <a:r>
              <a:rPr sz="1600" b="0">
                <a:solidFill>
                  <a:srgbClr val="12315B"/>
                </a:solidFill>
              </a:rPr>
              <a:t>Chưa kết nối BI trực tiếp với Athena</a:t>
            </a:r>
          </a:p>
        </p:txBody>
      </p:sp>
      <p:sp>
        <p:nvSpPr>
          <p:cNvPr id="32" name="Rectangle 31">
            <a:extLst>
              <a:ext uri="{FF2B5EF4-FFF2-40B4-BE49-F238E27FC236}">
                <a16:creationId xmlns:a16="http://schemas.microsoft.com/office/drawing/2014/main" id="{D67D4204-B559-424F-B401-C304AC6B3BA1}"/>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16/17</a:t>
            </a:r>
          </a:p>
        </p:txBody>
      </p:sp>
    </p:spTree>
    <p:extLst>
      <p:ext uri="{BB962C8B-B14F-4D97-AF65-F5344CB8AC3E}">
        <p14:creationId xmlns:p14="http://schemas.microsoft.com/office/powerpoint/2010/main" val="1269565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C639B1C-3299-438B-9FCD-149145B59265}"/>
              </a:ext>
            </a:extLst>
          </p:cNvPr>
          <p:cNvSpPr>
            <a:spLocks noGrp="1"/>
          </p:cNvSpPr>
          <p:nvPr/>
        </p:nvSpPr>
        <p:spPr>
          <a:xfrm>
            <a:off x="609600" y="323850"/>
            <a:ext cx="10477500" cy="628650"/>
          </a:xfrm>
          <a:prstGeom prst="rect">
            <a:avLst/>
          </a:prstGeom>
          <a:noFill/>
          <a:ln w="0">
            <a:noFill/>
            <a:prstDash val="solid"/>
          </a:ln>
        </p:spPr>
        <p:txBody>
          <a:bodyPr/>
          <a:lstStyle/>
          <a:p>
            <a:pPr algn="l">
              <a:buNone/>
              <a:defRPr sz="3600" b="1">
                <a:solidFill>
                  <a:srgbClr val="12315B"/>
                </a:solidFill>
              </a:defRPr>
            </a:pPr>
            <a:r>
              <a:rPr lang="vi-VN" sz="3600" b="1">
                <a:solidFill>
                  <a:srgbClr val="12315B"/>
                </a:solidFill>
              </a:rPr>
              <a:t>Kết luận</a:t>
            </a:r>
            <a:endParaRPr sz="3600" b="1">
              <a:solidFill>
                <a:srgbClr val="12315B"/>
              </a:solidFill>
            </a:endParaRPr>
          </a:p>
        </p:txBody>
      </p:sp>
      <p:sp>
        <p:nvSpPr>
          <p:cNvPr id="3" name="Rectangle 2">
            <a:extLst>
              <a:ext uri="{FF2B5EF4-FFF2-40B4-BE49-F238E27FC236}">
                <a16:creationId xmlns:a16="http://schemas.microsoft.com/office/drawing/2014/main" id="{9EBC1EB4-DE34-4A3D-9010-B0D1AC70B893}"/>
              </a:ext>
            </a:extLst>
          </p:cNvPr>
          <p:cNvSpPr>
            <a:spLocks noGrp="1"/>
          </p:cNvSpPr>
          <p:nvPr/>
        </p:nvSpPr>
        <p:spPr>
          <a:xfrm>
            <a:off x="609600" y="1304925"/>
            <a:ext cx="876300" cy="47625"/>
          </a:xfrm>
          <a:prstGeom prst="rect">
            <a:avLst/>
          </a:prstGeom>
          <a:solidFill>
            <a:srgbClr val="FF9900"/>
          </a:solidFill>
          <a:ln w="0">
            <a:solidFill>
              <a:srgbClr val="FF9900"/>
            </a:solidFill>
            <a:prstDash val="solid"/>
          </a:ln>
        </p:spPr>
        <p:txBody>
          <a:bodyPr/>
          <a:lstStyle/>
          <a:p>
            <a:endParaRPr lang="en-US"/>
          </a:p>
        </p:txBody>
      </p:sp>
      <p:sp>
        <p:nvSpPr>
          <p:cNvPr id="5" name="Rectangle 4">
            <a:extLst>
              <a:ext uri="{FF2B5EF4-FFF2-40B4-BE49-F238E27FC236}">
                <a16:creationId xmlns:a16="http://schemas.microsoft.com/office/drawing/2014/main" id="{C91F65A5-E2A3-483C-B81F-9FF4754E9190}"/>
              </a:ext>
            </a:extLst>
          </p:cNvPr>
          <p:cNvSpPr>
            <a:spLocks noGrp="1"/>
          </p:cNvSpPr>
          <p:nvPr/>
        </p:nvSpPr>
        <p:spPr>
          <a:xfrm>
            <a:off x="685800" y="1790700"/>
            <a:ext cx="666750" cy="552450"/>
          </a:xfrm>
          <a:prstGeom prst="rect">
            <a:avLst/>
          </a:prstGeom>
          <a:noFill/>
          <a:ln w="0">
            <a:noFill/>
            <a:prstDash val="solid"/>
          </a:ln>
        </p:spPr>
        <p:txBody>
          <a:bodyPr/>
          <a:lstStyle/>
          <a:p>
            <a:pPr algn="l">
              <a:buNone/>
              <a:defRPr sz="2250" b="1">
                <a:solidFill>
                  <a:srgbClr val="FF9900"/>
                </a:solidFill>
              </a:defRPr>
            </a:pPr>
            <a:r>
              <a:rPr sz="2250" b="1">
                <a:solidFill>
                  <a:srgbClr val="FF9900"/>
                </a:solidFill>
              </a:rPr>
              <a:t>1</a:t>
            </a:r>
          </a:p>
        </p:txBody>
      </p:sp>
      <p:sp>
        <p:nvSpPr>
          <p:cNvPr id="6" name="Rectangle 5">
            <a:extLst>
              <a:ext uri="{FF2B5EF4-FFF2-40B4-BE49-F238E27FC236}">
                <a16:creationId xmlns:a16="http://schemas.microsoft.com/office/drawing/2014/main" id="{1DE9223D-E4D2-4235-B759-6950241CFE7E}"/>
              </a:ext>
            </a:extLst>
          </p:cNvPr>
          <p:cNvSpPr>
            <a:spLocks noGrp="1"/>
          </p:cNvSpPr>
          <p:nvPr/>
        </p:nvSpPr>
        <p:spPr>
          <a:xfrm>
            <a:off x="1628774" y="1819275"/>
            <a:ext cx="2060723" cy="285750"/>
          </a:xfrm>
          <a:prstGeom prst="rect">
            <a:avLst/>
          </a:prstGeom>
          <a:noFill/>
          <a:ln w="0">
            <a:noFill/>
            <a:prstDash val="solid"/>
          </a:ln>
        </p:spPr>
        <p:txBody>
          <a:bodyPr/>
          <a:lstStyle/>
          <a:p>
            <a:pPr algn="l">
              <a:buNone/>
              <a:defRPr sz="1875" b="1">
                <a:solidFill>
                  <a:srgbClr val="12315B"/>
                </a:solidFill>
              </a:defRPr>
            </a:pPr>
            <a:r>
              <a:rPr sz="2000" b="1">
                <a:solidFill>
                  <a:srgbClr val="12315B"/>
                </a:solidFill>
              </a:rPr>
              <a:t>Business</a:t>
            </a:r>
          </a:p>
        </p:txBody>
      </p:sp>
      <p:sp>
        <p:nvSpPr>
          <p:cNvPr id="7" name="Rectangle 6">
            <a:extLst>
              <a:ext uri="{FF2B5EF4-FFF2-40B4-BE49-F238E27FC236}">
                <a16:creationId xmlns:a16="http://schemas.microsoft.com/office/drawing/2014/main" id="{B0BA2A05-2BC7-4F84-BD71-7A147498996C}"/>
              </a:ext>
            </a:extLst>
          </p:cNvPr>
          <p:cNvSpPr>
            <a:spLocks noGrp="1"/>
          </p:cNvSpPr>
          <p:nvPr/>
        </p:nvSpPr>
        <p:spPr>
          <a:xfrm>
            <a:off x="3571875" y="1852280"/>
            <a:ext cx="7429500" cy="571500"/>
          </a:xfrm>
          <a:prstGeom prst="rect">
            <a:avLst/>
          </a:prstGeom>
          <a:noFill/>
          <a:ln w="0">
            <a:noFill/>
            <a:prstDash val="solid"/>
          </a:ln>
        </p:spPr>
        <p:txBody>
          <a:bodyPr/>
          <a:lstStyle/>
          <a:p>
            <a:pPr algn="l">
              <a:buNone/>
              <a:defRPr sz="1725" b="1">
                <a:solidFill>
                  <a:srgbClr val="12315B"/>
                </a:solidFill>
              </a:defRPr>
            </a:pPr>
            <a:r>
              <a:rPr sz="1725" b="1">
                <a:solidFill>
                  <a:srgbClr val="12315B"/>
                </a:solidFill>
              </a:rPr>
              <a:t>ACH là ưu tiên điều tra: 12,1% volume nhưng 87,3% AML</a:t>
            </a:r>
          </a:p>
        </p:txBody>
      </p:sp>
      <p:sp>
        <p:nvSpPr>
          <p:cNvPr id="8" name="Rectangle 7">
            <a:extLst>
              <a:ext uri="{FF2B5EF4-FFF2-40B4-BE49-F238E27FC236}">
                <a16:creationId xmlns:a16="http://schemas.microsoft.com/office/drawing/2014/main" id="{7CEE07F1-7137-4DCD-A2AF-9132F81EA827}"/>
              </a:ext>
            </a:extLst>
          </p:cNvPr>
          <p:cNvSpPr>
            <a:spLocks noGrp="1"/>
          </p:cNvSpPr>
          <p:nvPr/>
        </p:nvSpPr>
        <p:spPr>
          <a:xfrm>
            <a:off x="685800" y="2590800"/>
            <a:ext cx="10287000" cy="19050"/>
          </a:xfrm>
          <a:prstGeom prst="rect">
            <a:avLst/>
          </a:prstGeom>
          <a:solidFill>
            <a:srgbClr val="BFD2E8"/>
          </a:solidFill>
          <a:ln w="0">
            <a:solidFill>
              <a:srgbClr val="BFD2E8"/>
            </a:solidFill>
            <a:prstDash val="solid"/>
          </a:ln>
        </p:spPr>
        <p:txBody>
          <a:bodyPr/>
          <a:lstStyle/>
          <a:p>
            <a:endParaRPr lang="en-US"/>
          </a:p>
        </p:txBody>
      </p:sp>
      <p:sp>
        <p:nvSpPr>
          <p:cNvPr id="9" name="Rectangle 8">
            <a:extLst>
              <a:ext uri="{FF2B5EF4-FFF2-40B4-BE49-F238E27FC236}">
                <a16:creationId xmlns:a16="http://schemas.microsoft.com/office/drawing/2014/main" id="{B1DD150A-CC25-4B99-8D89-279D5F34E832}"/>
              </a:ext>
            </a:extLst>
          </p:cNvPr>
          <p:cNvSpPr>
            <a:spLocks noGrp="1"/>
          </p:cNvSpPr>
          <p:nvPr/>
        </p:nvSpPr>
        <p:spPr>
          <a:xfrm>
            <a:off x="685800" y="3048000"/>
            <a:ext cx="666750" cy="552450"/>
          </a:xfrm>
          <a:prstGeom prst="rect">
            <a:avLst/>
          </a:prstGeom>
          <a:noFill/>
          <a:ln w="0">
            <a:noFill/>
            <a:prstDash val="solid"/>
          </a:ln>
        </p:spPr>
        <p:txBody>
          <a:bodyPr/>
          <a:lstStyle/>
          <a:p>
            <a:pPr algn="l">
              <a:buNone/>
              <a:defRPr sz="2250" b="1">
                <a:solidFill>
                  <a:srgbClr val="14B8A6"/>
                </a:solidFill>
              </a:defRPr>
            </a:pPr>
            <a:r>
              <a:rPr sz="2250" b="1">
                <a:solidFill>
                  <a:srgbClr val="14B8A6"/>
                </a:solidFill>
              </a:rPr>
              <a:t>2</a:t>
            </a:r>
          </a:p>
        </p:txBody>
      </p:sp>
      <p:sp>
        <p:nvSpPr>
          <p:cNvPr id="10" name="Rectangle 9">
            <a:extLst>
              <a:ext uri="{FF2B5EF4-FFF2-40B4-BE49-F238E27FC236}">
                <a16:creationId xmlns:a16="http://schemas.microsoft.com/office/drawing/2014/main" id="{8B7A925D-7247-4CAE-BD02-B2C24D41C759}"/>
              </a:ext>
            </a:extLst>
          </p:cNvPr>
          <p:cNvSpPr>
            <a:spLocks noGrp="1"/>
          </p:cNvSpPr>
          <p:nvPr/>
        </p:nvSpPr>
        <p:spPr>
          <a:xfrm>
            <a:off x="1628774" y="3076575"/>
            <a:ext cx="2060723" cy="285750"/>
          </a:xfrm>
          <a:prstGeom prst="rect">
            <a:avLst/>
          </a:prstGeom>
          <a:noFill/>
          <a:ln w="0">
            <a:noFill/>
            <a:prstDash val="solid"/>
          </a:ln>
        </p:spPr>
        <p:txBody>
          <a:bodyPr/>
          <a:lstStyle/>
          <a:p>
            <a:pPr algn="l">
              <a:buNone/>
              <a:defRPr sz="1275" b="1">
                <a:solidFill>
                  <a:srgbClr val="12315B"/>
                </a:solidFill>
              </a:defRPr>
            </a:pPr>
            <a:r>
              <a:rPr sz="2000" b="1">
                <a:solidFill>
                  <a:srgbClr val="12315B"/>
                </a:solidFill>
              </a:rPr>
              <a:t>Data Engineering</a:t>
            </a:r>
          </a:p>
        </p:txBody>
      </p:sp>
      <p:sp>
        <p:nvSpPr>
          <p:cNvPr id="11" name="Rectangle 10">
            <a:extLst>
              <a:ext uri="{FF2B5EF4-FFF2-40B4-BE49-F238E27FC236}">
                <a16:creationId xmlns:a16="http://schemas.microsoft.com/office/drawing/2014/main" id="{24F0B36C-AAE9-4A1C-A903-B3A64B3B3714}"/>
              </a:ext>
            </a:extLst>
          </p:cNvPr>
          <p:cNvSpPr>
            <a:spLocks noGrp="1"/>
          </p:cNvSpPr>
          <p:nvPr/>
        </p:nvSpPr>
        <p:spPr>
          <a:xfrm>
            <a:off x="3571875" y="3110023"/>
            <a:ext cx="7429500" cy="571500"/>
          </a:xfrm>
          <a:prstGeom prst="rect">
            <a:avLst/>
          </a:prstGeom>
          <a:noFill/>
          <a:ln w="0">
            <a:noFill/>
            <a:prstDash val="solid"/>
          </a:ln>
        </p:spPr>
        <p:txBody>
          <a:bodyPr/>
          <a:lstStyle/>
          <a:p>
            <a:pPr algn="l">
              <a:buNone/>
              <a:defRPr sz="1725" b="1">
                <a:solidFill>
                  <a:srgbClr val="12315B"/>
                </a:solidFill>
              </a:defRPr>
            </a:pPr>
            <a:r>
              <a:rPr sz="1725" b="1">
                <a:solidFill>
                  <a:srgbClr val="12315B"/>
                </a:solidFill>
              </a:rPr>
              <a:t>Raw bất biến, quality gate, lineage và grain đúng bảo vệ tính tin cậy</a:t>
            </a:r>
          </a:p>
        </p:txBody>
      </p:sp>
      <p:sp>
        <p:nvSpPr>
          <p:cNvPr id="12" name="Rectangle 11">
            <a:extLst>
              <a:ext uri="{FF2B5EF4-FFF2-40B4-BE49-F238E27FC236}">
                <a16:creationId xmlns:a16="http://schemas.microsoft.com/office/drawing/2014/main" id="{400554B6-1158-4124-A7CF-1EEAB134D20C}"/>
              </a:ext>
            </a:extLst>
          </p:cNvPr>
          <p:cNvSpPr>
            <a:spLocks noGrp="1"/>
          </p:cNvSpPr>
          <p:nvPr/>
        </p:nvSpPr>
        <p:spPr>
          <a:xfrm>
            <a:off x="685800" y="3848100"/>
            <a:ext cx="10287000" cy="19050"/>
          </a:xfrm>
          <a:prstGeom prst="rect">
            <a:avLst/>
          </a:prstGeom>
          <a:solidFill>
            <a:srgbClr val="BFD2E8"/>
          </a:solidFill>
          <a:ln w="0">
            <a:solidFill>
              <a:srgbClr val="BFD2E8"/>
            </a:solidFill>
            <a:prstDash val="solid"/>
          </a:ln>
        </p:spPr>
        <p:txBody>
          <a:bodyPr/>
          <a:lstStyle/>
          <a:p>
            <a:endParaRPr lang="en-US"/>
          </a:p>
        </p:txBody>
      </p:sp>
      <p:sp>
        <p:nvSpPr>
          <p:cNvPr id="13" name="Rectangle 12">
            <a:extLst>
              <a:ext uri="{FF2B5EF4-FFF2-40B4-BE49-F238E27FC236}">
                <a16:creationId xmlns:a16="http://schemas.microsoft.com/office/drawing/2014/main" id="{0D59813C-1CC5-4A9C-99B1-ABA9889C5BA5}"/>
              </a:ext>
            </a:extLst>
          </p:cNvPr>
          <p:cNvSpPr>
            <a:spLocks noGrp="1"/>
          </p:cNvSpPr>
          <p:nvPr/>
        </p:nvSpPr>
        <p:spPr>
          <a:xfrm>
            <a:off x="685800" y="4305300"/>
            <a:ext cx="666750" cy="552450"/>
          </a:xfrm>
          <a:prstGeom prst="rect">
            <a:avLst/>
          </a:prstGeom>
          <a:noFill/>
          <a:ln w="0">
            <a:noFill/>
            <a:prstDash val="solid"/>
          </a:ln>
        </p:spPr>
        <p:txBody>
          <a:bodyPr/>
          <a:lstStyle/>
          <a:p>
            <a:pPr algn="l">
              <a:buNone/>
              <a:defRPr sz="2250" b="1">
                <a:solidFill>
                  <a:srgbClr val="7DA8FF"/>
                </a:solidFill>
              </a:defRPr>
            </a:pPr>
            <a:r>
              <a:rPr sz="2250" b="1">
                <a:solidFill>
                  <a:srgbClr val="7DA8FF"/>
                </a:solidFill>
              </a:rPr>
              <a:t>3</a:t>
            </a:r>
          </a:p>
        </p:txBody>
      </p:sp>
      <p:sp>
        <p:nvSpPr>
          <p:cNvPr id="14" name="Rectangle 13">
            <a:extLst>
              <a:ext uri="{FF2B5EF4-FFF2-40B4-BE49-F238E27FC236}">
                <a16:creationId xmlns:a16="http://schemas.microsoft.com/office/drawing/2014/main" id="{25982C51-2790-4A40-ACBE-3D67B13ED4FE}"/>
              </a:ext>
            </a:extLst>
          </p:cNvPr>
          <p:cNvSpPr>
            <a:spLocks noGrp="1"/>
          </p:cNvSpPr>
          <p:nvPr/>
        </p:nvSpPr>
        <p:spPr>
          <a:xfrm>
            <a:off x="1628774" y="4333875"/>
            <a:ext cx="2060723" cy="285750"/>
          </a:xfrm>
          <a:prstGeom prst="rect">
            <a:avLst/>
          </a:prstGeom>
          <a:noFill/>
          <a:ln w="0">
            <a:noFill/>
            <a:prstDash val="solid"/>
          </a:ln>
        </p:spPr>
        <p:txBody>
          <a:bodyPr/>
          <a:lstStyle/>
          <a:p>
            <a:pPr algn="l">
              <a:buNone/>
              <a:defRPr sz="1875" b="1">
                <a:solidFill>
                  <a:srgbClr val="12315B"/>
                </a:solidFill>
              </a:defRPr>
            </a:pPr>
            <a:r>
              <a:rPr sz="2000" b="1">
                <a:solidFill>
                  <a:srgbClr val="12315B"/>
                </a:solidFill>
              </a:rPr>
              <a:t>Cloud</a:t>
            </a:r>
          </a:p>
        </p:txBody>
      </p:sp>
      <p:sp>
        <p:nvSpPr>
          <p:cNvPr id="15" name="Rectangle 14">
            <a:extLst>
              <a:ext uri="{FF2B5EF4-FFF2-40B4-BE49-F238E27FC236}">
                <a16:creationId xmlns:a16="http://schemas.microsoft.com/office/drawing/2014/main" id="{0ED8F198-5598-45D4-9DFC-C68F7C7EA03E}"/>
              </a:ext>
            </a:extLst>
          </p:cNvPr>
          <p:cNvSpPr>
            <a:spLocks noGrp="1"/>
          </p:cNvSpPr>
          <p:nvPr/>
        </p:nvSpPr>
        <p:spPr>
          <a:xfrm>
            <a:off x="3571875" y="4368652"/>
            <a:ext cx="7429500" cy="571500"/>
          </a:xfrm>
          <a:prstGeom prst="rect">
            <a:avLst/>
          </a:prstGeom>
          <a:noFill/>
          <a:ln w="0">
            <a:noFill/>
            <a:prstDash val="solid"/>
          </a:ln>
        </p:spPr>
        <p:txBody>
          <a:bodyPr/>
          <a:lstStyle/>
          <a:p>
            <a:pPr algn="l">
              <a:buNone/>
              <a:defRPr sz="1725" b="1">
                <a:solidFill>
                  <a:srgbClr val="12315B"/>
                </a:solidFill>
              </a:defRPr>
            </a:pPr>
            <a:r>
              <a:rPr sz="1725" b="1">
                <a:solidFill>
                  <a:srgbClr val="12315B"/>
                </a:solidFill>
              </a:rPr>
              <a:t>S3 + Glue + Athena đủ cho PoC serverless cơ bản, dễ mở rộng khi cần</a:t>
            </a:r>
          </a:p>
        </p:txBody>
      </p:sp>
      <p:sp>
        <p:nvSpPr>
          <p:cNvPr id="16" name="Rectangle 15">
            <a:extLst>
              <a:ext uri="{FF2B5EF4-FFF2-40B4-BE49-F238E27FC236}">
                <a16:creationId xmlns:a16="http://schemas.microsoft.com/office/drawing/2014/main" id="{EB74161D-971B-4E76-9D5B-F74878200F8E}"/>
              </a:ext>
            </a:extLst>
          </p:cNvPr>
          <p:cNvSpPr>
            <a:spLocks noGrp="1"/>
          </p:cNvSpPr>
          <p:nvPr/>
        </p:nvSpPr>
        <p:spPr>
          <a:xfrm>
            <a:off x="685800" y="5105400"/>
            <a:ext cx="10287000" cy="19050"/>
          </a:xfrm>
          <a:prstGeom prst="rect">
            <a:avLst/>
          </a:prstGeom>
          <a:solidFill>
            <a:srgbClr val="BFD2E8"/>
          </a:solidFill>
          <a:ln w="0">
            <a:solidFill>
              <a:srgbClr val="BFD2E8"/>
            </a:solidFill>
            <a:prstDash val="solid"/>
          </a:ln>
        </p:spPr>
        <p:txBody>
          <a:bodyPr/>
          <a:lstStyle/>
          <a:p>
            <a:endParaRPr lang="en-US"/>
          </a:p>
        </p:txBody>
      </p:sp>
      <p:sp>
        <p:nvSpPr>
          <p:cNvPr id="20" name="Rectangle 19">
            <a:extLst>
              <a:ext uri="{FF2B5EF4-FFF2-40B4-BE49-F238E27FC236}">
                <a16:creationId xmlns:a16="http://schemas.microsoft.com/office/drawing/2014/main" id="{0C236BD2-1FE4-4F8A-98BA-2A356725547E}"/>
              </a:ext>
            </a:extLst>
          </p:cNvPr>
          <p:cNvSpPr>
            <a:spLocks noGrp="1"/>
          </p:cNvSpPr>
          <p:nvPr/>
        </p:nvSpPr>
        <p:spPr>
          <a:xfrm>
            <a:off x="10420350" y="6515100"/>
            <a:ext cx="1143000" cy="190500"/>
          </a:xfrm>
          <a:prstGeom prst="rect">
            <a:avLst/>
          </a:prstGeom>
          <a:noFill/>
          <a:ln w="0">
            <a:noFill/>
            <a:prstDash val="solid"/>
          </a:ln>
        </p:spPr>
        <p:txBody>
          <a:bodyPr/>
          <a:lstStyle/>
          <a:p>
            <a:pPr algn="r">
              <a:buNone/>
              <a:defRPr sz="900" b="1">
                <a:solidFill>
                  <a:srgbClr val="5C7291"/>
                </a:solidFill>
              </a:defRPr>
            </a:pPr>
            <a:r>
              <a:rPr sz="900" b="1">
                <a:solidFill>
                  <a:srgbClr val="5C7291"/>
                </a:solidFill>
              </a:rPr>
              <a:t>17/17</a:t>
            </a:r>
          </a:p>
        </p:txBody>
      </p:sp>
    </p:spTree>
    <p:extLst>
      <p:ext uri="{BB962C8B-B14F-4D97-AF65-F5344CB8AC3E}">
        <p14:creationId xmlns:p14="http://schemas.microsoft.com/office/powerpoint/2010/main" val="67191504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2810</Words>
  <Application>Microsoft Macintosh PowerPoint</Application>
  <DocSecurity>0</DocSecurity>
  <PresentationFormat>Widescreen</PresentationFormat>
  <Paragraphs>343</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Trương Đức Vinh 24022005</cp:lastModifiedBy>
  <cp:revision>2</cp:revision>
  <dcterms:created xsi:type="dcterms:W3CDTF">2026-08-21T10:48:04Z</dcterms:created>
  <dcterms:modified xsi:type="dcterms:W3CDTF">2026-08-22T05:46:14Z</dcterms:modified>
</cp:coreProperties>
</file>